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corporate_presentation_title_slide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0292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700" b="1" i="0" dirty="0" err="1">
                <a:solidFill>
                  <a:srgbClr val="101F37"/>
                </a:solidFill>
                <a:latin typeface="Aptos"/>
              </a:rPr>
              <a:t>AutoDiag</a:t>
            </a:r>
            <a:r>
              <a:rPr sz="2700" b="1" i="0" dirty="0">
                <a:solidFill>
                  <a:srgbClr val="101F37"/>
                </a:solidFill>
                <a:latin typeface="Aptos"/>
              </a:rPr>
              <a:t>-RAG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13816"/>
            <a:ext cx="69494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 i="1" dirty="0">
                <a:solidFill>
                  <a:srgbClr val="F6B137"/>
                </a:solidFill>
                <a:latin typeface="Aptos"/>
              </a:rPr>
              <a:t>Hybrid Retrieval for Automotive Fault Diagnosis &amp; Warranty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12680" y="438912"/>
            <a:ext cx="1600200" cy="50292"/>
          </a:xfrm>
          <a:prstGeom prst="rect">
            <a:avLst/>
          </a:prstGeom>
          <a:solidFill>
            <a:srgbClr val="F5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" y="1225296"/>
            <a:ext cx="10835640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0" i="0" dirty="0">
                <a:solidFill>
                  <a:srgbClr val="5D6574"/>
                </a:solidFill>
                <a:latin typeface="Aptos"/>
              </a:rPr>
              <a:t>Problem, objectives &amp; end-to-end system goals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10512"/>
            <a:ext cx="5321808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63640" y="1810512"/>
            <a:ext cx="5330952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8" y="2066543"/>
            <a:ext cx="384048" cy="38404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075688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029968"/>
            <a:ext cx="4160520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101F37"/>
                </a:solidFill>
                <a:latin typeface="Aptos"/>
              </a:rP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4645152" cy="10789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40" b="0" i="0">
                <a:solidFill>
                  <a:srgbClr val="2B3341"/>
                </a:solidFill>
                <a:latin typeface="Aptos"/>
              </a:rPr>
              <a:t>Technicians and warranty desks must manually cross-reference informal customer symptom reports against thousands of dense Technical Service Bulletins (TSBs) and separately worded warranty documents to answer two questions: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30752"/>
            <a:ext cx="43891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50" b="1" i="0">
                <a:solidFill>
                  <a:srgbClr val="F54E52"/>
                </a:solidFill>
                <a:latin typeface="Aptos"/>
              </a:rPr>
              <a:t>“What is actually wrong?”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23944"/>
            <a:ext cx="43891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50" b="1" i="0">
                <a:solidFill>
                  <a:srgbClr val="F54E52"/>
                </a:solidFill>
                <a:latin typeface="Aptos"/>
              </a:rPr>
              <a:t>“Is it covered under warranty?”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63440"/>
            <a:ext cx="4645152" cy="96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20" b="0" i="0">
                <a:solidFill>
                  <a:srgbClr val="5D6574"/>
                </a:solidFill>
                <a:latin typeface="Aptos"/>
              </a:rPr>
              <a:t>This manual process is slow, inconsistent, and error-prone — and an incorrect coverage decision carries real financial consequences.</a:t>
            </a:r>
          </a:p>
        </p:txBody>
      </p:sp>
      <p:sp>
        <p:nvSpPr>
          <p:cNvPr id="15" name="Oval 14"/>
          <p:cNvSpPr/>
          <p:nvPr/>
        </p:nvSpPr>
        <p:spPr>
          <a:xfrm>
            <a:off x="6510528" y="2066543"/>
            <a:ext cx="384048" cy="38404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2075688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3448" y="2029968"/>
            <a:ext cx="4160520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101F37"/>
                </a:solidFill>
                <a:latin typeface="Aptos"/>
              </a:rPr>
              <a:t>Objectives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65392" y="2523744"/>
            <a:ext cx="420624" cy="420624"/>
          </a:xfrm>
          <a:prstGeom prst="round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2532887"/>
            <a:ext cx="4206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 i="0">
                <a:solidFill>
                  <a:srgbClr val="101F37"/>
                </a:solidFill>
                <a:latin typeface="Apto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8" y="2514600"/>
            <a:ext cx="3977639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2B3341"/>
                </a:solidFill>
                <a:latin typeface="Aptos"/>
              </a:rPr>
              <a:t>Build a modular hybrid retrieval pipeline (BM25 + dense) that routes symptom queries to the correct knowledge base — technical or warranty.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65392" y="3218687"/>
            <a:ext cx="420624" cy="420624"/>
          </a:xfrm>
          <a:prstGeom prst="round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5392" y="3227831"/>
            <a:ext cx="4206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 i="0">
                <a:solidFill>
                  <a:srgbClr val="101F37"/>
                </a:solidFill>
                <a:latin typeface="Apto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3209544"/>
            <a:ext cx="3977639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2B3341"/>
                </a:solidFill>
                <a:latin typeface="Aptos"/>
              </a:rPr>
              <a:t>Ground every diagnostic and coverage answer in cited source documents, eliminating fabricated part numbers or coverage claims.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65392" y="3913631"/>
            <a:ext cx="420624" cy="420624"/>
          </a:xfrm>
          <a:prstGeom prst="round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65392" y="3922775"/>
            <a:ext cx="4206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 i="0">
                <a:solidFill>
                  <a:srgbClr val="101F37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8" y="3904487"/>
            <a:ext cx="3977639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2B3341"/>
                </a:solidFill>
                <a:latin typeface="Aptos"/>
              </a:rPr>
              <a:t>Implement confidence-gated generation — defer to human technician review when retrieved evidence is thin or conflicting.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65392" y="4608575"/>
            <a:ext cx="420624" cy="420624"/>
          </a:xfrm>
          <a:prstGeom prst="round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65392" y="4617719"/>
            <a:ext cx="4206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 i="0">
                <a:solidFill>
                  <a:srgbClr val="101F37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4599431"/>
            <a:ext cx="3977639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2B3341"/>
                </a:solidFill>
                <a:latin typeface="Aptos"/>
              </a:rPr>
              <a:t>Accept both typed text and voice input (speech-to-text) for realistic customer interaction.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65392" y="5303519"/>
            <a:ext cx="420624" cy="420624"/>
          </a:xfrm>
          <a:prstGeom prst="round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65392" y="5312663"/>
            <a:ext cx="4206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19" b="1" i="0">
                <a:solidFill>
                  <a:srgbClr val="101F37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0608" y="5294375"/>
            <a:ext cx="3977639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2B3341"/>
                </a:solidFill>
                <a:latin typeface="Aptos"/>
              </a:rPr>
              <a:t>Deploy a fully evaluated, cloud-hosted end-to-end application — not a notebook-only prototype.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16768" y="6492240"/>
            <a:ext cx="6858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50" b="0" i="0">
                <a:solidFill>
                  <a:srgbClr val="5D6574"/>
                </a:solidFill>
                <a:latin typeface="Aptos"/>
              </a:rPr>
              <a:t>01 /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6400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01F37"/>
                </a:solidFill>
                <a:latin typeface="Aptos"/>
              </a:rPr>
              <a:t>Scaling diagnostic accuracy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67665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54E52"/>
                </a:solidFill>
                <a:latin typeface="Aptos"/>
              </a:rPr>
              <a:t>hybrid BM25 and dense</a:t>
            </a:r>
            <a:r>
              <a:rPr sz="2500" b="1" i="0">
                <a:solidFill>
                  <a:srgbClr val="101F37"/>
                </a:solidFill>
                <a:latin typeface="Aptos"/>
              </a:rPr>
              <a:t>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25296"/>
            <a:ext cx="1083564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0" i="0" dirty="0">
                <a:solidFill>
                  <a:srgbClr val="5D6574"/>
                </a:solidFill>
                <a:latin typeface="Aptos"/>
              </a:rPr>
              <a:t>Replacing manual Technical Service Bulletin (TSB) lookups with an end-to-end RAG architecture for warranty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47088"/>
            <a:ext cx="34290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2103120"/>
            <a:ext cx="384048" cy="384048"/>
          </a:xfrm>
          <a:prstGeom prst="ellipse">
            <a:avLst/>
          </a:prstGeom>
          <a:solidFill>
            <a:srgbClr val="10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2121408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066543"/>
            <a:ext cx="233172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101F37"/>
                </a:solidFill>
                <a:latin typeface="Aptos"/>
              </a:rPr>
              <a:t>Dataset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" y="2679192"/>
            <a:ext cx="41148" cy="566928"/>
          </a:xfrm>
          <a:prstGeom prst="rect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660904"/>
            <a:ext cx="2724912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B3341"/>
                </a:solidFill>
                <a:latin typeface="Aptos"/>
              </a:rPr>
              <a:t>Technical Corpus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926080"/>
            <a:ext cx="2697480" cy="56692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40" b="0" i="0">
                <a:solidFill>
                  <a:srgbClr val="5D6574"/>
                </a:solidFill>
                <a:latin typeface="Aptos"/>
              </a:rPr>
              <a:t>NHTSA Technical Service Bulletins (real, public API) — published symptom → cause → fix records. Feeds the diagnostic index.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" y="3511296"/>
            <a:ext cx="41148" cy="566928"/>
          </a:xfrm>
          <a:prstGeom prst="rect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3493008"/>
            <a:ext cx="2724912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B3341"/>
                </a:solidFill>
                <a:latin typeface="Aptos"/>
              </a:rPr>
              <a:t>Query Simulation 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758184"/>
            <a:ext cx="2697480" cy="56692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40" b="0" i="0">
                <a:solidFill>
                  <a:srgbClr val="5D6574"/>
                </a:solidFill>
                <a:latin typeface="Aptos"/>
              </a:rPr>
              <a:t>NHTSA Complaints API — real, informal customer symptom descriptions. Used to test realistic input phrasing.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" y="4343400"/>
            <a:ext cx="41148" cy="566928"/>
          </a:xfrm>
          <a:prstGeom prst="rect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4325112"/>
            <a:ext cx="2724912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B3341"/>
                </a:solidFill>
                <a:latin typeface="Aptos"/>
              </a:rPr>
              <a:t>Warranty Corpus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590288"/>
            <a:ext cx="2697480" cy="56692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40" b="0" i="0">
                <a:solidFill>
                  <a:srgbClr val="5D6574"/>
                </a:solidFill>
                <a:latin typeface="Aptos"/>
              </a:rPr>
              <a:t>Public manufacturer warranty booklets (Toyota, Honda, Hyundai, etc.) — real coverage terms and exclusions.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" y="5175504"/>
            <a:ext cx="41148" cy="566928"/>
          </a:xfrm>
          <a:prstGeom prst="rect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5157216"/>
            <a:ext cx="2724912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 dirty="0">
                <a:solidFill>
                  <a:srgbClr val="2B3341"/>
                </a:solidFill>
                <a:latin typeface="Aptos"/>
              </a:rPr>
              <a:t>Gold Evaluation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422392"/>
            <a:ext cx="2697480" cy="56692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40" b="0" i="0">
                <a:solidFill>
                  <a:srgbClr val="5D6574"/>
                </a:solidFill>
                <a:latin typeface="Aptos"/>
              </a:rPr>
              <a:t>40–50 complaint → correct-TSB → coverage pairs, manually built and verified by the team — no pre-existing correspondence dataset exists.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1847088"/>
            <a:ext cx="347472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617720" y="2103120"/>
            <a:ext cx="384048" cy="384048"/>
          </a:xfrm>
          <a:prstGeom prst="ellipse">
            <a:avLst/>
          </a:prstGeom>
          <a:solidFill>
            <a:srgbClr val="10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2121408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ptos"/>
              </a:rPr>
              <a:t>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066543"/>
            <a:ext cx="237744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101F37"/>
                </a:solidFill>
                <a:latin typeface="Aptos"/>
              </a:rPr>
              <a:t>Technical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3663" y="2835613"/>
            <a:ext cx="2944368" cy="3416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1" i="0" dirty="0">
                <a:solidFill>
                  <a:srgbClr val="2B3341"/>
                </a:solidFill>
                <a:latin typeface="Aptos"/>
              </a:rPr>
              <a:t>Retrieval: </a:t>
            </a:r>
            <a:r>
              <a:rPr sz="1050" b="0" i="0" dirty="0" err="1">
                <a:solidFill>
                  <a:srgbClr val="5D6574"/>
                </a:solidFill>
                <a:latin typeface="Aptos"/>
              </a:rPr>
              <a:t>LlamaIndex</a:t>
            </a:r>
            <a:r>
              <a:rPr sz="1050" b="0" i="0" dirty="0">
                <a:solidFill>
                  <a:srgbClr val="5D6574"/>
                </a:solidFill>
                <a:latin typeface="Aptos"/>
              </a:rPr>
              <a:t> — hybrid BM25 + dense, router query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307020"/>
            <a:ext cx="2944368" cy="18004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1" i="0" dirty="0">
                <a:solidFill>
                  <a:srgbClr val="2B3341"/>
                </a:solidFill>
                <a:latin typeface="Aptos"/>
              </a:rPr>
              <a:t>Re-ranking: </a:t>
            </a:r>
            <a:r>
              <a:rPr sz="1050" b="0" i="0" dirty="0">
                <a:solidFill>
                  <a:srgbClr val="5D6574"/>
                </a:solidFill>
                <a:latin typeface="Aptos"/>
              </a:rPr>
              <a:t>Cross-encoder re-ranker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3712462"/>
            <a:ext cx="2944368" cy="18004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1" i="0" dirty="0">
                <a:solidFill>
                  <a:srgbClr val="2B3341"/>
                </a:solidFill>
                <a:latin typeface="Aptos"/>
              </a:rPr>
              <a:t>Voice Input: </a:t>
            </a:r>
            <a:r>
              <a:rPr sz="1050" b="0" i="0" dirty="0">
                <a:solidFill>
                  <a:srgbClr val="5D6574"/>
                </a:solidFill>
                <a:latin typeface="Aptos"/>
              </a:rPr>
              <a:t>faster-whisper (speech-to-text)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8" y="4078224"/>
            <a:ext cx="2944368" cy="438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19" b="1" i="0" dirty="0">
                <a:solidFill>
                  <a:srgbClr val="2B3341"/>
                </a:solidFill>
                <a:latin typeface="Aptos"/>
              </a:rPr>
              <a:t>Evaluation: </a:t>
            </a:r>
            <a:r>
              <a:rPr sz="1019" b="0" i="0" dirty="0">
                <a:solidFill>
                  <a:srgbClr val="5D6574"/>
                </a:solidFill>
                <a:latin typeface="Aptos"/>
              </a:rPr>
              <a:t>RAGAS (faithfulness, retrieval metrics)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5754" y="4497431"/>
            <a:ext cx="2944368" cy="18004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1" i="0" dirty="0">
                <a:solidFill>
                  <a:srgbClr val="2B3341"/>
                </a:solidFill>
                <a:latin typeface="Aptos"/>
              </a:rPr>
              <a:t>Vector DB: </a:t>
            </a:r>
            <a:r>
              <a:rPr sz="1050" b="0" i="0" dirty="0" err="1">
                <a:solidFill>
                  <a:srgbClr val="5D6574"/>
                </a:solidFill>
                <a:latin typeface="Aptos"/>
              </a:rPr>
              <a:t>Qdrant</a:t>
            </a:r>
            <a:r>
              <a:rPr sz="1050" b="0" i="0" dirty="0">
                <a:solidFill>
                  <a:srgbClr val="5D6574"/>
                </a:solidFill>
                <a:latin typeface="Aptos"/>
              </a:rPr>
              <a:t> Cloud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837175"/>
            <a:ext cx="2944368" cy="18004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1" i="0" dirty="0">
                <a:solidFill>
                  <a:srgbClr val="2B3341"/>
                </a:solidFill>
                <a:latin typeface="Aptos"/>
              </a:rPr>
              <a:t>LLM: </a:t>
            </a:r>
            <a:r>
              <a:rPr lang="en-US" sz="1050" b="0" i="0" dirty="0">
                <a:solidFill>
                  <a:srgbClr val="5D6574"/>
                </a:solidFill>
                <a:latin typeface="Aptos"/>
              </a:rPr>
              <a:t>Local LLM</a:t>
            </a:r>
            <a:r>
              <a:rPr sz="1050" b="0" i="0" dirty="0">
                <a:solidFill>
                  <a:srgbClr val="5D6574"/>
                </a:solidFill>
                <a:latin typeface="Aptos"/>
              </a:rPr>
              <a:t> (generation + reasoning)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5754" y="5169657"/>
            <a:ext cx="2944368" cy="18004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1" i="0" dirty="0">
                <a:solidFill>
                  <a:srgbClr val="2B3341"/>
                </a:solidFill>
                <a:latin typeface="Aptos"/>
              </a:rPr>
              <a:t>Backend / Frontend: </a:t>
            </a:r>
            <a:r>
              <a:rPr sz="1050" b="0" i="0" dirty="0" err="1">
                <a:solidFill>
                  <a:srgbClr val="5D6574"/>
                </a:solidFill>
                <a:latin typeface="Aptos"/>
              </a:rPr>
              <a:t>FastAPI</a:t>
            </a:r>
            <a:r>
              <a:rPr sz="1050" b="0" i="0" dirty="0">
                <a:solidFill>
                  <a:srgbClr val="5D6574"/>
                </a:solidFill>
                <a:latin typeface="Aptos"/>
              </a:rPr>
              <a:t> + Streamlit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5754" y="5509322"/>
            <a:ext cx="2944368" cy="3416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1" i="0" dirty="0">
                <a:solidFill>
                  <a:srgbClr val="2B3341"/>
                </a:solidFill>
                <a:latin typeface="Aptos"/>
              </a:rPr>
              <a:t>Deployment: </a:t>
            </a:r>
            <a:r>
              <a:rPr sz="1050" b="0" i="0" dirty="0">
                <a:solidFill>
                  <a:srgbClr val="5D6574"/>
                </a:solidFill>
                <a:latin typeface="Aptos"/>
              </a:rPr>
              <a:t>Render + Streamlit Community Cloud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93024" y="1847088"/>
            <a:ext cx="3401568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439912" y="2103120"/>
            <a:ext cx="384048" cy="38404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39912" y="2121408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42832" y="2066543"/>
            <a:ext cx="233172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101F37"/>
                </a:solidFill>
                <a:latin typeface="Aptos"/>
              </a:rPr>
              <a:t>Expected Outcomes</a:t>
            </a:r>
          </a:p>
        </p:txBody>
      </p:sp>
      <p:sp>
        <p:nvSpPr>
          <p:cNvPr id="38" name="Oval 37"/>
          <p:cNvSpPr/>
          <p:nvPr/>
        </p:nvSpPr>
        <p:spPr>
          <a:xfrm>
            <a:off x="8449056" y="3035415"/>
            <a:ext cx="100584" cy="10972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95944" y="2962656"/>
            <a:ext cx="2578608" cy="3416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0" i="0" dirty="0">
                <a:solidFill>
                  <a:srgbClr val="2B3341"/>
                </a:solidFill>
                <a:latin typeface="Aptos"/>
              </a:rPr>
              <a:t>A live, cloud-deployed application accepting text and voice symptom queries</a:t>
            </a:r>
          </a:p>
        </p:txBody>
      </p:sp>
      <p:sp>
        <p:nvSpPr>
          <p:cNvPr id="40" name="Oval 39"/>
          <p:cNvSpPr/>
          <p:nvPr/>
        </p:nvSpPr>
        <p:spPr>
          <a:xfrm>
            <a:off x="8449056" y="3621024"/>
            <a:ext cx="100584" cy="100584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95944" y="3565275"/>
            <a:ext cx="2578608" cy="50321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0" i="0" dirty="0">
                <a:solidFill>
                  <a:srgbClr val="2B3341"/>
                </a:solidFill>
                <a:latin typeface="Aptos"/>
              </a:rPr>
              <a:t>Cited diagnostic + warranty coverage responses grounded in real bulletins and terms</a:t>
            </a:r>
          </a:p>
        </p:txBody>
      </p:sp>
      <p:sp>
        <p:nvSpPr>
          <p:cNvPr id="42" name="Oval 41"/>
          <p:cNvSpPr/>
          <p:nvPr/>
        </p:nvSpPr>
        <p:spPr>
          <a:xfrm>
            <a:off x="8449056" y="4425696"/>
            <a:ext cx="100584" cy="100584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95944" y="4334256"/>
            <a:ext cx="2542032" cy="50321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0" i="0" dirty="0">
                <a:solidFill>
                  <a:srgbClr val="2B3341"/>
                </a:solidFill>
                <a:latin typeface="Aptos"/>
              </a:rPr>
              <a:t>Measured retrieval quality (Recall@5, MRR) and generation faithfulness (RAGAS) against the gold evaluation set</a:t>
            </a:r>
          </a:p>
        </p:txBody>
      </p:sp>
      <p:sp>
        <p:nvSpPr>
          <p:cNvPr id="44" name="Oval 43"/>
          <p:cNvSpPr/>
          <p:nvPr/>
        </p:nvSpPr>
        <p:spPr>
          <a:xfrm>
            <a:off x="8449056" y="5230368"/>
            <a:ext cx="100584" cy="100584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95944" y="5138928"/>
            <a:ext cx="2542032" cy="50321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0" i="0" dirty="0">
                <a:solidFill>
                  <a:srgbClr val="2B3341"/>
                </a:solidFill>
                <a:latin typeface="Aptos"/>
              </a:rPr>
              <a:t>Demonstrated confidence-gating — the system defers uncertain cases to human review instead of guessing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16768" y="6492240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788291"/>
                </a:solidFill>
                <a:latin typeface="Aptos"/>
              </a:rPr>
              <a:t>02 / 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6400800" cy="800219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lang="en-US" sz="2450" b="1" dirty="0">
                <a:solidFill>
                  <a:srgbClr val="101F37"/>
                </a:solidFill>
                <a:latin typeface="Aptos"/>
              </a:rPr>
              <a:t>Agentic IT Operations &amp; Autonomous Troubleshooting System </a:t>
            </a:r>
            <a:endParaRPr sz="2450" b="1" i="0" dirty="0">
              <a:solidFill>
                <a:srgbClr val="101F37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1225296"/>
            <a:ext cx="10927080" cy="261610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ctr"/>
            <a:r>
              <a:rPr sz="1400" b="0" i="0" dirty="0">
                <a:solidFill>
                  <a:srgbClr val="5D6574"/>
                </a:solidFill>
                <a:latin typeface="Aptos"/>
              </a:rPr>
              <a:t>Understanding the user's real IT environment before recommending software, dependency and configuration changes.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12680" y="438912"/>
            <a:ext cx="1600200" cy="50292"/>
          </a:xfrm>
          <a:prstGeom prst="rect">
            <a:avLst/>
          </a:prstGeom>
          <a:solidFill>
            <a:srgbClr val="F5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16768" y="6492240"/>
            <a:ext cx="685800" cy="182880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r"/>
            <a:r>
              <a:rPr sz="850" b="0" i="0">
                <a:solidFill>
                  <a:srgbClr val="5D6574"/>
                </a:solidFill>
                <a:latin typeface="Aptos"/>
              </a:rPr>
              <a:t>03 /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10512"/>
            <a:ext cx="342900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160520" y="1810512"/>
            <a:ext cx="370332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92440" y="1839326"/>
            <a:ext cx="3593592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9808" y="2066543"/>
            <a:ext cx="384048" cy="38404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075688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2029968"/>
            <a:ext cx="2331720" cy="393192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850" b="1" i="0">
                <a:solidFill>
                  <a:srgbClr val="101F37"/>
                </a:solidFill>
                <a:latin typeface="Aptos"/>
              </a:rPr>
              <a:t>Problem Statement</a:t>
            </a:r>
          </a:p>
        </p:txBody>
      </p:sp>
      <p:sp>
        <p:nvSpPr>
          <p:cNvPr id="13" name="Oval 12"/>
          <p:cNvSpPr/>
          <p:nvPr/>
        </p:nvSpPr>
        <p:spPr>
          <a:xfrm>
            <a:off x="768096" y="2715768"/>
            <a:ext cx="86868" cy="8686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" y="2633472"/>
            <a:ext cx="2670048" cy="664797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0" i="0" dirty="0">
                <a:solidFill>
                  <a:srgbClr val="2B3341"/>
                </a:solidFill>
                <a:latin typeface="Aptos"/>
              </a:rPr>
              <a:t>Users frequently make IT changes such as software upgrades, package installations, configuration changes, or system migrations without knowing their downstream impact.</a:t>
            </a:r>
          </a:p>
        </p:txBody>
      </p:sp>
      <p:sp>
        <p:nvSpPr>
          <p:cNvPr id="15" name="Oval 14"/>
          <p:cNvSpPr/>
          <p:nvPr/>
        </p:nvSpPr>
        <p:spPr>
          <a:xfrm>
            <a:off x="768096" y="3749039"/>
            <a:ext cx="86868" cy="8686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666744"/>
            <a:ext cx="2670048" cy="8648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100" b="0" i="0" dirty="0">
                <a:solidFill>
                  <a:srgbClr val="2B3341"/>
                </a:solidFill>
                <a:latin typeface="Aptos"/>
              </a:rPr>
              <a:t>Existing AI assistants mainly provide generic recommendations and do not have a structured understanding of the user's actual software, project, and dependency environment.</a:t>
            </a:r>
          </a:p>
        </p:txBody>
      </p:sp>
      <p:sp>
        <p:nvSpPr>
          <p:cNvPr id="17" name="Oval 16"/>
          <p:cNvSpPr/>
          <p:nvPr/>
        </p:nvSpPr>
        <p:spPr>
          <a:xfrm>
            <a:off x="768096" y="4782312"/>
            <a:ext cx="86868" cy="8686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" y="4700016"/>
            <a:ext cx="2670048" cy="51090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0" i="0" dirty="0">
                <a:solidFill>
                  <a:srgbClr val="2B3341"/>
                </a:solidFill>
                <a:latin typeface="Aptos"/>
              </a:rPr>
              <a:t>A change that appears harmless can break applications, </a:t>
            </a:r>
            <a:r>
              <a:rPr sz="1100" b="0" i="0" dirty="0">
                <a:solidFill>
                  <a:srgbClr val="2B3341"/>
                </a:solidFill>
                <a:latin typeface="Aptos"/>
              </a:rPr>
              <a:t>dependencies</a:t>
            </a:r>
            <a:r>
              <a:rPr sz="1050" b="0" i="0" dirty="0">
                <a:solidFill>
                  <a:srgbClr val="2B3341"/>
                </a:solidFill>
                <a:latin typeface="Aptos"/>
              </a:rPr>
              <a:t>, development environments, or cloud resources.</a:t>
            </a:r>
          </a:p>
        </p:txBody>
      </p:sp>
      <p:sp>
        <p:nvSpPr>
          <p:cNvPr id="19" name="Oval 18"/>
          <p:cNvSpPr/>
          <p:nvPr/>
        </p:nvSpPr>
        <p:spPr>
          <a:xfrm>
            <a:off x="4407408" y="2066543"/>
            <a:ext cx="384048" cy="38404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07408" y="2075688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2029968"/>
            <a:ext cx="2331720" cy="393192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850" b="1" i="0">
                <a:solidFill>
                  <a:srgbClr val="101F37"/>
                </a:solidFill>
                <a:latin typeface="Aptos"/>
              </a:rPr>
              <a:t>Objectives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2587752"/>
            <a:ext cx="365760" cy="365760"/>
          </a:xfrm>
          <a:prstGeom prst="round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16552" y="2592324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01F37"/>
                </a:solidFill>
                <a:latin typeface="Aptos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1184" y="2578608"/>
            <a:ext cx="2697480" cy="66172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000" b="1" i="0" dirty="0">
                <a:solidFill>
                  <a:srgbClr val="101F37"/>
                </a:solidFill>
                <a:latin typeface="Aptos"/>
              </a:rPr>
              <a:t>Build a Personal IT Environment Model</a:t>
            </a:r>
            <a:r>
              <a:rPr sz="1000" b="0" i="0" dirty="0">
                <a:solidFill>
                  <a:srgbClr val="2B3341"/>
                </a:solidFill>
                <a:latin typeface="Aptos"/>
              </a:rPr>
              <a:t> — automatically discover OS, installed software, versions, projects, dependencies, services, and configurations.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6552" y="3273552"/>
            <a:ext cx="365760" cy="365760"/>
          </a:xfrm>
          <a:prstGeom prst="round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16552" y="3278124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01F37"/>
                </a:solidFill>
                <a:latin typeface="Apto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01184" y="3264408"/>
            <a:ext cx="2697480" cy="507831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000" b="1" i="0" dirty="0">
                <a:solidFill>
                  <a:srgbClr val="101F37"/>
                </a:solidFill>
                <a:latin typeface="Aptos"/>
              </a:rPr>
              <a:t>Perform Change Impact Analysis</a:t>
            </a:r>
            <a:r>
              <a:rPr sz="1000" b="0" i="0" dirty="0">
                <a:solidFill>
                  <a:srgbClr val="2B3341"/>
                </a:solidFill>
                <a:latin typeface="Aptos"/>
              </a:rPr>
              <a:t> — identify applications, dependencies, and services that may be affected by a proposed change.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16552" y="3959352"/>
            <a:ext cx="365760" cy="365760"/>
          </a:xfrm>
          <a:prstGeom prst="round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16552" y="3963924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01F37"/>
                </a:solidFill>
                <a:latin typeface="Apto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01184" y="3950208"/>
            <a:ext cx="2697480" cy="507831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000" b="1" i="0" dirty="0">
                <a:solidFill>
                  <a:srgbClr val="101F37"/>
                </a:solidFill>
                <a:latin typeface="Aptos"/>
              </a:rPr>
              <a:t>Provide Risk-Aware Recommendations</a:t>
            </a:r>
            <a:r>
              <a:rPr sz="1000" b="0" i="0" dirty="0">
                <a:solidFill>
                  <a:srgbClr val="2B3341"/>
                </a:solidFill>
                <a:latin typeface="Aptos"/>
              </a:rPr>
              <a:t> — classify changes as Low/Medium/High risk and explain the reasons.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16552" y="4645152"/>
            <a:ext cx="365760" cy="365760"/>
          </a:xfrm>
          <a:prstGeom prst="round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16552" y="4649724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01F37"/>
                </a:solidFill>
                <a:latin typeface="Apto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01184" y="4636008"/>
            <a:ext cx="2697480" cy="507831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000" b="1" i="0" dirty="0">
                <a:solidFill>
                  <a:srgbClr val="101F37"/>
                </a:solidFill>
                <a:latin typeface="Aptos"/>
              </a:rPr>
              <a:t>Perform What-if Analysis</a:t>
            </a:r>
            <a:r>
              <a:rPr sz="1000" b="0" i="0" dirty="0">
                <a:solidFill>
                  <a:srgbClr val="2B3341"/>
                </a:solidFill>
                <a:latin typeface="Aptos"/>
              </a:rPr>
              <a:t> — simulate proposed changes without modifying the actual environment.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16552" y="5330952"/>
            <a:ext cx="365760" cy="365760"/>
          </a:xfrm>
          <a:prstGeom prst="round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16552" y="5335524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01F37"/>
                </a:solidFill>
                <a:latin typeface="Apto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01184" y="5321808"/>
            <a:ext cx="2697480" cy="66172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000" b="1" i="0" dirty="0">
                <a:solidFill>
                  <a:srgbClr val="101F37"/>
                </a:solidFill>
                <a:latin typeface="Aptos"/>
              </a:rPr>
              <a:t>Provide Evidence-Based Decisions</a:t>
            </a:r>
            <a:r>
              <a:rPr sz="1000" b="0" i="0" dirty="0">
                <a:solidFill>
                  <a:srgbClr val="2B3341"/>
                </a:solidFill>
                <a:latin typeface="Aptos"/>
              </a:rPr>
              <a:t> — combine environment data, dependency relationships, technical documentation, and previous change history to generate recommendations.</a:t>
            </a:r>
          </a:p>
        </p:txBody>
      </p:sp>
      <p:sp>
        <p:nvSpPr>
          <p:cNvPr id="37" name="Oval 36"/>
          <p:cNvSpPr/>
          <p:nvPr/>
        </p:nvSpPr>
        <p:spPr>
          <a:xfrm>
            <a:off x="8339327" y="2066543"/>
            <a:ext cx="384048" cy="384048"/>
          </a:xfrm>
          <a:prstGeom prst="ellipse">
            <a:avLst/>
          </a:prstGeom>
          <a:solidFill>
            <a:srgbClr val="10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39327" y="2075688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42248" y="2029968"/>
            <a:ext cx="2688336" cy="310854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720" b="1" i="0" dirty="0">
                <a:solidFill>
                  <a:srgbClr val="101F37"/>
                </a:solidFill>
                <a:latin typeface="Aptos"/>
              </a:rPr>
              <a:t>Dataset / Data Generation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39327" y="2587752"/>
            <a:ext cx="41148" cy="603504"/>
          </a:xfrm>
          <a:prstGeom prst="rect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22208" y="2578608"/>
            <a:ext cx="2788920" cy="661720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000" b="1" i="0" dirty="0">
                <a:solidFill>
                  <a:srgbClr val="101F37"/>
                </a:solidFill>
                <a:latin typeface="Aptos"/>
              </a:rPr>
              <a:t>Environment data</a:t>
            </a:r>
            <a:r>
              <a:rPr sz="1000" b="0" i="0" dirty="0">
                <a:solidFill>
                  <a:srgbClr val="2B3341"/>
                </a:solidFill>
                <a:latin typeface="Aptos"/>
              </a:rPr>
              <a:t>: collected from the user's authorized machine using system/API tools — installed software, versions, processes, projects, package manifests, Docker configurations, etc.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39327" y="3296412"/>
            <a:ext cx="41148" cy="603504"/>
          </a:xfrm>
          <a:prstGeom prst="rect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22208" y="3401568"/>
            <a:ext cx="2788920" cy="507831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000" b="1" i="0" dirty="0">
                <a:solidFill>
                  <a:srgbClr val="101F37"/>
                </a:solidFill>
                <a:latin typeface="Aptos"/>
              </a:rPr>
              <a:t>Dependency data</a:t>
            </a:r>
            <a:r>
              <a:rPr sz="1000" b="0" i="0" dirty="0">
                <a:solidFill>
                  <a:srgbClr val="2B3341"/>
                </a:solidFill>
                <a:latin typeface="Aptos"/>
              </a:rPr>
              <a:t>: extracted from files such as requirements.txt, </a:t>
            </a:r>
            <a:r>
              <a:rPr sz="1000" b="0" i="0" dirty="0" err="1">
                <a:solidFill>
                  <a:srgbClr val="2B3341"/>
                </a:solidFill>
                <a:latin typeface="Aptos"/>
              </a:rPr>
              <a:t>package.json</a:t>
            </a:r>
            <a:r>
              <a:rPr sz="1000" b="0" i="0" dirty="0">
                <a:solidFill>
                  <a:srgbClr val="2B3341"/>
                </a:solidFill>
                <a:latin typeface="Aptos"/>
              </a:rPr>
              <a:t>, pom.xml, </a:t>
            </a:r>
            <a:r>
              <a:rPr sz="1000" b="0" i="0" dirty="0" err="1">
                <a:solidFill>
                  <a:srgbClr val="2B3341"/>
                </a:solidFill>
                <a:latin typeface="Aptos"/>
              </a:rPr>
              <a:t>build.gradle</a:t>
            </a:r>
            <a:r>
              <a:rPr sz="1000" b="0" i="0" dirty="0">
                <a:solidFill>
                  <a:srgbClr val="2B3341"/>
                </a:solidFill>
                <a:latin typeface="Aptos"/>
              </a:rPr>
              <a:t>, </a:t>
            </a:r>
            <a:r>
              <a:rPr sz="1000" b="0" i="0" dirty="0" err="1">
                <a:solidFill>
                  <a:srgbClr val="2B3341"/>
                </a:solidFill>
                <a:latin typeface="Aptos"/>
              </a:rPr>
              <a:t>Dockerfiles</a:t>
            </a:r>
            <a:r>
              <a:rPr sz="1000" b="0" i="0" dirty="0">
                <a:solidFill>
                  <a:srgbClr val="2B3341"/>
                </a:solidFill>
                <a:latin typeface="Aptos"/>
              </a:rPr>
              <a:t> and similar manifests.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34756" y="4057650"/>
            <a:ext cx="45719" cy="603504"/>
          </a:xfrm>
          <a:prstGeom prst="rect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22208" y="4126784"/>
            <a:ext cx="2788920" cy="507831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000" b="1" i="0" dirty="0">
                <a:solidFill>
                  <a:srgbClr val="101F37"/>
                </a:solidFill>
                <a:latin typeface="Aptos"/>
              </a:rPr>
              <a:t>Knowledge data</a:t>
            </a:r>
            <a:r>
              <a:rPr sz="1000" b="0" i="0" dirty="0">
                <a:solidFill>
                  <a:srgbClr val="2B3341"/>
                </a:solidFill>
                <a:latin typeface="Aptos"/>
              </a:rPr>
              <a:t>: official technical documentation and release/compatibility information.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55330" y="4825746"/>
            <a:ext cx="45719" cy="603504"/>
          </a:xfrm>
          <a:prstGeom prst="rect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22208" y="4776960"/>
            <a:ext cx="2880360" cy="815608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lang="en-US" sz="1000" b="1" i="0" dirty="0">
                <a:solidFill>
                  <a:srgbClr val="101F37"/>
                </a:solidFill>
                <a:latin typeface="Aptos"/>
              </a:rPr>
              <a:t> </a:t>
            </a:r>
            <a:r>
              <a:rPr sz="1000" b="1" i="0" dirty="0">
                <a:solidFill>
                  <a:srgbClr val="101F37"/>
                </a:solidFill>
                <a:latin typeface="Aptos"/>
              </a:rPr>
              <a:t>Evaluation data</a:t>
            </a:r>
            <a:r>
              <a:rPr sz="1000" b="0" i="0" dirty="0">
                <a:solidFill>
                  <a:srgbClr val="2B3341"/>
                </a:solidFill>
                <a:latin typeface="Aptos"/>
              </a:rPr>
              <a:t>: a synthetically generated </a:t>
            </a:r>
            <a:r>
              <a:rPr lang="en-US" sz="1000" b="0" i="0" dirty="0">
                <a:solidFill>
                  <a:srgbClr val="2B3341"/>
                </a:solidFill>
                <a:latin typeface="Aptos"/>
              </a:rPr>
              <a:t>  </a:t>
            </a:r>
            <a:r>
              <a:rPr sz="1000" b="0" i="0" dirty="0">
                <a:solidFill>
                  <a:srgbClr val="2B3341"/>
                </a:solidFill>
                <a:latin typeface="Aptos"/>
              </a:rPr>
              <a:t>benchmark of controlled IT change scenarios with known expected impacts, e.g., Python/Java upgrades, package removal, dependency upgrades and configuration changes.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39327" y="5631989"/>
            <a:ext cx="2834640" cy="507831"/>
          </a:xfrm>
          <a:prstGeom prst="round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30768" y="5671620"/>
            <a:ext cx="265176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dirty="0">
                <a:solidFill>
                  <a:srgbClr val="101F37"/>
                </a:solidFill>
                <a:latin typeface="Aptos"/>
              </a:rPr>
              <a:t>Relevance: directly supports environment discovery, dependency mapping, impact prediction and risk assessment.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6400800" cy="384048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2450" b="1" i="0">
                <a:solidFill>
                  <a:srgbClr val="101F37"/>
                </a:solidFill>
                <a:latin typeface="Aptos"/>
              </a:rPr>
              <a:t>Personal IT Change Impact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8686800" cy="393192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2450" b="1" i="0">
                <a:solidFill>
                  <a:srgbClr val="F54E52"/>
                </a:solidFill>
                <a:latin typeface="Aptos"/>
              </a:rPr>
              <a:t>Technical Stack &amp; Expected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25296"/>
            <a:ext cx="10927080" cy="261610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ctr"/>
            <a:r>
              <a:rPr sz="1400" b="0" i="0" dirty="0">
                <a:solidFill>
                  <a:srgbClr val="5D6574"/>
                </a:solidFill>
                <a:latin typeface="Aptos"/>
              </a:rPr>
              <a:t>An agentic architecture combining environment discovery, dependency analysis, RAG and risk-aware decision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12680" y="438912"/>
            <a:ext cx="1600200" cy="50292"/>
          </a:xfrm>
          <a:prstGeom prst="rect">
            <a:avLst/>
          </a:prstGeom>
          <a:solidFill>
            <a:srgbClr val="F5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16768" y="6492240"/>
            <a:ext cx="685800" cy="182880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r"/>
            <a:r>
              <a:rPr sz="850" b="0" i="0">
                <a:solidFill>
                  <a:srgbClr val="5D6574"/>
                </a:solidFill>
                <a:latin typeface="Aptos"/>
              </a:rPr>
              <a:t>04 /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10512"/>
            <a:ext cx="644652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50608" y="1810512"/>
            <a:ext cx="4535424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Oval 8"/>
          <p:cNvSpPr/>
          <p:nvPr/>
        </p:nvSpPr>
        <p:spPr>
          <a:xfrm>
            <a:off x="749808" y="2066543"/>
            <a:ext cx="384048" cy="384048"/>
          </a:xfrm>
          <a:prstGeom prst="ellipse">
            <a:avLst/>
          </a:prstGeom>
          <a:solidFill>
            <a:srgbClr val="10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075688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029968"/>
            <a:ext cx="2331720" cy="393192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900" b="1" i="0">
                <a:solidFill>
                  <a:srgbClr val="101F37"/>
                </a:solidFill>
                <a:latin typeface="Aptos"/>
              </a:rPr>
              <a:t>Technical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15184"/>
            <a:ext cx="2880360" cy="261610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400" b="1" i="0" dirty="0">
                <a:solidFill>
                  <a:srgbClr val="101F37"/>
                </a:solidFill>
                <a:latin typeface="Aptos"/>
              </a:rPr>
              <a:t>Agent</a:t>
            </a:r>
            <a:r>
              <a:rPr lang="en-US" sz="1400" b="1" dirty="0">
                <a:solidFill>
                  <a:srgbClr val="101F37"/>
                </a:solidFill>
                <a:latin typeface="Aptos"/>
              </a:rPr>
              <a:t>s</a:t>
            </a:r>
            <a:endParaRPr sz="1400" b="1" i="0" dirty="0">
              <a:solidFill>
                <a:srgbClr val="101F37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2926079"/>
            <a:ext cx="2880360" cy="200055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000" b="1" i="0" dirty="0">
                <a:solidFill>
                  <a:srgbClr val="2B3341"/>
                </a:solidFill>
                <a:latin typeface="Aptos"/>
              </a:rPr>
              <a:t>Python</a:t>
            </a:r>
            <a:endParaRPr sz="900" b="1" i="0" dirty="0">
              <a:solidFill>
                <a:srgbClr val="2B3341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3182111"/>
            <a:ext cx="2880360" cy="353943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000" b="1" i="0" dirty="0" err="1">
                <a:solidFill>
                  <a:srgbClr val="2B3341"/>
                </a:solidFill>
                <a:latin typeface="Aptos"/>
              </a:rPr>
              <a:t>LangGraph</a:t>
            </a:r>
            <a:r>
              <a:rPr sz="1000" b="0" i="0" dirty="0">
                <a:solidFill>
                  <a:srgbClr val="5D6574"/>
                </a:solidFill>
                <a:latin typeface="Aptos"/>
              </a:rPr>
              <a:t> — agent workflow, state management and decision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43546"/>
            <a:ext cx="2916936" cy="353943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000" b="1" i="0" dirty="0">
                <a:solidFill>
                  <a:srgbClr val="2B3341"/>
                </a:solidFill>
                <a:latin typeface="Aptos"/>
              </a:rPr>
              <a:t>LLM</a:t>
            </a:r>
            <a:r>
              <a:rPr sz="1000" b="0" i="0" dirty="0">
                <a:solidFill>
                  <a:srgbClr val="5D6574"/>
                </a:solidFill>
                <a:latin typeface="Aptos"/>
              </a:rPr>
              <a:t> — reasoning, tool selection and recommendation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03309"/>
            <a:ext cx="2916936" cy="353943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000" b="1" i="0" dirty="0">
                <a:solidFill>
                  <a:srgbClr val="2B3341"/>
                </a:solidFill>
                <a:latin typeface="Aptos"/>
              </a:rPr>
              <a:t>RAG + Embeddings</a:t>
            </a:r>
            <a:r>
              <a:rPr sz="1000" b="0" i="0" dirty="0">
                <a:solidFill>
                  <a:srgbClr val="5D6574"/>
                </a:solidFill>
                <a:latin typeface="Aptos"/>
              </a:rPr>
              <a:t> — technical documentation and compatibility knowledge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615184"/>
            <a:ext cx="2788920" cy="230832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200" b="1" i="0" dirty="0">
                <a:solidFill>
                  <a:srgbClr val="101F37"/>
                </a:solidFill>
                <a:latin typeface="Aptos"/>
              </a:rPr>
              <a:t>Backend &amp;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926079"/>
            <a:ext cx="2788920" cy="200055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000" b="1" i="0" dirty="0" err="1">
                <a:solidFill>
                  <a:srgbClr val="2B3341"/>
                </a:solidFill>
                <a:latin typeface="Aptos"/>
              </a:rPr>
              <a:t>FastAPI</a:t>
            </a:r>
            <a:r>
              <a:rPr sz="1000" b="0" i="0" dirty="0">
                <a:solidFill>
                  <a:srgbClr val="5D6574"/>
                </a:solidFill>
                <a:latin typeface="Aptos"/>
              </a:rPr>
              <a:t> — backend/API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264408"/>
            <a:ext cx="2788920" cy="353943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000" b="1" i="0" dirty="0">
                <a:solidFill>
                  <a:srgbClr val="2B3341"/>
                </a:solidFill>
                <a:latin typeface="Aptos"/>
              </a:rPr>
              <a:t>PostgreSQL</a:t>
            </a:r>
            <a:r>
              <a:rPr sz="1000" b="0" i="0" dirty="0">
                <a:solidFill>
                  <a:srgbClr val="5D6574"/>
                </a:solidFill>
                <a:latin typeface="Aptos"/>
              </a:rPr>
              <a:t> — environment, dependency and change-history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670786"/>
            <a:ext cx="2788920" cy="200055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000" b="1" i="0" dirty="0" err="1">
                <a:solidFill>
                  <a:srgbClr val="2B3341"/>
                </a:solidFill>
                <a:latin typeface="Aptos"/>
              </a:rPr>
              <a:t>pgvector</a:t>
            </a:r>
            <a:r>
              <a:rPr sz="1000" b="0" i="0" dirty="0">
                <a:solidFill>
                  <a:srgbClr val="5D6574"/>
                </a:solidFill>
                <a:latin typeface="Aptos"/>
              </a:rPr>
              <a:t> — semantic retrieval and agent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51427"/>
            <a:ext cx="2880360" cy="261610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400" b="1" i="0" dirty="0">
                <a:solidFill>
                  <a:srgbClr val="101F37"/>
                </a:solidFill>
                <a:latin typeface="Aptos"/>
              </a:rPr>
              <a:t>Environment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643642"/>
            <a:ext cx="2880360" cy="353943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000" b="1" i="0" dirty="0">
                <a:solidFill>
                  <a:srgbClr val="2B3341"/>
                </a:solidFill>
                <a:latin typeface="Aptos"/>
              </a:rPr>
              <a:t>PowerShell / Python system APIs</a:t>
            </a:r>
            <a:r>
              <a:rPr sz="1000" b="0" i="0" dirty="0">
                <a:solidFill>
                  <a:srgbClr val="5D6574"/>
                </a:solidFill>
                <a:latin typeface="Aptos"/>
              </a:rPr>
              <a:t> — Windows environment 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018281"/>
            <a:ext cx="2907792" cy="200055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000" b="1" i="0" dirty="0">
                <a:solidFill>
                  <a:srgbClr val="2B3341"/>
                </a:solidFill>
                <a:latin typeface="Aptos"/>
              </a:rPr>
              <a:t>Git / GitHub</a:t>
            </a:r>
            <a:r>
              <a:rPr sz="1000" b="0" i="0" dirty="0">
                <a:solidFill>
                  <a:srgbClr val="5D6574"/>
                </a:solidFill>
                <a:latin typeface="Aptos"/>
              </a:rPr>
              <a:t> — project and dependency information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359190"/>
            <a:ext cx="2880360" cy="200055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sz="1000" b="1" i="0" dirty="0">
                <a:solidFill>
                  <a:srgbClr val="2B3341"/>
                </a:solidFill>
                <a:latin typeface="Aptos"/>
              </a:rPr>
              <a:t>Docker</a:t>
            </a:r>
            <a:r>
              <a:rPr sz="1000" b="0" i="0" dirty="0">
                <a:solidFill>
                  <a:srgbClr val="5D6574"/>
                </a:solidFill>
                <a:latin typeface="Aptos"/>
              </a:rPr>
              <a:t> — container/environment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4224528"/>
            <a:ext cx="2788920" cy="261610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400" b="1" i="0" dirty="0">
                <a:solidFill>
                  <a:srgbClr val="101F37"/>
                </a:solidFill>
                <a:latin typeface="Aptos"/>
              </a:rPr>
              <a:t>Frontend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4535424"/>
            <a:ext cx="2788920" cy="323165"/>
          </a:xfrm>
          <a:prstGeom prst="rect">
            <a:avLst/>
          </a:prstGeom>
          <a:noFill/>
        </p:spPr>
        <p:txBody>
          <a:bodyPr wrap="square" lIns="22860" tIns="22860" rIns="22860" bIns="22860">
            <a:spAutoFit/>
          </a:bodyPr>
          <a:lstStyle/>
          <a:p>
            <a:pPr algn="l"/>
            <a:r>
              <a:rPr lang="en-US" sz="900" b="1" dirty="0">
                <a:solidFill>
                  <a:srgbClr val="2B3341"/>
                </a:solidFill>
                <a:latin typeface="Aptos"/>
              </a:rPr>
              <a:t>Streamlit</a:t>
            </a:r>
            <a:r>
              <a:rPr sz="900" b="0" i="0" dirty="0">
                <a:solidFill>
                  <a:srgbClr val="5D6574"/>
                </a:solidFill>
                <a:latin typeface="Aptos"/>
              </a:rPr>
              <a:t>— interactive dashboard for proposed changes, impact analysis and risk visualization</a:t>
            </a:r>
          </a:p>
        </p:txBody>
      </p:sp>
      <p:sp>
        <p:nvSpPr>
          <p:cNvPr id="28" name="Oval 27"/>
          <p:cNvSpPr/>
          <p:nvPr/>
        </p:nvSpPr>
        <p:spPr>
          <a:xfrm>
            <a:off x="7397496" y="2066543"/>
            <a:ext cx="384048" cy="38404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97496" y="2075688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0416" y="2029968"/>
            <a:ext cx="3108960" cy="393192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900" b="1" i="0">
                <a:solidFill>
                  <a:srgbClr val="101F37"/>
                </a:solidFill>
                <a:latin typeface="Aptos"/>
              </a:rPr>
              <a:t>Expected Outcomes</a:t>
            </a:r>
          </a:p>
        </p:txBody>
      </p:sp>
      <p:sp>
        <p:nvSpPr>
          <p:cNvPr id="31" name="Oval 30"/>
          <p:cNvSpPr/>
          <p:nvPr/>
        </p:nvSpPr>
        <p:spPr>
          <a:xfrm>
            <a:off x="7424927" y="2719798"/>
            <a:ext cx="86868" cy="101126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07807" y="2651760"/>
            <a:ext cx="3611880" cy="17235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00" b="0" i="0" dirty="0">
                <a:solidFill>
                  <a:srgbClr val="2B3341"/>
                </a:solidFill>
                <a:latin typeface="Aptos"/>
              </a:rPr>
              <a:t>Automated IT environment inventory and dependency graph.</a:t>
            </a:r>
          </a:p>
        </p:txBody>
      </p:sp>
      <p:sp>
        <p:nvSpPr>
          <p:cNvPr id="33" name="Oval 32"/>
          <p:cNvSpPr/>
          <p:nvPr/>
        </p:nvSpPr>
        <p:spPr>
          <a:xfrm>
            <a:off x="7424927" y="3282696"/>
            <a:ext cx="86868" cy="8686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07807" y="3200400"/>
            <a:ext cx="3611880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00" b="0" i="0" dirty="0">
                <a:solidFill>
                  <a:srgbClr val="2B3341"/>
                </a:solidFill>
                <a:latin typeface="Aptos"/>
              </a:rPr>
              <a:t>Identification of direct and indirect impacts of proposed IT changes.</a:t>
            </a:r>
          </a:p>
        </p:txBody>
      </p:sp>
      <p:sp>
        <p:nvSpPr>
          <p:cNvPr id="35" name="Oval 34"/>
          <p:cNvSpPr/>
          <p:nvPr/>
        </p:nvSpPr>
        <p:spPr>
          <a:xfrm>
            <a:off x="7424927" y="3831335"/>
            <a:ext cx="86868" cy="8686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07807" y="3749039"/>
            <a:ext cx="3611880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00" b="0" i="0" dirty="0">
                <a:solidFill>
                  <a:srgbClr val="2B3341"/>
                </a:solidFill>
                <a:latin typeface="Aptos"/>
              </a:rPr>
              <a:t>Risk classification with explainable recommendations and supporting evidence.</a:t>
            </a:r>
          </a:p>
        </p:txBody>
      </p:sp>
      <p:sp>
        <p:nvSpPr>
          <p:cNvPr id="37" name="Oval 36"/>
          <p:cNvSpPr/>
          <p:nvPr/>
        </p:nvSpPr>
        <p:spPr>
          <a:xfrm>
            <a:off x="7424927" y="4379975"/>
            <a:ext cx="86868" cy="8686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07807" y="4297679"/>
            <a:ext cx="3611880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00" b="0" i="0" dirty="0">
                <a:solidFill>
                  <a:srgbClr val="2B3341"/>
                </a:solidFill>
                <a:latin typeface="Aptos"/>
              </a:rPr>
              <a:t>What-if analysis that predicts potential failures before the actual change is performed.</a:t>
            </a:r>
          </a:p>
        </p:txBody>
      </p:sp>
      <p:sp>
        <p:nvSpPr>
          <p:cNvPr id="39" name="Oval 38"/>
          <p:cNvSpPr/>
          <p:nvPr/>
        </p:nvSpPr>
        <p:spPr>
          <a:xfrm>
            <a:off x="7424927" y="4928615"/>
            <a:ext cx="86868" cy="8686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607807" y="4846319"/>
            <a:ext cx="3611880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00" b="0" i="0" dirty="0">
                <a:solidFill>
                  <a:srgbClr val="2B3341"/>
                </a:solidFill>
                <a:latin typeface="Aptos"/>
              </a:rPr>
              <a:t>Reduction in trial-and-error during software upgrades and environment changes.</a:t>
            </a:r>
          </a:p>
        </p:txBody>
      </p:sp>
      <p:sp>
        <p:nvSpPr>
          <p:cNvPr id="41" name="Oval 40"/>
          <p:cNvSpPr/>
          <p:nvPr/>
        </p:nvSpPr>
        <p:spPr>
          <a:xfrm>
            <a:off x="7424927" y="5477255"/>
            <a:ext cx="86868" cy="86868"/>
          </a:xfrm>
          <a:prstGeom prst="ellipse">
            <a:avLst/>
          </a:prstGeom>
          <a:solidFill>
            <a:srgbClr val="F6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07807" y="5315954"/>
            <a:ext cx="3611880" cy="48013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00" b="0" i="0" dirty="0">
                <a:solidFill>
                  <a:srgbClr val="2B3341"/>
                </a:solidFill>
                <a:latin typeface="Aptos"/>
              </a:rPr>
              <a:t>Evaluation using impact prediction accuracy, risk-classification accuracy, dependency identification accuracy and unsafe recommendation rate.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11794" y="5860761"/>
            <a:ext cx="3689605" cy="320581"/>
          </a:xfrm>
          <a:prstGeom prst="round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11795" y="5933245"/>
            <a:ext cx="361188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dirty="0">
                <a:solidFill>
                  <a:srgbClr val="101F37"/>
                </a:solidFill>
                <a:latin typeface="Aptos"/>
              </a:rPr>
              <a:t>Goal: safer, evidence-based changes before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974</Words>
  <Application>Microsoft Office PowerPoint</Application>
  <PresentationFormat>Widescreen</PresentationFormat>
  <Paragraphs>109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AutoDiag-RAG + Personal IT Change Impact Agent</dc:title>
  <dc:subject>Four-slide professional presentation</dc:subject>
  <dc:creator>AutoDiag-RAG</dc:creator>
  <cp:keywords>RAG, automotive diagnosis, warranty validation, hybrid retrieval, BM25, dense retrieval</cp:keywords>
  <dc:description>generated using python-pptx</dc:description>
  <cp:lastModifiedBy>Sanjay Hullyal</cp:lastModifiedBy>
  <cp:revision>5</cp:revision>
  <dcterms:created xsi:type="dcterms:W3CDTF">2013-01-27T09:14:16Z</dcterms:created>
  <dcterms:modified xsi:type="dcterms:W3CDTF">2026-08-27T19:21:27Z</dcterms:modified>
  <cp:category/>
</cp:coreProperties>
</file>