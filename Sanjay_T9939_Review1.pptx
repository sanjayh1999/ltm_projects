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1" r:id="rId5"/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corporate_presentation_title_slid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311640" cy="133267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700" b="1" i="0" dirty="0">
                <a:solidFill>
                  <a:srgbClr val="101F37"/>
                </a:solidFill>
                <a:latin typeface="Aptos"/>
              </a:rPr>
              <a:t>AutoDiag-RAG</a:t>
            </a:r>
            <a:r>
              <a:rPr lang="en-IN" sz="2700" b="1" i="0" dirty="0">
                <a:solidFill>
                  <a:srgbClr val="101F37"/>
                </a:solidFill>
                <a:latin typeface="Aptos"/>
              </a:rPr>
              <a:t> - </a:t>
            </a:r>
            <a:r>
              <a:rPr lang="en-IN" sz="2800" i="1" dirty="0">
                <a:solidFill>
                  <a:srgbClr val="F6B137"/>
                </a:solidFill>
                <a:latin typeface="Aptos"/>
              </a:rPr>
              <a:t>Hybrid Retrieval for Automotive Fault Diagnosis &amp; Warranty Validation</a:t>
            </a:r>
          </a:p>
          <a:p>
            <a:pPr algn="l"/>
            <a:endParaRPr sz="2700" b="1" i="0" dirty="0">
              <a:solidFill>
                <a:srgbClr val="101F37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12680" y="438912"/>
            <a:ext cx="1600200" cy="50292"/>
          </a:xfrm>
          <a:prstGeom prst="rect">
            <a:avLst/>
          </a:prstGeom>
          <a:solidFill>
            <a:srgbClr val="F5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323271"/>
            <a:ext cx="1083564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0" i="0" dirty="0">
                <a:solidFill>
                  <a:srgbClr val="5D6574"/>
                </a:solidFill>
                <a:latin typeface="Aptos"/>
              </a:rPr>
              <a:t>Problem, objectives &amp; end-to-end system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10512"/>
            <a:ext cx="5321808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810512"/>
            <a:ext cx="5330952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29968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464515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40" b="0" i="0">
                <a:solidFill>
                  <a:srgbClr val="2B3341"/>
                </a:solidFill>
                <a:latin typeface="Aptos"/>
              </a:rPr>
              <a:t>Technicians and warranty desks must manually cross-reference informal customer symptom reports against thousands of dense Technical Service Bulletins (TSBs) and separately worded warranty documents to answer two questions: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30752"/>
            <a:ext cx="4389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F54E52"/>
                </a:solidFill>
                <a:latin typeface="Aptos"/>
              </a:rPr>
              <a:t>“What is actually wrong?”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23944"/>
            <a:ext cx="4389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F54E52"/>
                </a:solidFill>
                <a:latin typeface="Aptos"/>
              </a:rPr>
              <a:t>“Is it covered under warranty?”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4645152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20" b="0" i="0">
                <a:solidFill>
                  <a:srgbClr val="5D6574"/>
                </a:solidFill>
                <a:latin typeface="Aptos"/>
              </a:rPr>
              <a:t>This manual process is slow, inconsistent, and error-prone — and an incorrect coverage decision carries real financial consequences.</a:t>
            </a:r>
          </a:p>
        </p:txBody>
      </p:sp>
      <p:sp>
        <p:nvSpPr>
          <p:cNvPr id="15" name="Oval 14"/>
          <p:cNvSpPr/>
          <p:nvPr/>
        </p:nvSpPr>
        <p:spPr>
          <a:xfrm>
            <a:off x="6510528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029968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Objectives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523744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532887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514600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Build a modular hybrid retrieval pipeline (BM25 + dense) that routes symptom queries to the correct knowledge base — technical or warranty.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3218687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3227831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3209544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Ground every diagnostic and coverage answer in cited source documents, eliminating fabricated part numbers or coverage claims.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3913631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3922775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904487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Implement confidence-gated generation — defer to human technician review when retrieved evidence is thin or conflicting.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4608575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4617719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4599431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Accept both typed text and voice input (speech-to-text) for realistic customer interaction.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65392" y="5303519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5312663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5294375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Deploy a fully evaluated, cloud-hosted end-to-end application — not a notebook-only prototype.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6768" y="6492240"/>
            <a:ext cx="685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 i="0">
                <a:solidFill>
                  <a:srgbClr val="5D6574"/>
                </a:solidFill>
                <a:latin typeface="Aptos"/>
              </a:rPr>
              <a:t>01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886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01F37"/>
                </a:solidFill>
                <a:latin typeface="Aptos"/>
              </a:rPr>
              <a:t>Scaling diagnostic accuracy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6766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4E52"/>
                </a:solidFill>
                <a:latin typeface="Aptos"/>
              </a:rPr>
              <a:t>hybrid BM25 and dense</a:t>
            </a:r>
            <a:r>
              <a:rPr sz="2500" b="1" i="0">
                <a:solidFill>
                  <a:srgbClr val="101F37"/>
                </a:solidFill>
                <a:latin typeface="Aptos"/>
              </a:rPr>
              <a:t>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25296"/>
            <a:ext cx="108356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 dirty="0">
                <a:solidFill>
                  <a:srgbClr val="5D6574"/>
                </a:solidFill>
                <a:latin typeface="Aptos"/>
              </a:rPr>
              <a:t>Replacing manual Technical Service Bulletin (TSB) lookups with an end-to-end RAG architecture for warranty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34290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2103120"/>
            <a:ext cx="384048" cy="384048"/>
          </a:xfrm>
          <a:prstGeom prst="ellipse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121408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066543"/>
            <a:ext cx="2331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" y="2679192"/>
            <a:ext cx="41148" cy="566928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660904"/>
            <a:ext cx="272491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B3341"/>
                </a:solidFill>
                <a:latin typeface="Aptos"/>
              </a:rPr>
              <a:t>Technical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269748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 i="0">
                <a:solidFill>
                  <a:srgbClr val="5D6574"/>
                </a:solidFill>
                <a:latin typeface="Aptos"/>
              </a:rPr>
              <a:t>NHTSA Technical Service Bulletins (real, public API) — published symptom → cause → fix records. Feeds the diagnostic index.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3511296"/>
            <a:ext cx="41148" cy="566928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493008"/>
            <a:ext cx="272491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B3341"/>
                </a:solidFill>
                <a:latin typeface="Aptos"/>
              </a:rPr>
              <a:t>Query Simulation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758184"/>
            <a:ext cx="269748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 i="0">
                <a:solidFill>
                  <a:srgbClr val="5D6574"/>
                </a:solidFill>
                <a:latin typeface="Aptos"/>
              </a:rPr>
              <a:t>NHTSA Complaints API — real, informal customer symptom descriptions. Used to test realistic input phrasing.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" y="4343400"/>
            <a:ext cx="41148" cy="566928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325112"/>
            <a:ext cx="272491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B3341"/>
                </a:solidFill>
                <a:latin typeface="Aptos"/>
              </a:rPr>
              <a:t>Warranty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90288"/>
            <a:ext cx="269748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 i="0">
                <a:solidFill>
                  <a:srgbClr val="5D6574"/>
                </a:solidFill>
                <a:latin typeface="Aptos"/>
              </a:rPr>
              <a:t>Public manufacturer warranty booklets (Toyota, Honda, Hyundai, etc.) — real coverage terms and exclusions.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5175504"/>
            <a:ext cx="41148" cy="566928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5157216"/>
            <a:ext cx="272491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 dirty="0">
                <a:solidFill>
                  <a:srgbClr val="2B3341"/>
                </a:solidFill>
                <a:latin typeface="Aptos"/>
              </a:rPr>
              <a:t>Gold Evaluation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422392"/>
            <a:ext cx="269748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 i="0">
                <a:solidFill>
                  <a:srgbClr val="5D6574"/>
                </a:solidFill>
                <a:latin typeface="Aptos"/>
              </a:rPr>
              <a:t>40–50 complaint → correct-TSB → coverage pairs, manually built and verified by the team — no pre-existing correspondence dataset exists.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1847088"/>
            <a:ext cx="347472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17720" y="2103120"/>
            <a:ext cx="384048" cy="384048"/>
          </a:xfrm>
          <a:prstGeom prst="ellipse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2121408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066543"/>
            <a:ext cx="237744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Technical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3663" y="2835613"/>
            <a:ext cx="2944368" cy="341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Retrieval: </a:t>
            </a:r>
            <a:r>
              <a:rPr sz="1050" b="0" i="0" dirty="0" err="1">
                <a:solidFill>
                  <a:srgbClr val="5D6574"/>
                </a:solidFill>
                <a:latin typeface="Aptos"/>
              </a:rPr>
              <a:t>LlamaIndex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 — hybrid BM25 + dense, router query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307020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Re-ranking: 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Cross-encoder re-ranker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712462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Voice Input: 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faster-whisper (speech-to-text)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4078224"/>
            <a:ext cx="2944368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19" b="1" i="0" dirty="0">
                <a:solidFill>
                  <a:srgbClr val="2B3341"/>
                </a:solidFill>
                <a:latin typeface="Aptos"/>
              </a:rPr>
              <a:t>Evaluation: </a:t>
            </a:r>
            <a:r>
              <a:rPr sz="1019" b="0" i="0" dirty="0">
                <a:solidFill>
                  <a:srgbClr val="5D6574"/>
                </a:solidFill>
                <a:latin typeface="Aptos"/>
              </a:rPr>
              <a:t>RAGAS (faithfulness, retrieval metrics)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5754" y="4497431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Vector DB: </a:t>
            </a:r>
            <a:r>
              <a:rPr sz="1050" b="0" i="0" dirty="0" err="1">
                <a:solidFill>
                  <a:srgbClr val="5D6574"/>
                </a:solidFill>
                <a:latin typeface="Aptos"/>
              </a:rPr>
              <a:t>Qdrant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837175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LLM: </a:t>
            </a:r>
            <a:r>
              <a:rPr lang="en-US" sz="1050" b="0" i="0" dirty="0">
                <a:solidFill>
                  <a:srgbClr val="5D6574"/>
                </a:solidFill>
                <a:latin typeface="Aptos"/>
              </a:rPr>
              <a:t>Local LLM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 (generation + reasoning)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5754" y="5169657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Backend / Frontend: </a:t>
            </a:r>
            <a:r>
              <a:rPr sz="1050" b="0" i="0" dirty="0" err="1">
                <a:solidFill>
                  <a:srgbClr val="5D6574"/>
                </a:solidFill>
                <a:latin typeface="Aptos"/>
              </a:rPr>
              <a:t>FastAPI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 + 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5754" y="5509322"/>
            <a:ext cx="2944368" cy="341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Deployment: 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Render + Streamlit Community Cloud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3024" y="1847088"/>
            <a:ext cx="3401568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439912" y="2103120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9912" y="2121408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2832" y="2066543"/>
            <a:ext cx="2331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Expected Outcomes</a:t>
            </a:r>
          </a:p>
        </p:txBody>
      </p:sp>
      <p:sp>
        <p:nvSpPr>
          <p:cNvPr id="38" name="Oval 37"/>
          <p:cNvSpPr/>
          <p:nvPr/>
        </p:nvSpPr>
        <p:spPr>
          <a:xfrm>
            <a:off x="8449056" y="3035415"/>
            <a:ext cx="100584" cy="10972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95944" y="2962656"/>
            <a:ext cx="2578608" cy="341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A live, cloud-deployed application accepting text and voice symptom queries</a:t>
            </a:r>
          </a:p>
        </p:txBody>
      </p:sp>
      <p:sp>
        <p:nvSpPr>
          <p:cNvPr id="40" name="Oval 39"/>
          <p:cNvSpPr/>
          <p:nvPr/>
        </p:nvSpPr>
        <p:spPr>
          <a:xfrm>
            <a:off x="8449056" y="3621024"/>
            <a:ext cx="100584" cy="100584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95944" y="3565275"/>
            <a:ext cx="2578608" cy="5032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Cited diagnostic + warranty coverage responses grounded in real bulletins and terms</a:t>
            </a:r>
          </a:p>
        </p:txBody>
      </p:sp>
      <p:sp>
        <p:nvSpPr>
          <p:cNvPr id="42" name="Oval 41"/>
          <p:cNvSpPr/>
          <p:nvPr/>
        </p:nvSpPr>
        <p:spPr>
          <a:xfrm>
            <a:off x="8449056" y="4425696"/>
            <a:ext cx="100584" cy="100584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95944" y="4334256"/>
            <a:ext cx="2542032" cy="5032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Measured retrieval quality (Recall@5, MRR) and generation faithfulness (RAGAS) against the gold evaluation set</a:t>
            </a:r>
          </a:p>
        </p:txBody>
      </p:sp>
      <p:sp>
        <p:nvSpPr>
          <p:cNvPr id="44" name="Oval 43"/>
          <p:cNvSpPr/>
          <p:nvPr/>
        </p:nvSpPr>
        <p:spPr>
          <a:xfrm>
            <a:off x="8449056" y="5230368"/>
            <a:ext cx="100584" cy="100584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95944" y="5138928"/>
            <a:ext cx="2542032" cy="5032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Demonstrated confidence-gating — the system defers uncertain cases to human review instead of guessing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16768" y="6492240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88291"/>
                </a:solidFill>
                <a:latin typeface="Aptos"/>
              </a:rPr>
              <a:t>02 /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406640" cy="800219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lang="en-US" sz="2450" b="1" dirty="0">
                <a:solidFill>
                  <a:srgbClr val="101F37"/>
                </a:solidFill>
                <a:latin typeface="Aptos"/>
              </a:rPr>
              <a:t>Agentic IT Operations &amp; Autonomous Troubleshooting System </a:t>
            </a:r>
            <a:endParaRPr sz="2450" b="1" i="0" dirty="0">
              <a:solidFill>
                <a:srgbClr val="101F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1225296"/>
            <a:ext cx="10927080" cy="26161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ctr"/>
            <a:r>
              <a:rPr sz="1400" b="0" i="0" dirty="0">
                <a:solidFill>
                  <a:srgbClr val="5D6574"/>
                </a:solidFill>
                <a:latin typeface="Aptos"/>
              </a:rPr>
              <a:t>Understanding the user's real IT environment before recommending software, dependency and configuration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438912"/>
            <a:ext cx="1600200" cy="50292"/>
          </a:xfrm>
          <a:prstGeom prst="rect">
            <a:avLst/>
          </a:prstGeom>
          <a:solidFill>
            <a:srgbClr val="F5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16768" y="6492240"/>
            <a:ext cx="685800" cy="18288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r"/>
            <a:r>
              <a:rPr sz="850" b="0" i="0">
                <a:solidFill>
                  <a:srgbClr val="5D6574"/>
                </a:solidFill>
                <a:latin typeface="Aptos"/>
              </a:rPr>
              <a:t>03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10512"/>
            <a:ext cx="34290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60520" y="1810512"/>
            <a:ext cx="370332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2440" y="1839326"/>
            <a:ext cx="3593592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029968"/>
            <a:ext cx="233172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850" b="1" i="0">
                <a:solidFill>
                  <a:srgbClr val="101F37"/>
                </a:solidFill>
                <a:latin typeface="Aptos"/>
              </a:rPr>
              <a:t>Problem Statement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2715768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2633472"/>
            <a:ext cx="2670048" cy="66479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Users frequently make IT changes such as software upgrades, package installations, configuration changes, or system migrations without knowing their downstream impact.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3749039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666744"/>
            <a:ext cx="2670048" cy="8648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00" b="0" i="0" dirty="0">
                <a:solidFill>
                  <a:srgbClr val="2B3341"/>
                </a:solidFill>
                <a:latin typeface="Aptos"/>
              </a:rPr>
              <a:t>Existing AI assistants mainly provide generic recommendations and do not have a structured understanding of the user's actual software, project, and dependency environment.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4782312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700016"/>
            <a:ext cx="2670048" cy="51090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A change that appears harmless can break applications, </a:t>
            </a:r>
            <a:r>
              <a:rPr sz="1100" b="0" i="0" dirty="0">
                <a:solidFill>
                  <a:srgbClr val="2B3341"/>
                </a:solidFill>
                <a:latin typeface="Aptos"/>
              </a:rPr>
              <a:t>dependencies</a:t>
            </a:r>
            <a:r>
              <a:rPr sz="1050" b="0" i="0" dirty="0">
                <a:solidFill>
                  <a:srgbClr val="2B3341"/>
                </a:solidFill>
                <a:latin typeface="Aptos"/>
              </a:rPr>
              <a:t>, development environments, or cloud resources.</a:t>
            </a:r>
          </a:p>
        </p:txBody>
      </p:sp>
      <p:sp>
        <p:nvSpPr>
          <p:cNvPr id="19" name="Oval 18"/>
          <p:cNvSpPr/>
          <p:nvPr/>
        </p:nvSpPr>
        <p:spPr>
          <a:xfrm>
            <a:off x="4407408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740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2029968"/>
            <a:ext cx="233172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850" b="1" i="0">
                <a:solidFill>
                  <a:srgbClr val="101F37"/>
                </a:solidFill>
                <a:latin typeface="Aptos"/>
              </a:rPr>
              <a:t>Objectives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25877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16552" y="25923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2578608"/>
            <a:ext cx="2697480" cy="6617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Build a Personal IT Environment Model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automatically discover OS, installed software, versions, projects, dependencies, services, and configurations.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32735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16552" y="32781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1184" y="3264408"/>
            <a:ext cx="269748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Perform Change Impact Analysis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identify applications, dependencies, and services that may be affected by a proposed change.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39593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16552" y="39639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1184" y="3950208"/>
            <a:ext cx="269748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Provide Risk-Aware Recommendations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classify changes as Low/Medium/High risk and explain the reasons.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16552" y="46451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16552" y="46497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1184" y="4636008"/>
            <a:ext cx="269748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Perform What-if Analysis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simulate proposed changes without modifying the actual environment.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53309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16552" y="53355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1184" y="5321808"/>
            <a:ext cx="2697480" cy="6617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Provide Evidence-Based Decisions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combine environment data, dependency relationships, technical documentation, and previous change history to generate recommendations.</a:t>
            </a:r>
          </a:p>
        </p:txBody>
      </p:sp>
      <p:sp>
        <p:nvSpPr>
          <p:cNvPr id="37" name="Oval 36"/>
          <p:cNvSpPr/>
          <p:nvPr/>
        </p:nvSpPr>
        <p:spPr>
          <a:xfrm>
            <a:off x="8339327" y="2066543"/>
            <a:ext cx="384048" cy="384048"/>
          </a:xfrm>
          <a:prstGeom prst="ellipse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9327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2029968"/>
            <a:ext cx="2688336" cy="310854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720" b="1" i="0" dirty="0">
                <a:solidFill>
                  <a:srgbClr val="101F37"/>
                </a:solidFill>
                <a:latin typeface="Aptos"/>
              </a:rPr>
              <a:t>Dataset / Data Generation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9327" y="2587752"/>
            <a:ext cx="41148" cy="603504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22208" y="2578608"/>
            <a:ext cx="2788920" cy="6617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Environment data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: collected from the user's authorized machine using system/API tools — installed software, versions, processes, projects, package manifests, Docker configurations, etc.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9327" y="3296412"/>
            <a:ext cx="41148" cy="603504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22208" y="3401568"/>
            <a:ext cx="278892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Dependency data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: extracted from files such as requirements.txt, </a:t>
            </a:r>
            <a:r>
              <a:rPr sz="1000" b="0" i="0" dirty="0" err="1">
                <a:solidFill>
                  <a:srgbClr val="2B3341"/>
                </a:solidFill>
                <a:latin typeface="Aptos"/>
              </a:rPr>
              <a:t>package.json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, pom.xml, </a:t>
            </a:r>
            <a:r>
              <a:rPr sz="1000" b="0" i="0" dirty="0" err="1">
                <a:solidFill>
                  <a:srgbClr val="2B3341"/>
                </a:solidFill>
                <a:latin typeface="Aptos"/>
              </a:rPr>
              <a:t>build.gradle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, </a:t>
            </a:r>
            <a:r>
              <a:rPr sz="1000" b="0" i="0" dirty="0" err="1">
                <a:solidFill>
                  <a:srgbClr val="2B3341"/>
                </a:solidFill>
                <a:latin typeface="Aptos"/>
              </a:rPr>
              <a:t>Dockerfiles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and similar manifests.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34756" y="4057650"/>
            <a:ext cx="45719" cy="603504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22208" y="4126784"/>
            <a:ext cx="278892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Knowledge data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: official technical documentation and release/compatibility information.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55330" y="4825746"/>
            <a:ext cx="45719" cy="603504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22208" y="4776960"/>
            <a:ext cx="2880360" cy="81560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lang="en-US" sz="1000" b="1" i="0" dirty="0">
                <a:solidFill>
                  <a:srgbClr val="101F37"/>
                </a:solidFill>
                <a:latin typeface="Aptos"/>
              </a:rPr>
              <a:t> </a:t>
            </a:r>
            <a:r>
              <a:rPr sz="1000" b="1" i="0" dirty="0">
                <a:solidFill>
                  <a:srgbClr val="101F37"/>
                </a:solidFill>
                <a:latin typeface="Aptos"/>
              </a:rPr>
              <a:t>Evaluation data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: a synthetically generated </a:t>
            </a:r>
            <a:r>
              <a:rPr lang="en-US" sz="1000" b="0" i="0" dirty="0">
                <a:solidFill>
                  <a:srgbClr val="2B3341"/>
                </a:solidFill>
                <a:latin typeface="Aptos"/>
              </a:rPr>
              <a:t>  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benchmark of controlled IT change scenarios with known expected impacts, e.g., Python/Java upgrades, package removal, dependency upgrades and configuration changes.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9327" y="5631989"/>
            <a:ext cx="2834640" cy="507831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30768" y="5671620"/>
            <a:ext cx="265176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101F37"/>
                </a:solidFill>
                <a:latin typeface="Aptos"/>
              </a:rPr>
              <a:t>Relevance: directly supports environment discovery, dependency mapping, impact prediction and risk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10281"/>
            <a:ext cx="868680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2450" b="1" i="0" dirty="0">
                <a:solidFill>
                  <a:srgbClr val="F54E52"/>
                </a:solidFill>
                <a:latin typeface="Aptos"/>
              </a:rPr>
              <a:t>Technical Stack &amp;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25296"/>
            <a:ext cx="10927080" cy="26161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ctr"/>
            <a:r>
              <a:rPr sz="1400" b="0" i="0" dirty="0">
                <a:solidFill>
                  <a:srgbClr val="5D6574"/>
                </a:solidFill>
                <a:latin typeface="Aptos"/>
              </a:rPr>
              <a:t>An agentic architecture combining environment discovery, dependency analysis, RAG and risk-aware decision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438912"/>
            <a:ext cx="1600200" cy="50292"/>
          </a:xfrm>
          <a:prstGeom prst="rect">
            <a:avLst/>
          </a:prstGeom>
          <a:solidFill>
            <a:srgbClr val="F5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16768" y="6492240"/>
            <a:ext cx="685800" cy="18288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r"/>
            <a:r>
              <a:rPr sz="850" b="0" i="0">
                <a:solidFill>
                  <a:srgbClr val="5D6574"/>
                </a:solidFill>
                <a:latin typeface="Aptos"/>
              </a:rPr>
              <a:t>04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10512"/>
            <a:ext cx="644652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50608" y="1810512"/>
            <a:ext cx="4535424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749808" y="2066543"/>
            <a:ext cx="384048" cy="384048"/>
          </a:xfrm>
          <a:prstGeom prst="ellipse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029968"/>
            <a:ext cx="233172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900" b="1" i="0">
                <a:solidFill>
                  <a:srgbClr val="101F37"/>
                </a:solidFill>
                <a:latin typeface="Aptos"/>
              </a:rPr>
              <a:t>Technical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15184"/>
            <a:ext cx="2880360" cy="29238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600" b="1" i="0" dirty="0">
                <a:solidFill>
                  <a:srgbClr val="101F37"/>
                </a:solidFill>
                <a:latin typeface="Aptos"/>
              </a:rPr>
              <a:t>Agent</a:t>
            </a:r>
            <a:r>
              <a:rPr lang="en-US" sz="1600" b="1" dirty="0">
                <a:solidFill>
                  <a:srgbClr val="101F37"/>
                </a:solidFill>
                <a:latin typeface="Aptos"/>
              </a:rPr>
              <a:t>s</a:t>
            </a:r>
            <a:endParaRPr sz="1600" b="1" i="0" dirty="0">
              <a:solidFill>
                <a:srgbClr val="101F37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2999117"/>
            <a:ext cx="2880360" cy="41549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200" b="1" i="0" dirty="0" err="1">
                <a:solidFill>
                  <a:srgbClr val="2B3341"/>
                </a:solidFill>
                <a:latin typeface="Aptos"/>
              </a:rPr>
              <a:t>LangGraph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 — agent workflow, state management and decision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38" y="3487811"/>
            <a:ext cx="2916936" cy="41549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200" b="1" i="0" dirty="0">
                <a:solidFill>
                  <a:srgbClr val="2B3341"/>
                </a:solidFill>
                <a:latin typeface="Aptos"/>
              </a:rPr>
              <a:t>LLM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 — reasoning, tool selection and recommendation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03309"/>
            <a:ext cx="2916936" cy="600164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200" b="1" i="0" dirty="0">
                <a:solidFill>
                  <a:srgbClr val="2B3341"/>
                </a:solidFill>
                <a:latin typeface="Aptos"/>
              </a:rPr>
              <a:t>RAG + Embeddings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 — technical documentation and compatibility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615184"/>
            <a:ext cx="2788920" cy="29238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600" b="1" i="0" dirty="0">
                <a:solidFill>
                  <a:srgbClr val="101F37"/>
                </a:solidFill>
                <a:latin typeface="Aptos"/>
              </a:rPr>
              <a:t>Backend &amp;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926079"/>
            <a:ext cx="2788920" cy="230832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200" b="1" i="0" dirty="0" err="1">
                <a:solidFill>
                  <a:srgbClr val="2B3341"/>
                </a:solidFill>
                <a:latin typeface="Aptos"/>
              </a:rPr>
              <a:t>FastAPI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 — backend/API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264408"/>
            <a:ext cx="2788920" cy="41549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200" b="1" i="0" dirty="0">
                <a:solidFill>
                  <a:srgbClr val="2B3341"/>
                </a:solidFill>
                <a:latin typeface="Aptos"/>
              </a:rPr>
              <a:t>PostgreSQL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 — environment, dependency and change-history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70786"/>
            <a:ext cx="2788920" cy="41549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200" b="1" i="0" dirty="0" err="1">
                <a:solidFill>
                  <a:srgbClr val="2B3341"/>
                </a:solidFill>
                <a:latin typeface="Aptos"/>
              </a:rPr>
              <a:t>pgvector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 — semantic retrieval and agent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387" y="4623922"/>
            <a:ext cx="2880360" cy="29238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600" b="1" i="0" dirty="0">
                <a:solidFill>
                  <a:srgbClr val="101F37"/>
                </a:solidFill>
                <a:latin typeface="Aptos"/>
              </a:rPr>
              <a:t>Environment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387" y="4927839"/>
            <a:ext cx="2880360" cy="41549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200" b="1" i="0" dirty="0">
                <a:solidFill>
                  <a:srgbClr val="2B3341"/>
                </a:solidFill>
                <a:latin typeface="Aptos"/>
              </a:rPr>
              <a:t>PowerShell / Python system APIs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 — Windows environment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" y="5332870"/>
            <a:ext cx="2907792" cy="41549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200" b="1" i="0" dirty="0">
                <a:solidFill>
                  <a:srgbClr val="2B3341"/>
                </a:solidFill>
                <a:latin typeface="Aptos"/>
              </a:rPr>
              <a:t>Git / GitHub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 — project and dependency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" y="5702625"/>
            <a:ext cx="2880360" cy="230832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200" b="1" i="0" dirty="0">
                <a:solidFill>
                  <a:srgbClr val="2B3341"/>
                </a:solidFill>
                <a:latin typeface="Aptos"/>
              </a:rPr>
              <a:t>Docker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 — container/environment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224528"/>
            <a:ext cx="2788920" cy="29238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600" b="1" i="0" dirty="0">
                <a:solidFill>
                  <a:srgbClr val="101F37"/>
                </a:solidFill>
                <a:latin typeface="Aptos"/>
              </a:rPr>
              <a:t>Frontend</a:t>
            </a:r>
            <a:endParaRPr sz="1400" b="1" i="0" dirty="0">
              <a:solidFill>
                <a:srgbClr val="101F37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94760" y="4535424"/>
            <a:ext cx="2788920" cy="600164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lang="en-US" sz="1200" b="1" dirty="0">
                <a:solidFill>
                  <a:srgbClr val="2B3341"/>
                </a:solidFill>
                <a:latin typeface="Aptos"/>
              </a:rPr>
              <a:t>Streamlit</a:t>
            </a:r>
            <a:r>
              <a:rPr sz="1200" b="0" i="0" dirty="0">
                <a:solidFill>
                  <a:srgbClr val="5D6574"/>
                </a:solidFill>
                <a:latin typeface="Aptos"/>
              </a:rPr>
              <a:t>— interactive dashboard for proposed changes, impact analysis and risk visualization</a:t>
            </a:r>
          </a:p>
        </p:txBody>
      </p:sp>
      <p:sp>
        <p:nvSpPr>
          <p:cNvPr id="28" name="Oval 27"/>
          <p:cNvSpPr/>
          <p:nvPr/>
        </p:nvSpPr>
        <p:spPr>
          <a:xfrm>
            <a:off x="7397496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97496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2029968"/>
            <a:ext cx="310896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900" b="1" i="0">
                <a:solidFill>
                  <a:srgbClr val="101F37"/>
                </a:solidFill>
                <a:latin typeface="Aptos"/>
              </a:rPr>
              <a:t>Expected Outcomes</a:t>
            </a:r>
          </a:p>
        </p:txBody>
      </p:sp>
      <p:sp>
        <p:nvSpPr>
          <p:cNvPr id="31" name="Oval 30"/>
          <p:cNvSpPr/>
          <p:nvPr/>
        </p:nvSpPr>
        <p:spPr>
          <a:xfrm>
            <a:off x="7424927" y="2719798"/>
            <a:ext cx="86868" cy="101126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07807" y="2651760"/>
            <a:ext cx="3611880" cy="17235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Automated IT environment inventory and dependency graph.</a:t>
            </a:r>
          </a:p>
        </p:txBody>
      </p:sp>
      <p:sp>
        <p:nvSpPr>
          <p:cNvPr id="33" name="Oval 32"/>
          <p:cNvSpPr/>
          <p:nvPr/>
        </p:nvSpPr>
        <p:spPr>
          <a:xfrm>
            <a:off x="7424927" y="3282696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07807" y="3200400"/>
            <a:ext cx="3611880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Identification of direct and indirect impacts of proposed IT changes.</a:t>
            </a:r>
          </a:p>
        </p:txBody>
      </p:sp>
      <p:sp>
        <p:nvSpPr>
          <p:cNvPr id="35" name="Oval 34"/>
          <p:cNvSpPr/>
          <p:nvPr/>
        </p:nvSpPr>
        <p:spPr>
          <a:xfrm>
            <a:off x="7424927" y="3831335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07807" y="3749039"/>
            <a:ext cx="3611880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Risk classification with explainable recommendations and supporting evidence.</a:t>
            </a:r>
          </a:p>
        </p:txBody>
      </p:sp>
      <p:sp>
        <p:nvSpPr>
          <p:cNvPr id="37" name="Oval 36"/>
          <p:cNvSpPr/>
          <p:nvPr/>
        </p:nvSpPr>
        <p:spPr>
          <a:xfrm>
            <a:off x="7424927" y="4379975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07807" y="4297679"/>
            <a:ext cx="3611880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What-if analysis that predicts potential failures before the actual change is performed.</a:t>
            </a:r>
          </a:p>
        </p:txBody>
      </p:sp>
      <p:sp>
        <p:nvSpPr>
          <p:cNvPr id="39" name="Oval 38"/>
          <p:cNvSpPr/>
          <p:nvPr/>
        </p:nvSpPr>
        <p:spPr>
          <a:xfrm>
            <a:off x="7424927" y="4928615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07807" y="4846319"/>
            <a:ext cx="3611880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Reduction in trial-and-error during software upgrades and environment changes.</a:t>
            </a:r>
          </a:p>
        </p:txBody>
      </p:sp>
      <p:sp>
        <p:nvSpPr>
          <p:cNvPr id="41" name="Oval 40"/>
          <p:cNvSpPr/>
          <p:nvPr/>
        </p:nvSpPr>
        <p:spPr>
          <a:xfrm>
            <a:off x="7424927" y="5477255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07807" y="5315954"/>
            <a:ext cx="3611880" cy="4801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Evaluation using impact prediction accuracy, risk-classification accuracy, dependency identification accuracy and unsafe recommendation rate.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11794" y="5860761"/>
            <a:ext cx="3689605" cy="320581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11795" y="5933245"/>
            <a:ext cx="3611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dirty="0">
                <a:solidFill>
                  <a:srgbClr val="101F37"/>
                </a:solidFill>
                <a:latin typeface="Aptos"/>
              </a:rPr>
              <a:t>Goal: safer, evidence-based changes before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EE3D50A1A2844A940F2932E65CA437" ma:contentTypeVersion="4" ma:contentTypeDescription="Create a new document." ma:contentTypeScope="" ma:versionID="bccc5afad4a3e55bddf333c23460b1c6">
  <xsd:schema xmlns:xsd="http://www.w3.org/2001/XMLSchema" xmlns:xs="http://www.w3.org/2001/XMLSchema" xmlns:p="http://schemas.microsoft.com/office/2006/metadata/properties" xmlns:ns3="1b859074-22c2-474a-8bac-aa52a71660f9" targetNamespace="http://schemas.microsoft.com/office/2006/metadata/properties" ma:root="true" ma:fieldsID="b63d084e24ba200217189d0062775127" ns3:_="">
    <xsd:import namespace="1b859074-22c2-474a-8bac-aa52a71660f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59074-22c2-474a-8bac-aa52a71660f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2B05DE-2BF4-43AF-8CC8-E149E5287A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859074-22c2-474a-8bac-aa52a71660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467CD8-15EE-48B6-9E59-1C4E899255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97A27C-3522-4FF1-8A76-60C167EA127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969</Words>
  <Application>Microsoft Office PowerPoint</Application>
  <PresentationFormat>Widescreen</PresentationFormat>
  <Paragraphs>106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AutoDiag-RAG + Personal IT Change Impact Agent</dc:title>
  <dc:subject>Four-slide professional presentation</dc:subject>
  <dc:creator>AutoDiag-RAG</dc:creator>
  <cp:keywords>RAG, automotive diagnosis, warranty validation, hybrid retrieval, BM25, dense retrieval</cp:keywords>
  <dc:description>generated using python-pptx</dc:description>
  <cp:lastModifiedBy>Sanjay Hullyal</cp:lastModifiedBy>
  <cp:revision>7</cp:revision>
  <dcterms:created xsi:type="dcterms:W3CDTF">2013-01-27T09:14:16Z</dcterms:created>
  <dcterms:modified xsi:type="dcterms:W3CDTF">2026-08-28T05:15:24Z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0x01010039EE3D50A1A2844A940F2932E65CA437</vt:lpwstr>
  </property>
</Properties>
</file>