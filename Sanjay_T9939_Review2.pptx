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15"/>
    <p:sldId id="2147470502" r:id="rId16"/>
    <p:sldId id="2147470503" r:id="rId17"/>
    <p:sldId id="2147470494" r:id="rId6"/>
    <p:sldId id="2147470497" r:id="rId7"/>
    <p:sldId id="2147470498" r:id="rId8"/>
    <p:sldId id="2147470500" r:id="rId9"/>
    <p:sldId id="2147470499" r:id="rId10"/>
    <p:sldId id="2147470504" r:id="rId18"/>
    <p:sldId id="2147470505" r:id="rId20"/>
    <p:sldId id="2147470506" r:id="rId21"/>
    <p:sldId id="2147470507" r:id="rId22"/>
    <p:sldId id="2147470508" r:id="rId23"/>
    <p:sldId id="2147470509" r:id="rId24"/>
    <p:sldId id="2147470510" r:id="rId25"/>
    <p:sldId id="2147470511" r:id="rId26"/>
    <p:sldId id="2147470512" r:id="rId27"/>
    <p:sldId id="2147470513" r:id="rId28"/>
    <p:sldId id="2147470514" r:id="rId29"/>
    <p:sldId id="2147470515" r:id="rId30"/>
    <p:sldId id="2147470516" r:id="rId31"/>
    <p:sldId id="2147470517" r:id="rId32"/>
    <p:sldId id="2147470518" r:id="rId33"/>
    <p:sldId id="2147470519" r:id="rId34"/>
    <p:sldId id="2147470520" r:id="rId35"/>
    <p:sldId id="2147470521" r:id="rId36"/>
    <p:sldId id="214747052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4E79"/>
                </a:solidFill>
                <a:latin typeface="Calibri"/>
              </a:rPr>
              <a:t>DTC codes by family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DTC codes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P0</c:v>
                </c:pt>
                <c:pt idx="1">
                  <c:v>P2</c:v>
                </c:pt>
                <c:pt idx="2">
                  <c:v>U0</c:v>
                </c:pt>
                <c:pt idx="3">
                  <c:v>C0</c:v>
                </c:pt>
                <c:pt idx="4">
                  <c:v>B0</c:v>
                </c:pt>
                <c:pt idx="5">
                  <c:v>U3</c:v>
                </c:pt>
                <c:pt idx="6">
                  <c:v>P3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3705</c:v>
                </c:pt>
                <c:pt idx="1">
                  <c:v>3495</c:v>
                </c:pt>
                <c:pt idx="2">
                  <c:v>1055</c:v>
                </c:pt>
                <c:pt idx="3">
                  <c:v>626</c:v>
                </c:pt>
                <c:pt idx="4">
                  <c:v>323</c:v>
                </c:pt>
                <c:pt idx="5">
                  <c:v>174</c:v>
                </c:pt>
                <c:pt idx="6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24242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6"/>
            </a:solidFill>
          </a:ln>
        </c:spPr>
        <c:txPr>
          <a:bodyPr/>
          <a:lstStyle/>
          <a:p>
            <a:pPr>
              <a:defRPr sz="1100">
                <a:solidFill>
                  <a:srgbClr val="5F6B7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project: AutoDiag-RAG, a retrieval-augmented system that diagnoses vehicle faults and validates warranty coverage, built on hybrid (semantic + keyword)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problem: diagnosis and warranty validation need precise, traceable answers. Explain why neither keyword nor semantic search alone is enough for this domain, which is the core idea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objectives. Objectives 1-4 are implemented; objective 5 (formal evaluation)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heterogeneous sources, each with its own ingestion script. Point out the cleaning on NHTSA and the overlapping chunking for warranty text so coverage limits are not cut across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dense vs sparse retrieval and the RRF formula. RRF needs no score normalisation, only ranks. Use the rattling-noise example to show fusion finding a better chunk than either retriever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query routing plus a deterministic validation step, not an autonomous agent. Stress that coverage decisions are computed in code, which removes the most common LLM failure for warranty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one request end to end. If possible, show the live demo here: a symptom question, a DTC code question, and a warranty check with the verdict gauges.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phases; phases 1-5 are complete and phase 6 (evaluation) is next. The three design principles explain the main architectural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from the actual ingestion runs. 59,504 chunks in the BM25 index match 59,504 points in Qdrant. Powertrain P0 and P2 codes dominate the DTC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algorithms, each with a clear job. Tools were chosen to keep the laptop lightweight: heavy compute is cloud-hosted.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open about the plan changes since Review I and the reason for each; they were driven by hardware and network constraints, and the core methodology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 pipeline runs once to build both indexes. Online, every question goes UI → API → router → hybrid retrieval → optional rules check → Gemini, and the response carries the evidence back to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qualitative checks from development runs, not the final evaluation. The formal numbers come from the gold-set ablation, which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AutoDiag-RAG</a:t>
            </a:r>
          </a:p>
          <a:p>
            <a:pPr lvl="0"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Hybrid Retrieval for Automotive Fault Diagnosis &amp; Warranty Validation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Sanjay Suresh Hullyal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Individual Project – 1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690372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The problem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Technicians diagnose faults from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DTC codes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(e.g. P0301), owners' symptom descriptions and service data scattered across many sources.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Warranty decisions depend on exact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manufacturer terms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— year and mileage limits, exclusions — buried in 100+ page booklets.</a:t>
            </a:r>
          </a:p>
          <a:p>
            <a:pPr algn="l" marL="201168" indent="-201168">
              <a:spcBef>
                <a:spcPts val="0"/>
              </a:spcBef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Generic LLM chatbots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hallucinate codes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and get coverage arithmetic wrong — unacceptable for warranty claims.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Why hybrid retrieval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Automotive queries mix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exact tokens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(codes, part numbers) with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natural language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("car shakes at idle").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Keyword search misses paraphrases; semantic search misses exact codes — </a:t>
            </a:r>
            <a:r>
              <a:rPr sz="1500" b="1" i="0">
                <a:solidFill>
                  <a:srgbClr val="1F4E79"/>
                </a:solidFill>
                <a:latin typeface="Calibri"/>
              </a:rPr>
              <a:t>AutoDiag-RAG combines both</a:t>
            </a:r>
            <a:r>
              <a:rPr sz="1500" b="0" i="0">
                <a:solidFill>
                  <a:srgbClr val="242424"/>
                </a:solidFill>
                <a:latin typeface="Calibri"/>
              </a:rPr>
              <a:t> and grounds every answer in cited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18120" y="1527048"/>
            <a:ext cx="3840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59,504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0939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indexed knowledge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18120" y="2898648"/>
            <a:ext cx="3840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4655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source types: DTC library, NHTSA complaints, warranty booklets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160520"/>
            <a:ext cx="4160520" cy="11887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18120" y="4270248"/>
            <a:ext cx="3840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371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manufacturers' 2026 warranty booklets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11480" y="144475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Build a unified knowledge corpus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Ingest and clean DTC codes, NHTSA owner complaints and manufacturer warranty booklets into traceable chunks with metadata.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6771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Hybrid retrieval that beats either method alone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Fuse BGE-M3 dense vectors (Qdrant) with BM25 keyword search using Reciprocal Rank Fusion.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309067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Trustworthy warranty validation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Route each query and decide coverage with a deterministic rules check — the LLM only explains the verdict.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913632"/>
            <a:ext cx="475488" cy="47548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Grounded, cited answers in a usable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Gemini answers only from retrieved sources; FastAPI backend and Streamlit UI with voice input.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4736592"/>
            <a:ext cx="475488" cy="475488"/>
          </a:xfrm>
          <a:prstGeom prst="ellipse">
            <a:avLst/>
          </a:prstGeom>
          <a:solidFill>
            <a:srgbClr val="1FA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63440"/>
            <a:ext cx="1060704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Measure 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42424"/>
                </a:solidFill>
                <a:latin typeface="Calibri"/>
              </a:rPr>
              <a:t>Gold Q&amp;A set, retrieval ablation (Recall@5, MRR) and RAGAS faithfulness / answer relevancy.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Data Ingestion &amp; Chunking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3642360" cy="38862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36804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DTC code library (OBDex, CC0)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7 YAML families parsed (P0, P2, P3, B0, C0, U0, U3)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One chunk per code: title, description, symptoms, causes, repair difficulty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Metadata: dtc_code,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44568"/>
            <a:ext cx="3368040" cy="594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9,533</a:t>
            </a:r>
            <a:r>
              <a:rPr sz="1300" b="0" i="0">
                <a:solidFill>
                  <a:srgbClr val="5F6B7A"/>
                </a:solidFill>
                <a:latin typeface="Calibri"/>
              </a:rPr>
              <a:t> 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6720" y="1371600"/>
            <a:ext cx="3642360" cy="38862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73880" y="1481328"/>
            <a:ext cx="336804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NHTSA owner complaints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Public complaints API: 20 models × 7 model years (2017–2023)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Dropped complaints under 15 words, removed duplicates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Make / model / year parsed from the nested products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544568"/>
            <a:ext cx="3368040" cy="594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49,090</a:t>
            </a:r>
            <a:r>
              <a:rPr sz="1300" b="0" i="0">
                <a:solidFill>
                  <a:srgbClr val="5F6B7A"/>
                </a:solidFill>
                <a:latin typeface="Calibri"/>
              </a:rPr>
              <a:t>  chunks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00" y="1371600"/>
            <a:ext cx="3642360" cy="38862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0560" y="1481328"/>
            <a:ext cx="336804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Manufacturer warranty booklets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2026 PDFs: Honda, Hyundai, Toyota, Ford, Nissan, Kia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Page-wise text extraction (pypdf + fontTools)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800-character chunks, 150-character overlap; metadata: manufacturer,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4544568"/>
            <a:ext cx="3368040" cy="594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881</a:t>
            </a:r>
            <a:r>
              <a:rPr sz="1300" b="0" i="0">
                <a:solidFill>
                  <a:srgbClr val="5F6B7A"/>
                </a:solidFill>
                <a:latin typeface="Calibri"/>
              </a:rPr>
              <a:t>  chunks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349240"/>
            <a:ext cx="11475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Output: </a:t>
            </a:r>
            <a:r>
              <a:rPr sz="1300" b="0" i="0">
                <a:solidFill>
                  <a:srgbClr val="242424"/>
                </a:solidFill>
                <a:latin typeface="Calibri"/>
              </a:rPr>
              <a:t>JSONL files in data/processed/ with doc_type (diagnosis / warranty) for filtering and source citation — 59,504 chunks in total.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Hybrid Retrieval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676656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Dense retrieval (semantic)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BGE-M3 1024-dimensional embeddings; corpus embedded on a Colab T4 GPU (≈35 min for 59K chunks)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Stored in Qdrant Cloud (cosine similarity); queries embedded via the OpenRouter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Sparse retrieval (keyword)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BM25 Okapi over the same chunks (rank_bm25), runs locally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Tokenizer keeps codes such as P0301 intact as single tokens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Fusion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Top-20 from each retriever combined with Reciprocal Rank Fusion; top-5 passed to the generator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Each result keeps its dense and BM25 rank, shown as evidence in the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17320"/>
            <a:ext cx="4389120" cy="1874519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9520" y="1508760"/>
            <a:ext cx="4023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Reciprocal Rank Fusion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42424"/>
                </a:solidFill>
                <a:latin typeface="Calibri"/>
              </a:rPr>
              <a:t>RRF(d) = Σ  1 / (k + rank_r(d))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r ∈ {dense, BM25},  k = 60. A chunk ranked well by both retrievers rises to the 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474720"/>
            <a:ext cx="4389120" cy="160020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0" y="3566160"/>
            <a:ext cx="40233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Observed on a real query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"car makes a rattling noise when accelerating" — the fused #1 chunk ("loud rattling noise… increases when accelerating") was in neither retriever's own top-5.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Query Routing &amp; Warranty Validation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667512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Query router (rule-based)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DTC pattern [PBCU]\d{4} → diagnosis; otherwise warranty vs diagnosis keyword scoring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Defaults to diagnosis; the UI also allows a manual route override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Warranty rules table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warranty_rules.json built from the six booklets: component → years / miles (null = unlimited)</a:t>
            </a:r>
          </a:p>
          <a:p>
            <a:pPr algn="l" marL="201168" indent="-201168">
              <a:spcBef>
                <a:spcPts val="0"/>
              </a:spcBef>
              <a:spcAft>
                <a:spcPts val="10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21 rules across 6 manufacturers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583D1"/>
                </a:solidFill>
                <a:latin typeface="Calibri"/>
              </a:rPr>
              <a:t>Deterministic coverage check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Compares vehicle age and mileage with the limits → covered / not covered / needs review</a:t>
            </a:r>
          </a:p>
          <a:p>
            <a:pPr algn="l" marL="201168" indent="-201168">
              <a:spcBef>
                <a:spcPts val="0"/>
              </a:spcBef>
              <a:spcAft>
                <a:spcPts val="400"/>
              </a:spcAft>
              <a:buClr>
                <a:srgbClr val="5583D1"/>
              </a:buClr>
              <a:buFont typeface="Arial"/>
              <a:buChar char="•"/>
            </a:pPr>
            <a:r>
              <a:rPr sz="1500" b="0" i="0">
                <a:solidFill>
                  <a:srgbClr val="242424"/>
                </a:solidFill>
                <a:latin typeface="Calibri"/>
              </a:rPr>
              <a:t>The LLM never does coverage maths — it only explains the verdict with cited clauses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463040"/>
          <a:ext cx="4480560" cy="2779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19659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Manufacturer · component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Honda · powertrain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5 yrs / 60,000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Hyundai · powertrain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10 yrs / 100,000 mi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Kia · powertrain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10 yrs / 100,000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Toyota · hybrid battery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10 yrs / 150,000 mi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Toyota · corrosion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5 yrs / unlimited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Ford · basic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3 yrs / 36,000 mi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Nissan · basic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3 yrs / 36,000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438912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Sample of the rules table. The check returns needs review when a manufacturer or component has no rule, instead of guessing.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Grounded Generation, API &amp; UI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3642360" cy="35661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368040" cy="2697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Grounded generation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Gemini 3.6 Flash via the google-genai SDK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Prompt restricts the answer to the retrieved sources and asks for source citations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Warranty prompt treats the rules verdict as authoritative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6720" y="1371600"/>
            <a:ext cx="3642360" cy="35661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73880" y="1481328"/>
            <a:ext cx="3368040" cy="2697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FastAPI backend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/query: route, answer, sources with dense and BM25 ranks, verdict, step timings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/warranty/check: instant verdict, no LLM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/transcribe, /stats, /feedback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3400" y="1371600"/>
            <a:ext cx="3642360" cy="35661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90560" y="1481328"/>
            <a:ext cx="3368040" cy="2697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Streamlit UI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Assistant chat with example prompts and voice input (Groq Whisper)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Verdict card with time and mileage gauges; evidence panel with retriever ranks</a:t>
            </a:r>
          </a:p>
          <a:p>
            <a:pPr algn="l" marL="201168" indent="-201168">
              <a:spcBef>
                <a:spcPts val="0"/>
              </a:spcBef>
              <a:spcAft>
                <a:spcPts val="600"/>
              </a:spcAft>
              <a:buClr>
                <a:srgbClr val="5583D1"/>
              </a:buClr>
              <a:buFont typeface="Arial"/>
              <a:buChar char="•"/>
            </a:pPr>
            <a:r>
              <a:rPr sz="1600" b="0" i="0">
                <a:solidFill>
                  <a:srgbClr val="242424"/>
                </a:solidFill>
                <a:latin typeface="Calibri"/>
              </a:rPr>
              <a:t>Warranty checker, manufacturer comparison, system insights; thumbs feedback logged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50876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429768" y="16184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Collect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DTC, NHTSA, warranty PDFs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39112" y="2167128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76856" y="150876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386584" y="16184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8296" y="201168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Clean &amp; chunk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filter, dedupe, overlap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2167128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33672" y="150876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343400" y="16184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01168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Index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BGE-M3 → Qdrant + BM25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52744" y="2167128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90488" y="150876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00216" y="16184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01168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Retrieve &amp; fuse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top-20 each → RRF top-5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9559" y="2167128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47304" y="150876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57031" y="16184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201168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Route, validate, generate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rules check + Gemini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66376" y="2167128"/>
            <a:ext cx="210312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50876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0213848" y="1618488"/>
            <a:ext cx="347472" cy="347472"/>
          </a:xfrm>
          <a:prstGeom prst="ellipse">
            <a:avLst/>
          </a:prstGeom>
          <a:solidFill>
            <a:srgbClr val="1FA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011680"/>
            <a:ext cx="1508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Evaluate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Recall@5, MRR, RAGAS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Design principles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352044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4632" y="3630168"/>
            <a:ext cx="33375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Retrieval quality first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The contribution is measured as an ablation: dense-only vs BM25-only vs hybrid on the same gold set.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52044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370831" y="3630168"/>
            <a:ext cx="33375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Deterministic where correctness matters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Coverage limits are checked in code; the LLM is used for language, not arithmetic.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520440"/>
            <a:ext cx="3657600" cy="1874519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57031" y="3630168"/>
            <a:ext cx="33375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Built for a CPU-only laptop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424"/>
                </a:solidFill>
                <a:latin typeface="Calibri"/>
              </a:rPr>
              <a:t>Heavy steps run in the cloud (Colab GPU, Qdrant Cloud, hosted LLM and speech APIs); the app itself stays lightweight.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71600"/>
          <a:ext cx="67208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/>
                <a:gridCol w="960120"/>
                <a:gridCol w="3291840"/>
                <a:gridCol w="868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Raw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Chunks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DTC codes (OBDex)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9,533 codes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YAML → structured text + metadata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9,533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NHTSA complaints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52,419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&lt; 15 words removed (−2,995); duplicates removed (−334)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49,090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Warranty booklets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6 PDFs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Page text; 800-char chunks, 150 overlap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881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59,504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886200"/>
            <a:ext cx="67208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583D1"/>
                </a:solidFill>
                <a:latin typeface="Calibri"/>
              </a:rPr>
              <a:t>Key observations</a:t>
            </a:r>
          </a:p>
          <a:p>
            <a:pPr algn="l" marL="201168" indent="-201168">
              <a:spcBef>
                <a:spcPts val="0"/>
              </a:spcBef>
              <a:spcAft>
                <a:spcPts val="3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94% of NHTSA complaints kept; text is noisy (all caps, typos) — realistic user language</a:t>
            </a:r>
          </a:p>
          <a:p>
            <a:pPr algn="l" marL="201168" indent="-201168">
              <a:spcBef>
                <a:spcPts val="0"/>
              </a:spcBef>
              <a:spcAft>
                <a:spcPts val="3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Codes like P0301 are rare but decisive tokens — the case for BM25</a:t>
            </a:r>
          </a:p>
          <a:p>
            <a:pPr algn="l" marL="201168" indent="-201168">
              <a:spcBef>
                <a:spcPts val="0"/>
              </a:spcBef>
              <a:spcAft>
                <a:spcPts val="300"/>
              </a:spcAft>
              <a:buClr>
                <a:srgbClr val="5583D1"/>
              </a:buClr>
              <a:buFont typeface="Arial"/>
              <a:buChar char="•"/>
            </a:pPr>
            <a:r>
              <a:rPr sz="1300" b="0" i="0">
                <a:solidFill>
                  <a:srgbClr val="242424"/>
                </a:solidFill>
                <a:latin typeface="Calibri"/>
              </a:rPr>
              <a:t>Warranty chunks: Nissan 210, Hyundai 196, Ford 184, Toyota 142, Honda 128, Kia 21 (compact booklet)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0" y="1325880"/>
          <a:ext cx="4480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83080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29768" y="1874519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BGE-M3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dense semantic embeddings (1024-d)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04872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29768" y="2496312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BM25 Okapi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keyword relevance, exact codes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026664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29768" y="3118104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4952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Reciprocal Rank Fusion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rank-based fusion, k = 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48456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9768" y="3739896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66744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Rule-based router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DTC regex + keyword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270248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29768" y="4361688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88536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Deterministic rules engine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age and mileage vs manufacturer limits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892040"/>
            <a:ext cx="5394960" cy="53035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29768" y="4983480"/>
            <a:ext cx="347472" cy="3474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10328"/>
            <a:ext cx="4709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Grounded prompting</a:t>
            </a:r>
            <a:r>
              <a:rPr sz="1400" b="0" i="0">
                <a:solidFill>
                  <a:srgbClr val="242424"/>
                </a:solidFill>
                <a:latin typeface="Calibri"/>
              </a:rPr>
              <a:t>  —  answer only from cited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3258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583D1"/>
                </a:solidFill>
                <a:latin typeface="Calibri"/>
              </a:rPr>
              <a:t>Tools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80760" y="1783080"/>
          <a:ext cx="5714999" cy="3621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397763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Language / 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Python 3.11 · VS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Embeddings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BGE-M3 (Colab T4 for corpus, OpenRouter for queries)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Vector database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Qdrant Cloud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Keyword search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rank_bm25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Gemini 3.6 Flash (google-genai)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Speech-to-text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Groq Whisper large-v3-turbo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Backend / Frontend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FastAPI + Uvicorn / Streamlit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Evaluation (next)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RAGAS, Recall@5, MRR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7223760" cy="4174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"/>
                <a:gridCol w="5760720"/>
                <a:gridCol w="1051560"/>
              </a:tblGrid>
              <a:tr h="37947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Environment and data sourcing (DTC, NHTSA, 6 warranty booklets)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8A0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Ingestion, cleaning and chunking (59,504 chunks)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8A0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Dense index (BGE-M3 → Qdrant) and BM25 index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8A0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Hybrid retrieval with RRF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8A0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Router, warranty rules engine, Gemini generation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8A0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FastAPI backend + Streamlit UI with voice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C8A0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Gold evaluation set (40–50 Q&amp;A pairs)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78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Retrieval ablation (Recall@5, MRR) and RAGAS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78A00"/>
                          </a:solidFill>
                          <a:latin typeface="Calibri"/>
                        </a:rPr>
                        <a:t>Next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Cross-encoder re-ranking and confidence-gating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Deployment (Render + Streamlit Cloud) and report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F6B7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37160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1444752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6 of 10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milestones complete — core system working end to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697480"/>
            <a:ext cx="3931920" cy="25146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0" y="2770632"/>
            <a:ext cx="361188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Changes since Review I</a:t>
            </a:r>
          </a:p>
          <a:p>
            <a:pPr algn="l" marL="201168" indent="-201168">
              <a:spcBef>
                <a:spcPts val="0"/>
              </a:spcBef>
              <a:spcAft>
                <a:spcPts val="300"/>
              </a:spcAft>
              <a:buClr>
                <a:srgbClr val="5583D1"/>
              </a:buClr>
              <a:buFont typeface="Arial"/>
              <a:buChar char="•"/>
            </a:pPr>
            <a:r>
              <a:rPr sz="1200" b="0" i="0">
                <a:solidFill>
                  <a:srgbClr val="242424"/>
                </a:solidFill>
                <a:latin typeface="Calibri"/>
              </a:rPr>
              <a:t>LlamaIndex → own hybrid pipeline (transparent RRF, rank-level evidence)</a:t>
            </a:r>
          </a:p>
          <a:p>
            <a:pPr algn="l" marL="201168" indent="-201168">
              <a:spcBef>
                <a:spcPts val="0"/>
              </a:spcBef>
              <a:spcAft>
                <a:spcPts val="300"/>
              </a:spcAft>
              <a:buClr>
                <a:srgbClr val="5583D1"/>
              </a:buClr>
              <a:buFont typeface="Arial"/>
              <a:buChar char="•"/>
            </a:pPr>
            <a:r>
              <a:rPr sz="1200" b="0" i="0">
                <a:solidFill>
                  <a:srgbClr val="242424"/>
                </a:solidFill>
                <a:latin typeface="Calibri"/>
              </a:rPr>
              <a:t>Local LLM → Gemini API (CPU-only laptop)</a:t>
            </a:r>
          </a:p>
          <a:p>
            <a:pPr algn="l" marL="201168" indent="-201168">
              <a:spcBef>
                <a:spcPts val="0"/>
              </a:spcBef>
              <a:spcAft>
                <a:spcPts val="300"/>
              </a:spcAft>
              <a:buClr>
                <a:srgbClr val="5583D1"/>
              </a:buClr>
              <a:buFont typeface="Arial"/>
              <a:buChar char="•"/>
            </a:pPr>
            <a:r>
              <a:rPr sz="1200" b="0" i="0">
                <a:solidFill>
                  <a:srgbClr val="242424"/>
                </a:solidFill>
                <a:latin typeface="Calibri"/>
              </a:rPr>
              <a:t>faster-whisper → Groq Whisper API (model downloads blocked on the corporate network)</a:t>
            </a:r>
          </a:p>
          <a:p>
            <a:pPr algn="l" marL="201168" indent="-201168"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Font typeface="Arial"/>
              <a:buChar char="•"/>
            </a:pPr>
            <a:r>
              <a:rPr sz="1200" b="0" i="0">
                <a:solidFill>
                  <a:srgbClr val="242424"/>
                </a:solidFill>
                <a:latin typeface="Calibri"/>
              </a:rPr>
              <a:t>Cross-encoder re-ranker deferred until the evaluation baseline exists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583D1"/>
                </a:solidFill>
                <a:latin typeface="Calibri"/>
              </a:rPr>
              <a:t>OFFLINE — indexing (run once)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459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Sources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DTC YAML · NHTSA API · warranty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459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Ingest &amp; clean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filter, dedupe, parse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Chunk + metadata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JSONL · 59,504 chunks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645920"/>
            <a:ext cx="2240280" cy="5669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BGE-M3 (Colab GPU)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313432"/>
            <a:ext cx="2240280" cy="566928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BM25 indexing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645920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Qdrant Cloud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dense vectors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313432"/>
            <a:ext cx="2514600" cy="566928"/>
          </a:xfrm>
          <a:prstGeom prst="roundRect">
            <a:avLst>
              <a:gd name="adj" fmla="val 8000"/>
            </a:avLst>
          </a:prstGeom>
          <a:solidFill>
            <a:srgbClr val="E4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Calibri"/>
              </a:rPr>
              <a:t>BM25 index (local)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pickle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75688" y="2263140"/>
            <a:ext cx="28346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33087" y="2263140"/>
            <a:ext cx="283465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190488" y="1929384"/>
            <a:ext cx="420624" cy="173736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90488" y="2423160"/>
            <a:ext cx="420624" cy="173736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87968" y="1929384"/>
            <a:ext cx="37490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87968" y="2596896"/>
            <a:ext cx="37490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" y="31546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583D1"/>
                </a:solidFill>
                <a:latin typeface="Calibri"/>
              </a:rPr>
              <a:t>ONLINE — per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User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text or voice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55648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02536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Streamlit UI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Whisper for voice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38144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85032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FastAPI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/query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0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67528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Router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diagnosis / warranty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03136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50024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Hybrid retrieval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dense + BM25 → RRF top-5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85632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32520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C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Rules check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warranty only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68128" y="4046220"/>
            <a:ext cx="228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15016" y="352044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Gemini</a:t>
            </a:r>
          </a:p>
          <a:p>
            <a:pPr algn="ctr"/>
            <a:r>
              <a:rPr sz="1100">
                <a:solidFill>
                  <a:srgbClr val="5F6B7A"/>
                </a:solidFill>
                <a:latin typeface="Calibri"/>
              </a:rPr>
              <a:t>grounded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800600"/>
            <a:ext cx="11475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Response: </a:t>
            </a:r>
            <a:r>
              <a:rPr sz="1300" b="0" i="0">
                <a:solidFill>
                  <a:srgbClr val="242424"/>
                </a:solidFill>
                <a:latin typeface="Calibri"/>
              </a:rPr>
              <a:t>route, cited answer, coverage verdict with limits, the 5 sources with their dense and BM25 ranks, and per-step timings — rendered in the UI; feedback is logged for evaluation.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Results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2834640" y="57036"/>
            <a:ext cx="918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AutoDiag-RAG: Hybrid Retrieval for Fault Diagnosis &amp; Warranty Validation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71600"/>
          <a:ext cx="7315200" cy="2267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58521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Retriever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Query: "car makes a rattling noise when accelerating"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Dense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Paraphrases found (humming, squeaking, grinding) — none mention "rattling"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BM25 only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Matches the word "rattling", incl. unrelated seat / suspension rattles</a:t>
                      </a:r>
                    </a:p>
                  </a:txBody>
                  <a:tcPr marL="73152" marR="73152" marT="27432" marB="27432" anchor="ctr">
                    <a:solidFill>
                      <a:srgbClr val="EAF2FB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  <a:latin typeface="Calibri"/>
                        </a:rPr>
                        <a:t>Hybrid (RRF)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#1: "loud rattling noise… increases when accelerating" — in neither top-5 alone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3931920"/>
          <a:ext cx="73152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5852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Exact-code query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42424"/>
                          </a:solidFill>
                          <a:latin typeface="Calibri"/>
                        </a:rPr>
                        <a:t>"P0301" (BM25)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42424"/>
                          </a:solidFill>
                          <a:latin typeface="Calibri"/>
                        </a:rPr>
                        <a:t>5 of 5 retrieved chunks contain P0301 with causes and fixes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C9D6E6"/>
                      </a:solidFill>
                    </a:lnL>
                    <a:lnR w="6350">
                      <a:solidFill>
                        <a:srgbClr val="C9D6E6"/>
                      </a:solidFill>
                    </a:lnR>
                    <a:lnT w="6350">
                      <a:solidFill>
                        <a:srgbClr val="C9D6E6"/>
                      </a:solidFill>
                    </a:lnT>
                    <a:lnB w="6350">
                      <a:solidFill>
                        <a:srgbClr val="C9D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1371600"/>
            <a:ext cx="3794760" cy="9601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83879" y="1426464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74519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warranty test cases correct, incl. boundary and unknown manufacturer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468880"/>
            <a:ext cx="3794760" cy="9601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83879" y="2523744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5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97180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test queries routed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566160"/>
            <a:ext cx="3794760" cy="96012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3879" y="3621024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200 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069080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end-to-end API: grounded, cited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983480"/>
            <a:ext cx="11475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Next: </a:t>
            </a:r>
            <a:r>
              <a:rPr sz="1300" b="0" i="0">
                <a:solidFill>
                  <a:srgbClr val="242424"/>
                </a:solidFill>
                <a:latin typeface="Calibri"/>
              </a:rPr>
              <a:t>quantitative evaluation on the gold set — Recall@5 and MRR for dense vs BM25 vs hybrid, plus RAGAS faithfulness and answer relevancy.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Personal IT Change Impact Agent</a:t>
            </a:r>
          </a:p>
          <a:p>
            <a:pPr lvl="0" algn="ctr">
              <a:defRPr/>
            </a:pPr>
            <a:r>
              <a:rPr lang="en-US" sz="2200" b="0" dirty="0">
                <a:solidFill>
                  <a:prstClr val="white"/>
                </a:solidFill>
                <a:cs typeface="Calibri" panose="020F0502020204030204" pitchFamily="34" charset="0"/>
              </a:rPr>
              <a:t>Agentic AI that predicts what a software change will break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Sanjay Suresh Hullyal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6035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603504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A developer machine quietly accumulates Python interpreters, virtual environments, Docker images and Git repositories, each with its own dependencies.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Upgrading or removing one package can break projects you forgot depended on it.</a:t>
            </a:r>
          </a:p>
          <a:p>
            <a:pPr marL="228600" indent="-228600">
              <a:spcAft>
                <a:spcPts val="400"/>
              </a:spcAft>
              <a:buClr>
                <a:srgbClr val="2E75B6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Today the check is manual: pip show, changelogs, trial and error. Nothing answers “what will this change break?”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5166360" cy="23774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4800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F4E79"/>
                </a:solidFill>
                <a:latin typeface="Calibri"/>
              </a:rPr>
              <a:t>What this project builds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480060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A read-only AI agent that inventories the machine, maps dependencies into a graph, retrieves version-specific evidence from PyPI, scores risk with explicit rules and explains the result in plain English.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46120"/>
            <a:ext cx="48006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1B8A99"/>
                </a:solidFill>
                <a:latin typeface="Calibri"/>
              </a:rPr>
              <a:t>Ask: “Can I remove numpy from AutoDiag_RAG?”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31920"/>
            <a:ext cx="11521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5F6B7A"/>
                </a:solidFill>
                <a:latin typeface="Calibri"/>
              </a:rPr>
              <a:t>From the first real scan of the development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73168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Python interpreters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0624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773168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projects with virtual environments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1F4E79"/>
                </a:solidFill>
                <a:latin typeface="Calibri"/>
              </a:rPr>
              <a:t>324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773168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installed packages inventoried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20624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3200" b="1" i="0">
                <a:solidFill>
                  <a:srgbClr val="1F4E79"/>
                </a:solidFill>
                <a:latin typeface="Calibri"/>
              </a:rPr>
              <a:t>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73168"/>
            <a:ext cx="26517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declared requirements parsed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0020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291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Inventory interpreters, virtualenvs, packages, Docker and Git repos on a Windows machine, strictly read-only.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41732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6552" y="16002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60020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167128"/>
            <a:ext cx="3291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Parse requirements.txt, pyproject.toml and Dockerfiles into a queryable dependency graph.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41732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4464" y="16002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160020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167128"/>
            <a:ext cx="3291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Retrieve version-specific release evidence from PyPI with semantic search (RAG on pgvector).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33756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2044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Reason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87368"/>
            <a:ext cx="3291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Orchestrate the analysis as a LangGraph agent that turns a plain-English question into a structured request.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3672" y="333756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6552" y="35204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52044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Assess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087368"/>
            <a:ext cx="3291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Rate risk as low, medium or high with transparent rules, and explain it without inventing facts.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4" y="333756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84464" y="35204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520440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4087368"/>
            <a:ext cx="32918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Show the verdict, evidence trail and inventory in an interactive dashboard. The machine is never modified.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Environment Discovery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0040" y="1325880"/>
            <a:ext cx="11521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Read-only scan of the developer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1874519"/>
            <a:ext cx="6583680" cy="3200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Interpreters: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parses py -0p to find every installed Python (3.14.4 and 3.11.9 found).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Virtual environments: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walks folders for pyvenv.cfg and reads packages with importlib.metadata inside each interpreter.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Docker: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images and containers through the Docker SDK.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Git: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repositories, active branch and last commit through GitPython.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Storage: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everything lands in the PostgreSQL inventory, linked machine → environment → project.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874519"/>
            <a:ext cx="4572000" cy="301752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011680"/>
            <a:ext cx="4206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First scan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51460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AutoDiag_RAG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5146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194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97180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bge_download_env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29718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42900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Calibri"/>
              </a:rPr>
              <a:t>change-impact-agent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4290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886200"/>
            <a:ext cx="3017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Total packages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3886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324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389120"/>
            <a:ext cx="4206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5F6B7A"/>
                </a:solidFill>
                <a:latin typeface="Calibri"/>
              </a:rPr>
              <a:t>Code: app/discovery/ (interpreters, environments, docker_scan, git_scan, scan)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Dependency Extraction &amp; Graph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0040" y="1325880"/>
            <a:ext cx="11521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From manifest files to a queryable dependency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1874519"/>
            <a:ext cx="6217920" cy="3200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requirements.txt: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PEP 508 parsing with packaging.Requirement.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pyproject.toml: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PEP 621 and Poetry styles; caret and tilde specifiers kept as written.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Dockerfile: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multi-stage FROM lines (stage aliases dropped, duplicates removed) and RUN pip install.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Graph model: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generic nodes and edges: project depends_on package, image built_from base image.</a:t>
            </a:r>
          </a:p>
          <a:p>
            <a:pPr marL="228600" indent="-228600">
              <a:spcAft>
                <a:spcPts val="800"/>
              </a:spcAft>
              <a:buClr>
                <a:srgbClr val="2E75B6"/>
              </a:buClr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Calibri"/>
              </a:rPr>
              <a:t>blast_radius():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graph query returning every project that touches a package.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2103120"/>
            <a:ext cx="22402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AutoDiag_RAG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0" y="2377439"/>
            <a:ext cx="685800" cy="822961"/>
          </a:xfrm>
          <a:prstGeom prst="line">
            <a:avLst/>
          </a:prstGeom>
          <a:ln w="1905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03720" y="2971800"/>
            <a:ext cx="22402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bge_download_env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144000" y="3200400"/>
            <a:ext cx="685800" cy="45720"/>
          </a:xfrm>
          <a:prstGeom prst="line">
            <a:avLst/>
          </a:prstGeom>
          <a:ln w="1905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03720" y="3840479"/>
            <a:ext cx="224028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change-impact-agent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144000" y="3200400"/>
            <a:ext cx="685800" cy="914399"/>
          </a:xfrm>
          <a:prstGeom prst="line">
            <a:avLst/>
          </a:prstGeom>
          <a:ln w="1905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75520" y="2834640"/>
            <a:ext cx="1965960" cy="7315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numpy 2.4.6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14884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000" b="0" i="1">
                <a:solidFill>
                  <a:srgbClr val="5F6B7A"/>
                </a:solidFill>
                <a:latin typeface="Calibri"/>
              </a:rPr>
              <a:t>depends_on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57200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5F6B7A"/>
                </a:solidFill>
                <a:latin typeface="Calibri"/>
              </a:rPr>
              <a:t>Real graph: numpy 2.4.6 is shared by all three projects.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Evidence Retrieval (RAG)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0040" y="1325880"/>
            <a:ext cx="11521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Version-specific evidence, fetched only when a question needs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920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Fetch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PyPI JSON API per package and 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95728" y="2514600"/>
            <a:ext cx="320040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34056" y="1920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B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Chunk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Word windows of summary, Requires-Python, description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64024" y="2514600"/>
            <a:ext cx="320040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02352" y="1920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all-MiniLM-L6-v2, 384 dimensions, runs locally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0" y="2514600"/>
            <a:ext cx="320040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70648" y="1920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B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Store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pgvector column in PostgreSQL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00616" y="2514600"/>
            <a:ext cx="320040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38944" y="192024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Retrieve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Cosine distance, filtered by package and version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429000"/>
            <a:ext cx="5577840" cy="164592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566160"/>
            <a:ext cx="5212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Why on-demand, not a scraped corpus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77639"/>
            <a:ext cx="5212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Only the packages and versions a question mentions are fetched, so the index stays small, current and specific to this machine. No API key or paid embedding service is needed.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429000"/>
            <a:ext cx="5577840" cy="164592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66160"/>
            <a:ext cx="52120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Fix found during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77639"/>
            <a:ext cx="5212079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Retrieval first returned numpy 1.24.3 text for a question about 2.4.6. Filtering by version made every evidence chunk come from the version actually being asked about.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Agentic Impact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0040" y="1325880"/>
            <a:ext cx="11521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LangGraph nodes working over a shared, typed state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1874519"/>
          <a:ext cx="11475720" cy="3154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2103120"/>
                <a:gridCol w="736092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parse_change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LLM · structured output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Converts the question into a ChangeRequest: package, action, target version, project hint.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investigate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Runs locate_package and blast_radius, ingests and retrieves PyPI evidence, scopes to the named project.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assess_risk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Scores five risk signals into low, medium or high and detects no-op changes.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write_report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Code + LLM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Code writes the facts, scope and advice; the LLM adds a two to three sentence explanation.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noop_report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Conditional branch that skips the LLM when nothing would change.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5029200"/>
            <a:ext cx="11430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5F6B7A"/>
                </a:solidFill>
                <a:latin typeface="Calibri"/>
              </a:rPr>
              <a:t>LLM: Llama 3.1 8B through Ollama, running locally with no API cost. It is used only for parsing and the explanation paragraph.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Interactive Dashboard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0040" y="1325880"/>
            <a:ext cx="11521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Streamlit front end for analysis, exploration and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874519"/>
            <a:ext cx="5596128" cy="1481328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011679"/>
            <a:ext cx="523036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Analyze a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423160"/>
            <a:ext cx="5230368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Live agent trace with per-step timing, colour-coded risk card with signal chips, impact map and a downloadable Markdown report.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1874519"/>
            <a:ext cx="5596128" cy="1481328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011679"/>
            <a:ext cx="523036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423160"/>
            <a:ext cx="5230368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Projects and package counts, searchable package tables with CSV export, and shared dependencies with version-drift detection.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520439"/>
            <a:ext cx="5596128" cy="1481328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57599"/>
            <a:ext cx="523036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Package explorer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79"/>
            <a:ext cx="5230368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Type any package to see every project that has it, which versions, and a dependency diagram.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3520439"/>
            <a:ext cx="5596128" cy="1481328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3657599"/>
            <a:ext cx="523036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History &amp; system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069079"/>
            <a:ext cx="5230368" cy="8412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Every analysis in the session grouped by risk, plus live health checks for PostgreSQL and Ollama.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– System Architecture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Developer machine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Interpreters · virtualenvs · Docker · Git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167128"/>
            <a:ext cx="0" cy="32004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74820" y="137160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Manifest files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requirements.txt · pyproject.toml · Dockerfile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3620" y="2167128"/>
            <a:ext cx="0" cy="32004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80" y="137160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PyPI JSON API</a:t>
            </a:r>
          </a:p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Fetched per 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12680" y="2167128"/>
            <a:ext cx="0" cy="32004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2514600"/>
            <a:ext cx="11475720" cy="109728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Knowledge store – PostgreSQL + pgvector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Inventory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machines · environments · packages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2862072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Dependency graph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nodes · edges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862072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Evidence index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chunks · 384-d embeddings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862072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Episodic memory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change history (Phase 7)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3620" y="3630168"/>
            <a:ext cx="0" cy="22860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" y="3886200"/>
            <a:ext cx="11475720" cy="5486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LangGraph agent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 parse → investigate → assess → report   ·   Llama 3.1 8B via Ollama (local)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03620" y="4453128"/>
            <a:ext cx="0" cy="210312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4681728"/>
            <a:ext cx="11475720" cy="457200"/>
          </a:xfrm>
          <a:prstGeom prst="roundRect">
            <a:avLst>
              <a:gd name="adj" fmla="val 6000"/>
            </a:avLst>
          </a:prstGeom>
          <a:solidFill>
            <a:srgbClr val="1B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Streamlit dashboard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  risk verdict · impact map · evidence trail · inventory ·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30368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1">
                <a:solidFill>
                  <a:srgbClr val="A63D40"/>
                </a:solidFill>
                <a:latin typeface="Calibri"/>
              </a:rPr>
              <a:t>Read-only by design: there is no write path from the agent back to the machine.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 – Risk Model &amp; Principles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120640" cy="114300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47548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Deterministic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47548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Facts, scope, risk level and advice come from code. The LLM only parses the question and writes a short explanation.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97480"/>
            <a:ext cx="5120640" cy="114300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47548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Grounded in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47548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Every statement traces to an inventory, graph or PyPI finding shown in the evidence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977639"/>
            <a:ext cx="5120640" cy="114300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47548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Safe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79"/>
            <a:ext cx="47548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The agent analyses and explains. It never installs, upgrades or removes anything.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806440" y="1417320"/>
          <a:ext cx="603504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8056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Risk signal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One affected project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Two or more affected projects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Removing a dependency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Major version jump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Requires-Python changes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Target version not on PyPI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806440" y="4224528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HIGH  ·  score ≥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224528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MEDIUM  ·  2–3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4224528"/>
            <a:ext cx="1920240" cy="548640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LOW  ·  0–1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846320"/>
            <a:ext cx="60350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1">
                <a:solidFill>
                  <a:srgbClr val="5F6B7A"/>
                </a:solidFill>
                <a:latin typeface="Calibri"/>
              </a:rPr>
              <a:t>Requesting the version already installed everywhere is a no-op: LOW, and the LLM is skipped.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6675119" cy="3337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/>
                <a:gridCol w="480060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Local environments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importlib.metadata run inside each interpreter; name, version and Requires-Python kept per package.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Manifest files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PEP 508 parsing; Poetry specifiers kept raw; Docker stage aliases and duplicate base images removed.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PyPI metadata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Fetched per version, split into word-window chunks and embedded into 384-d vectors in pgvector.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4E79"/>
                          </a:solidFill>
                          <a:latin typeface="Calibri"/>
                        </a:rPr>
                        <a:t>Project mapping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Each environment linked to its project, fixing a join that over-counted packages.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1417320"/>
            <a:ext cx="4480560" cy="352044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50876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What the data showed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965960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194 / 72 / 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7744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packages in AutoDiag_RAG, bge_download_env and change-impact-agent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926080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3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3756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projects share numpy 2.4.6, the widest blast radius on the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886200"/>
            <a:ext cx="4114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&gt;=3.11 vs &gt;=3.8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29768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Requires-Python of numpy 2.4.6 versus 1.24.3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6583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LANGUAGE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Python 3.11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783080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AGENT FRAMEWORK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LangGraph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9744" y="1783080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LLM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Llama 3.1 8B · 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07208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EMBEDDINGS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all-MiniLM-L6-v2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7752" y="2807208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DATABASE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PostgreSQL 16 + pgvector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9744" y="2807208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ORM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SQLAlchemy 2.0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31336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PARSING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packaging · tomllib · regex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7752" y="3831336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DISCOVERY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GitPython · Docker SDK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9744" y="3831336"/>
            <a:ext cx="2103120" cy="896112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B7A"/>
                </a:solidFill>
                <a:latin typeface="Calibri"/>
              </a:rPr>
              <a:t>FRONT END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32588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2E75B6"/>
                </a:solidFill>
                <a:latin typeface="Calibri"/>
              </a:rPr>
              <a:t>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783080"/>
            <a:ext cx="4572000" cy="3291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700"/>
              </a:spcAft>
              <a:buClr>
                <a:srgbClr val="2E75B6"/>
              </a:buClr>
              <a:buFont typeface="Arial"/>
              <a:buChar char="•"/>
            </a:pPr>
            <a:r>
              <a:rPr sz="1450" b="0" i="0">
                <a:solidFill>
                  <a:srgbClr val="262626"/>
                </a:solidFill>
                <a:latin typeface="Calibri"/>
              </a:rPr>
              <a:t>Cosine-similarity vector search over embeddings</a:t>
            </a:r>
          </a:p>
          <a:p>
            <a:pPr marL="228600" indent="-228600">
              <a:spcAft>
                <a:spcPts val="700"/>
              </a:spcAft>
              <a:buClr>
                <a:srgbClr val="2E75B6"/>
              </a:buClr>
              <a:buFont typeface="Arial"/>
              <a:buChar char="•"/>
            </a:pPr>
            <a:r>
              <a:rPr sz="1450" b="0" i="0">
                <a:solidFill>
                  <a:srgbClr val="262626"/>
                </a:solidFill>
                <a:latin typeface="Calibri"/>
              </a:rPr>
              <a:t>Graph traversal (self-join) to compute blast radius</a:t>
            </a:r>
          </a:p>
          <a:p>
            <a:pPr marL="228600" indent="-228600">
              <a:spcAft>
                <a:spcPts val="700"/>
              </a:spcAft>
              <a:buClr>
                <a:srgbClr val="2E75B6"/>
              </a:buClr>
              <a:buFont typeface="Arial"/>
              <a:buChar char="•"/>
            </a:pPr>
            <a:r>
              <a:rPr sz="1450" b="0" i="0">
                <a:solidFill>
                  <a:srgbClr val="262626"/>
                </a:solidFill>
                <a:latin typeface="Calibri"/>
              </a:rPr>
              <a:t>Weighted rule-based risk scoring</a:t>
            </a:r>
          </a:p>
          <a:p>
            <a:pPr marL="228600" indent="-228600">
              <a:spcAft>
                <a:spcPts val="700"/>
              </a:spcAft>
              <a:buClr>
                <a:srgbClr val="2E75B6"/>
              </a:buClr>
              <a:buFont typeface="Arial"/>
              <a:buChar char="•"/>
            </a:pPr>
            <a:r>
              <a:rPr sz="1450" b="0" i="0">
                <a:solidFill>
                  <a:srgbClr val="262626"/>
                </a:solidFill>
                <a:latin typeface="Calibri"/>
              </a:rPr>
              <a:t>Schema-constrained extraction with Pydantic (structured LLM output)</a:t>
            </a:r>
          </a:p>
          <a:p>
            <a:pPr marL="228600" indent="-228600">
              <a:spcAft>
                <a:spcPts val="700"/>
              </a:spcAft>
              <a:buClr>
                <a:srgbClr val="2E75B6"/>
              </a:buClr>
              <a:buFont typeface="Arial"/>
              <a:buChar char="•"/>
            </a:pPr>
            <a:r>
              <a:rPr sz="1450" b="0" i="0">
                <a:solidFill>
                  <a:srgbClr val="262626"/>
                </a:solidFill>
                <a:latin typeface="Calibri"/>
              </a:rPr>
              <a:t>Case-insensitive, partial matching of project names</a:t>
            </a:r>
          </a:p>
          <a:p>
            <a:pPr marL="228600" indent="-228600">
              <a:spcAft>
                <a:spcPts val="400"/>
              </a:spcAft>
              <a:buClr>
                <a:srgbClr val="2E75B6"/>
              </a:buClr>
              <a:buFont typeface="Arial"/>
              <a:buChar char="•"/>
            </a:pPr>
            <a:r>
              <a:rPr sz="1450" b="0" i="0">
                <a:solidFill>
                  <a:srgbClr val="262626"/>
                </a:solidFill>
                <a:latin typeface="Calibri"/>
              </a:rPr>
              <a:t>Conditional routing in the agent graph (no-op branch)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&amp;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75720" cy="39227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/>
                <a:gridCol w="3520440"/>
                <a:gridCol w="1417320"/>
                <a:gridCol w="580644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Requirement analysis &amp; design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Scope, revised 2–4 week plan, architecture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Environment discovery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Interpreters, venvs, Docker and Git scanned into PostgreSQL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Dependency extraction &amp; graph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Manifest parsers and graph; direct vs transitive split next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Knowledge base / RAG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PyPI ingest, local embeddings, version-filtered retrieval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Agentic impact analysis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E7D4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LangGraph agent with conditional no-op routing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What-if &amp; risk assessment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7791F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Rule engine done; interpreter and wheel checks pending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Controlled execution &amp; memory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7F8C9A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Persist analyses, recall similar changes, approval gate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Evaluation, dashboard &amp; deployment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B7791F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Streamlit dashboard done; benchmark and packaging pending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874519"/>
            <a:ext cx="1691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262626"/>
                </a:solidFill>
                <a:latin typeface="Calibri"/>
              </a:rPr>
              <a:t>User question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plain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874519"/>
            <a:ext cx="1691640" cy="100584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parse_change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8EEF5"/>
                </a:solidFill>
                <a:latin typeface="Calibri"/>
              </a:rPr>
              <a:t>LLM → ChangeRequest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1691640" cy="1005840"/>
          </a:xfrm>
          <a:prstGeom prst="roundRect">
            <a:avLst>
              <a:gd name="adj" fmla="val 6000"/>
            </a:avLst>
          </a:prstGeom>
          <a:solidFill>
            <a:srgbClr val="1B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8EEF5"/>
                </a:solidFill>
                <a:latin typeface="Calibri"/>
              </a:rPr>
              <a:t>inventory · graph · PyPI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1691640" cy="100584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assess_risk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8EEF5"/>
                </a:solidFill>
                <a:latin typeface="Calibri"/>
              </a:rPr>
              <a:t>5 signals → level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75688" y="2377440"/>
            <a:ext cx="283464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87368" y="2377440"/>
            <a:ext cx="283464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9048" y="2377440"/>
            <a:ext cx="283464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10727" y="2377440"/>
            <a:ext cx="283465" cy="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8412480" y="1874519"/>
            <a:ext cx="1188720" cy="1005840"/>
          </a:xfrm>
          <a:prstGeom prst="diamond">
            <a:avLst/>
          </a:prstGeom>
          <a:solidFill>
            <a:srgbClr val="FFF4DF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Calibri"/>
              </a:rPr>
              <a:t>no-op?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3716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write_report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8EEF5"/>
                </a:solidFill>
                <a:latin typeface="Calibri"/>
              </a:rPr>
              <a:t>facts + LLM explanation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260604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7F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noop_report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E8EEF5"/>
                </a:solidFill>
                <a:latin typeface="Calibri"/>
              </a:rPr>
              <a:t>template, no LLM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601200" y="1783080"/>
            <a:ext cx="393192" cy="59436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01200" y="2377440"/>
            <a:ext cx="393192" cy="594360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55480" y="178308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5F6B7A"/>
                </a:solidFill>
                <a:latin typeface="Calibri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743200"/>
            <a:ext cx="411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0" i="1">
                <a:solidFill>
                  <a:srgbClr val="5F6B7A"/>
                </a:solidFill>
                <a:latin typeface="Calibri"/>
              </a:rP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11475720" cy="50292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Streamlit dashboard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   risk card · impact map · evidence trail · history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44200" y="3401568"/>
            <a:ext cx="0" cy="283464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686032" y="2167128"/>
            <a:ext cx="0" cy="1517904"/>
          </a:xfrm>
          <a:prstGeom prst="line">
            <a:avLst/>
          </a:prstGeom>
          <a:ln w="19050">
            <a:solidFill>
              <a:srgbClr val="7F8C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5760" y="4416552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11887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LLM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416552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1B8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361688"/>
            <a:ext cx="11887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416552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361688"/>
            <a:ext cx="11887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416552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7F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4361688"/>
            <a:ext cx="11887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5F6B7A"/>
                </a:solidFill>
                <a:latin typeface="Calibri"/>
              </a:rPr>
              <a:t>Code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754880"/>
            <a:ext cx="11475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Example: 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“Can I remove numpy from AutoDiag_RAG?” → ChangeRequest(remove, numpy, AutoDiag_RAG) → 1 project affected → HIGH → report with a concrete next step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– Sample Runs on Real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75720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651760"/>
                <a:gridCol w="868680"/>
                <a:gridCol w="49377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Question asked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Agent understood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91440" marR="91440" marT="36576" marB="36576" anchor="ctr"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“Can I remove numpy from AutoDiag_RAG?”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remove numpy · project AutoDiag_RAG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A63D4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Scoped to one project; the other two are reported as unaffected (separate environments).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“What if I upgrade numpy to 3.0.0 in autodiag?”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upgrade to 3.0.0 · partial name resolved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A63D4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Major version jump and version not found on PyPI; advises checking the version number.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“Can I remove numpy from my_other_project?”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remove numpy · unknown project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A63D4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Falls back to all three projects and says the named project was not found.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“I want to upgrade numpy to 2.4.6”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already installed everywhere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E7D4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Calibri"/>
                        </a:rPr>
                        <a:t>Detected as a no-op; the conditional edge skips the LLM and answers almost instantly.</a:t>
                      </a:r>
                    </a:p>
                  </a:txBody>
                  <a:tcPr marL="91440" marR="91440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00600"/>
            <a:ext cx="11430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50" b="0" i="1">
                <a:solidFill>
                  <a:srgbClr val="5F6B7A"/>
                </a:solidFill>
                <a:latin typeface="Calibri"/>
              </a:rPr>
              <a:t>All phrasings tested so far were parsed correctly. This is a small manual test set; a labelled benchmark is planned for Phase 8.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Challenges &amp; How They Were Solved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Over-counted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291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A join fanned out, so every project showed all 324 packages.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1B8A99"/>
                </a:solidFill>
                <a:latin typeface="Calibri"/>
              </a:rPr>
              <a:t>Fix: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linked each environment to its project and rescanned.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4820" y="141732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7700" y="155448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RAG mixed 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1965960"/>
            <a:ext cx="3291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A question about numpy 2.4.6 retrieved text from 1.24.3.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1B8A99"/>
                </a:solidFill>
                <a:latin typeface="Calibri"/>
              </a:rPr>
              <a:t>Fix: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filter retrieval by package and 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LLM contradicted 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291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The 8B model sometimes changed facts in its reports.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1B8A99"/>
                </a:solidFill>
                <a:latin typeface="Calibri"/>
              </a:rPr>
              <a:t>Fix: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code writes facts and advice; the LLM writes only the explanation.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3756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No-op scored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3291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Upgrading to the installed version looked risky.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1B8A99"/>
                </a:solidFill>
                <a:latin typeface="Calibri"/>
              </a:rPr>
              <a:t>Fix: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no-op check across all environments plus a conditional branch.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4820" y="333756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7700" y="347472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Corporate TLS inspection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3886200"/>
            <a:ext cx="3291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The embedding model download failed certificate checks.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1B8A99"/>
                </a:solidFill>
                <a:latin typeface="Calibri"/>
              </a:rPr>
              <a:t>Fix: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pip-system-certs uses the Windows certificate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337560"/>
            <a:ext cx="3657600" cy="178308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474720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Python 3.14 too 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86200"/>
            <a:ext cx="32918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Calibri"/>
              </a:rPr>
              <a:t>Key libraries had no wheels for it yet.</a:t>
            </a:r>
          </a:p>
          <a:p>
            <a:pPr>
              <a:spcAft>
                <a:spcPts val="400"/>
              </a:spcAft>
            </a:pPr>
            <a:r>
              <a:rPr sz="1250" b="1" i="0">
                <a:solidFill>
                  <a:srgbClr val="1B8A99"/>
                </a:solidFill>
                <a:latin typeface="Calibri"/>
              </a:rPr>
              <a:t>Fix: </a:t>
            </a:r>
            <a:r>
              <a:rPr sz="1250" b="0" i="0">
                <a:solidFill>
                  <a:srgbClr val="262626"/>
                </a:solidFill>
                <a:latin typeface="Calibri"/>
              </a:rPr>
              <a:t>the project is pinned to Python 3.11.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 Steps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Personal IT Change Impact Agent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3657600" cy="3657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B8A99"/>
                </a:solidFill>
                <a:latin typeface="Calibri"/>
              </a:rPr>
              <a:t>PHASE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200400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Separate direct from transitive dependencies using Requires-Dist</a:t>
            </a:r>
          </a:p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Check Requires-Python against each venv's actual interpreter</a:t>
            </a:r>
          </a:p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Detect missing wheels for the platform and Python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820" y="1417320"/>
            <a:ext cx="3657600" cy="3657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3420" y="16002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B8A99"/>
                </a:solidFill>
                <a:latin typeface="Calibri"/>
              </a:rPr>
              <a:t>PHASE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3420" y="1874519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Memory &amp;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3420" y="2468880"/>
            <a:ext cx="3200400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Save every analysis to episodic memory</a:t>
            </a:r>
          </a:p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Recall similar past changes and their outcomes</a:t>
            </a:r>
          </a:p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Approval-gated dry run before any real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417320"/>
            <a:ext cx="3657600" cy="3657600"/>
          </a:xfrm>
          <a:prstGeom prst="roundRect">
            <a:avLst>
              <a:gd name="adj" fmla="val 4000"/>
            </a:avLst>
          </a:prstGeom>
          <a:solidFill>
            <a:srgbClr val="EEF4FA"/>
          </a:solidFill>
          <a:ln w="9525">
            <a:solidFill>
              <a:srgbClr val="C9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002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1B8A99"/>
                </a:solidFill>
                <a:latin typeface="Calibri"/>
              </a:rPr>
              <a:t>PHASE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74519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4E79"/>
                </a:solidFill>
                <a:latin typeface="Calibri"/>
              </a:rPr>
              <a:t>Evaluation &amp;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200400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Labelled benchmark of change scenarios</a:t>
            </a:r>
          </a:p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Measure risk accuracy, parse accuracy and unsupported-claim rate</a:t>
            </a:r>
          </a:p>
          <a:p>
            <a:pPr marL="228600" indent="-228600">
              <a:spcAft>
                <a:spcPts val="1000"/>
              </a:spcAft>
              <a:buClr>
                <a:srgbClr val="2E75B6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One-command setup with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Thank You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Questions &amp; Discussion</a:t>
            </a:r>
          </a:p>
          <a:p>
            <a:pPr lvl="0" algn="ctr">
              <a:defRPr/>
            </a:pPr>
            <a:r>
              <a:rPr lang="en-US" sz="2200" b="0" dirty="0">
                <a:solidFill>
                  <a:prstClr val="white"/>
                </a:solidFill>
                <a:cs typeface="Calibri" panose="020F0502020204030204" pitchFamily="34" charset="0"/>
              </a:rPr>
              <a:t>Personal IT Change Impact Agent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Sanjay Suresh Hullyal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179</Words>
  <Application>Microsoft Office PowerPoint</Application>
  <PresentationFormat>Widescreen</PresentationFormat>
  <Paragraphs>41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Sanjay Hullyal</cp:lastModifiedBy>
  <cp:revision>13</cp:revision>
  <dcterms:created xsi:type="dcterms:W3CDTF">2024-05-13T10:33:11Z</dcterms:created>
  <dcterms:modified xsi:type="dcterms:W3CDTF">2026-09-29T06:56:39Z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