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494" r:id="rId6"/>
    <p:sldId id="2147470501" r:id="rId7"/>
    <p:sldId id="2147470498" r:id="rId8"/>
    <p:sldId id="2147470497" r:id="rId9"/>
    <p:sldId id="2147470504" r:id="rId17"/>
    <p:sldId id="2147470499" r:id="rId10"/>
    <p:sldId id="2147470502" r:id="rId11"/>
    <p:sldId id="2147470503" r:id="rId12"/>
    <p:sldId id="2147470505" r:id="rId19"/>
    <p:sldId id="2147470506" r:id="rId20"/>
    <p:sldId id="2147470507" r:id="rId21"/>
    <p:sldId id="2147470508" r:id="rId22"/>
    <p:sldId id="2147470509" r:id="rId23"/>
    <p:sldId id="2147470510" r:id="rId24"/>
    <p:sldId id="2147470511" r:id="rId25"/>
    <p:sldId id="2147470512" r:id="rId26"/>
    <p:sldId id="2147470513" r:id="rId27"/>
    <p:sldId id="2147470514" r:id="rId28"/>
    <p:sldId id="2147470515" r:id="rId29"/>
    <p:sldId id="214747051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12" y="16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Relationship Id="rId18" Type="http://schemas.openxmlformats.org/officeDocument/2006/relationships/notesMaster" Target="notesMasters/notesMaster1.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review of AutoDiag-RAG: a retrieval-augmented system for vehicle fault diagnosis and warranty validation built on hybrid (semantic + keyword) retrieval.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context: diagnosis and warranty decisions need precise, traceable answers. Automotive language mixes exact codes with free-text symptoms, which is why the project combines keyword and semantic retrieval.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objectives were met. Objective 5 is what turns the system into a measured result rather than a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modules. Modules 1-5 are the running system; module 6 is how it was measured and shipped.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problem formally, then the four challenges. Each challenge maps to one design decision on the methodology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indexing runs once. Online, every question flows left to right; the rules check only runs for warranty questions, and the confidence gate defers weak-evidence answers to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algorithm has one clear job. Heavy compute is cloud-hosted so the system runs on a CPU-only laptop.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the x.xx cells from the final evaluation run. The point to make: hybrid beats both single retrievers overall, BM25 wins on exact codes, dense wins on paraphrased symptoms, and re-ranking adds a further 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Generation quality from RAGAS, the warranty and router results, and system behaviour. The rules engine and router figures from development tests are real; fill the remaining x.xx / xx values from the final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contributions, be candid about limitations, and give concrete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everyone briefly; add your guide's name if you wish.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papers and data sources behind each component.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 Id="rId17" Type="http://schemas.microsoft.com/office/2007/relationships/hdphoto" Target="../media/hdphoto1.wdp"/><Relationship Id="rId18" Type="http://schemas.openxmlformats.org/officeDocument/2006/relationships/image" Target="../media/image3.png"/><Relationship Id="rId19"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3.wdp"/><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3.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26297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AutoDiag-RAG</a:t>
            </a:r>
          </a:p>
          <a:p>
            <a:pPr lvl="0" algn="ctr">
              <a:defRPr/>
            </a:pPr>
            <a:r>
              <a:rPr lang="en-US" sz="2800" b="1" dirty="0">
                <a:solidFill>
                  <a:prstClr val="white"/>
                </a:solidFill>
                <a:cs typeface="Calibri" panose="020F0502020204030204" pitchFamily="34" charset="0"/>
              </a:rPr>
              <a:t>Hybrid Retrieval for Automotive Fault Diagnosis &amp; Warranty Validation</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Sanjay Suresh Hullyal</a:t>
            </a:r>
          </a:p>
          <a:p>
            <a:pPr algn="ctr">
              <a:defRPr/>
            </a:pPr>
            <a:r>
              <a:rPr lang="en-US" sz="2400" b="1" dirty="0">
                <a:solidFill>
                  <a:prstClr val="white"/>
                </a:solidFill>
                <a:cs typeface="Calibri" panose="020F0502020204030204" pitchFamily="34" charset="0"/>
              </a:rPr>
              <a:t>Individual Project – 1</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6903720" cy="4206240"/>
          </a:xfrm>
          <a:prstGeom prst="rect">
            <a:avLst/>
          </a:prstGeom>
          <a:noFill/>
        </p:spPr>
        <p:txBody>
          <a:bodyPr wrap="square" anchor="t" lIns="45720" rIns="45720">
            <a:spAutoFit/>
          </a:bodyPr>
          <a:lstStyle/>
          <a:p>
            <a:pPr algn="l">
              <a:spcBef>
                <a:spcPts val="0"/>
              </a:spcBef>
              <a:spcAft>
                <a:spcPts val="400"/>
              </a:spcAft>
            </a:pPr>
            <a:r>
              <a:rPr sz="1800" b="1" i="0">
                <a:solidFill>
                  <a:srgbClr val="5583D1"/>
                </a:solidFill>
                <a:latin typeface="Calibri"/>
              </a:rPr>
              <a:t>Context</a:t>
            </a:r>
          </a:p>
          <a:p>
            <a:pPr algn="l" marL="201168" indent="-201168">
              <a:spcBef>
                <a:spcPts val="0"/>
              </a:spcBef>
              <a:spcAft>
                <a:spcPts val="400"/>
              </a:spcAft>
              <a:buClr>
                <a:srgbClr val="5583D1"/>
              </a:buClr>
              <a:buFont typeface="Arial"/>
              <a:buChar char="•"/>
            </a:pPr>
            <a:r>
              <a:rPr sz="1500" b="0" i="0">
                <a:solidFill>
                  <a:srgbClr val="242424"/>
                </a:solidFill>
                <a:latin typeface="Calibri"/>
              </a:rPr>
              <a:t>Service advisors and technicians work from </a:t>
            </a:r>
            <a:r>
              <a:rPr sz="1500" b="1" i="0">
                <a:solidFill>
                  <a:srgbClr val="1F4E79"/>
                </a:solidFill>
                <a:latin typeface="Calibri"/>
              </a:rPr>
              <a:t>DTC codes</a:t>
            </a:r>
            <a:r>
              <a:rPr sz="1500" b="0" i="0">
                <a:solidFill>
                  <a:srgbClr val="242424"/>
                </a:solidFill>
                <a:latin typeface="Calibri"/>
              </a:rPr>
              <a:t> (e.g. P0301), owners' symptom descriptions and manufacturer documents spread across many sources.</a:t>
            </a:r>
          </a:p>
          <a:p>
            <a:pPr algn="l" marL="201168" indent="-201168">
              <a:spcBef>
                <a:spcPts val="0"/>
              </a:spcBef>
              <a:spcAft>
                <a:spcPts val="400"/>
              </a:spcAft>
              <a:buClr>
                <a:srgbClr val="5583D1"/>
              </a:buClr>
              <a:buFont typeface="Arial"/>
              <a:buChar char="•"/>
            </a:pPr>
            <a:r>
              <a:rPr sz="1500" b="0" i="0">
                <a:solidFill>
                  <a:srgbClr val="242424"/>
                </a:solidFill>
                <a:latin typeface="Calibri"/>
              </a:rPr>
              <a:t>Warranty claims hinge on exact </a:t>
            </a:r>
            <a:r>
              <a:rPr sz="1500" b="1" i="0">
                <a:solidFill>
                  <a:srgbClr val="1F4E79"/>
                </a:solidFill>
                <a:latin typeface="Calibri"/>
              </a:rPr>
              <a:t>year and mileage limits</a:t>
            </a:r>
            <a:r>
              <a:rPr sz="1500" b="0" i="0">
                <a:solidFill>
                  <a:srgbClr val="242424"/>
                </a:solidFill>
                <a:latin typeface="Calibri"/>
              </a:rPr>
              <a:t> buried in 100+ page booklets.</a:t>
            </a:r>
          </a:p>
          <a:p>
            <a:pPr algn="l" marL="201168" indent="-201168">
              <a:spcBef>
                <a:spcPts val="0"/>
              </a:spcBef>
              <a:spcAft>
                <a:spcPts val="1200"/>
              </a:spcAft>
              <a:buClr>
                <a:srgbClr val="5583D1"/>
              </a:buClr>
              <a:buFont typeface="Arial"/>
              <a:buChar char="•"/>
            </a:pPr>
            <a:r>
              <a:rPr sz="1500" b="0" i="0">
                <a:solidFill>
                  <a:srgbClr val="242424"/>
                </a:solidFill>
                <a:latin typeface="Calibri"/>
              </a:rPr>
              <a:t>General-purpose LLM chatbots </a:t>
            </a:r>
            <a:r>
              <a:rPr sz="1500" b="1" i="0">
                <a:solidFill>
                  <a:srgbClr val="1F4E79"/>
                </a:solidFill>
                <a:latin typeface="Calibri"/>
              </a:rPr>
              <a:t>hallucinate</a:t>
            </a:r>
            <a:r>
              <a:rPr sz="1500" b="0" i="0">
                <a:solidFill>
                  <a:srgbClr val="242424"/>
                </a:solidFill>
                <a:latin typeface="Calibri"/>
              </a:rPr>
              <a:t> codes and coverage terms — unacceptable when money and safety are involved.</a:t>
            </a:r>
          </a:p>
          <a:p>
            <a:pPr algn="l">
              <a:spcBef>
                <a:spcPts val="0"/>
              </a:spcBef>
              <a:spcAft>
                <a:spcPts val="400"/>
              </a:spcAft>
            </a:pPr>
            <a:r>
              <a:rPr sz="1800" b="1" i="0">
                <a:solidFill>
                  <a:srgbClr val="5583D1"/>
                </a:solidFill>
                <a:latin typeface="Calibri"/>
              </a:rPr>
              <a:t>What AutoDiag-RAG does</a:t>
            </a:r>
          </a:p>
          <a:p>
            <a:pPr algn="l" marL="201168" indent="-201168">
              <a:spcBef>
                <a:spcPts val="0"/>
              </a:spcBef>
              <a:spcAft>
                <a:spcPts val="400"/>
              </a:spcAft>
              <a:buClr>
                <a:srgbClr val="5583D1"/>
              </a:buClr>
              <a:buFont typeface="Arial"/>
              <a:buChar char="•"/>
            </a:pPr>
            <a:r>
              <a:rPr sz="1500" b="0" i="0">
                <a:solidFill>
                  <a:srgbClr val="242424"/>
                </a:solidFill>
                <a:latin typeface="Calibri"/>
              </a:rPr>
              <a:t>Answers diagnosis and warranty questions — typed or spoken — with </a:t>
            </a:r>
            <a:r>
              <a:rPr sz="1500" b="1" i="0">
                <a:solidFill>
                  <a:srgbClr val="1F4E79"/>
                </a:solidFill>
                <a:latin typeface="Calibri"/>
              </a:rPr>
              <a:t>cited evidence</a:t>
            </a:r>
            <a:r>
              <a:rPr sz="1500" b="0" i="0">
                <a:solidFill>
                  <a:srgbClr val="242424"/>
                </a:solidFill>
                <a:latin typeface="Calibri"/>
              </a:rPr>
              <a:t> from a 59,504-chunk knowledge base.</a:t>
            </a:r>
          </a:p>
          <a:p>
            <a:pPr algn="l" marL="201168" indent="-201168">
              <a:spcBef>
                <a:spcPts val="0"/>
              </a:spcBef>
              <a:spcAft>
                <a:spcPts val="400"/>
              </a:spcAft>
              <a:buClr>
                <a:srgbClr val="5583D1"/>
              </a:buClr>
              <a:buFont typeface="Arial"/>
              <a:buChar char="•"/>
            </a:pPr>
            <a:r>
              <a:rPr sz="1500" b="0" i="0">
                <a:solidFill>
                  <a:srgbClr val="242424"/>
                </a:solidFill>
                <a:latin typeface="Calibri"/>
              </a:rPr>
              <a:t>Combines </a:t>
            </a:r>
            <a:r>
              <a:rPr sz="1500" b="1" i="0">
                <a:solidFill>
                  <a:srgbClr val="1F4E79"/>
                </a:solidFill>
                <a:latin typeface="Calibri"/>
              </a:rPr>
              <a:t>semantic and keyword retrieval</a:t>
            </a:r>
            <a:r>
              <a:rPr sz="1500" b="0" i="0">
                <a:solidFill>
                  <a:srgbClr val="242424"/>
                </a:solidFill>
                <a:latin typeface="Calibri"/>
              </a:rPr>
              <a:t>, and decides coverage with a </a:t>
            </a:r>
            <a:r>
              <a:rPr sz="1500" b="1" i="0">
                <a:solidFill>
                  <a:srgbClr val="1F4E79"/>
                </a:solidFill>
                <a:latin typeface="Calibri"/>
              </a:rPr>
              <a:t>deterministic rules check</a:t>
            </a:r>
            <a:r>
              <a:rPr sz="1500" b="0" i="0">
                <a:solidFill>
                  <a:srgbClr val="242424"/>
                </a:solidFill>
                <a:latin typeface="Calibri"/>
              </a:rPr>
              <a:t> instead of the LLM.</a:t>
            </a:r>
          </a:p>
        </p:txBody>
      </p:sp>
      <p:sp>
        <p:nvSpPr>
          <p:cNvPr id="7" name="Rounded Rectangle 6"/>
          <p:cNvSpPr/>
          <p:nvPr/>
        </p:nvSpPr>
        <p:spPr>
          <a:xfrm>
            <a:off x="7635240" y="1417320"/>
            <a:ext cx="4160520" cy="118872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18120" y="1527048"/>
            <a:ext cx="3840480" cy="566928"/>
          </a:xfrm>
          <a:prstGeom prst="rect">
            <a:avLst/>
          </a:prstGeom>
          <a:noFill/>
        </p:spPr>
        <p:txBody>
          <a:bodyPr wrap="square" anchor="t" lIns="0" rIns="0" tIns="0" bIns="0">
            <a:spAutoFit/>
          </a:bodyPr>
          <a:lstStyle/>
          <a:p>
            <a:pPr algn="l">
              <a:spcBef>
                <a:spcPts val="0"/>
              </a:spcBef>
              <a:spcAft>
                <a:spcPts val="400"/>
              </a:spcAft>
            </a:pPr>
            <a:r>
              <a:rPr sz="3400" b="1" i="0">
                <a:solidFill>
                  <a:srgbClr val="1F4E79"/>
                </a:solidFill>
                <a:latin typeface="Calibri"/>
              </a:rPr>
              <a:t>59,504</a:t>
            </a:r>
          </a:p>
        </p:txBody>
      </p:sp>
      <p:sp>
        <p:nvSpPr>
          <p:cNvPr id="9" name="TextBox 8"/>
          <p:cNvSpPr txBox="1"/>
          <p:nvPr/>
        </p:nvSpPr>
        <p:spPr>
          <a:xfrm>
            <a:off x="7818120" y="2093976"/>
            <a:ext cx="3840480" cy="457200"/>
          </a:xfrm>
          <a:prstGeom prst="rect">
            <a:avLst/>
          </a:prstGeom>
          <a:noFill/>
        </p:spPr>
        <p:txBody>
          <a:bodyPr wrap="square" anchor="t" lIns="0" rIns="0" tIns="0" bIns="0">
            <a:spAutoFit/>
          </a:bodyPr>
          <a:lstStyle/>
          <a:p>
            <a:pPr algn="l">
              <a:spcBef>
                <a:spcPts val="0"/>
              </a:spcBef>
              <a:spcAft>
                <a:spcPts val="400"/>
              </a:spcAft>
            </a:pPr>
            <a:r>
              <a:rPr sz="1300" b="0" i="0">
                <a:solidFill>
                  <a:srgbClr val="5F6B7A"/>
                </a:solidFill>
                <a:latin typeface="Calibri"/>
              </a:rPr>
              <a:t>indexed knowledge chunks</a:t>
            </a:r>
          </a:p>
        </p:txBody>
      </p:sp>
      <p:sp>
        <p:nvSpPr>
          <p:cNvPr id="10" name="Rounded Rectangle 9"/>
          <p:cNvSpPr/>
          <p:nvPr/>
        </p:nvSpPr>
        <p:spPr>
          <a:xfrm>
            <a:off x="7635240" y="2788920"/>
            <a:ext cx="4160520" cy="1188720"/>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18120" y="2898648"/>
            <a:ext cx="3840480" cy="566928"/>
          </a:xfrm>
          <a:prstGeom prst="rect">
            <a:avLst/>
          </a:prstGeom>
          <a:noFill/>
        </p:spPr>
        <p:txBody>
          <a:bodyPr wrap="square" anchor="t" lIns="0" rIns="0" tIns="0" bIns="0">
            <a:spAutoFit/>
          </a:bodyPr>
          <a:lstStyle/>
          <a:p>
            <a:pPr algn="l">
              <a:spcBef>
                <a:spcPts val="0"/>
              </a:spcBef>
              <a:spcAft>
                <a:spcPts val="400"/>
              </a:spcAft>
            </a:pPr>
            <a:r>
              <a:rPr sz="3400" b="1" i="0">
                <a:solidFill>
                  <a:srgbClr val="1F4E79"/>
                </a:solidFill>
                <a:latin typeface="Calibri"/>
              </a:rPr>
              <a:t>3</a:t>
            </a:r>
          </a:p>
        </p:txBody>
      </p:sp>
      <p:sp>
        <p:nvSpPr>
          <p:cNvPr id="12" name="TextBox 11"/>
          <p:cNvSpPr txBox="1"/>
          <p:nvPr/>
        </p:nvSpPr>
        <p:spPr>
          <a:xfrm>
            <a:off x="7818120" y="3465576"/>
            <a:ext cx="3840480" cy="457200"/>
          </a:xfrm>
          <a:prstGeom prst="rect">
            <a:avLst/>
          </a:prstGeom>
          <a:noFill/>
        </p:spPr>
        <p:txBody>
          <a:bodyPr wrap="square" anchor="t" lIns="0" rIns="0" tIns="0" bIns="0">
            <a:spAutoFit/>
          </a:bodyPr>
          <a:lstStyle/>
          <a:p>
            <a:pPr algn="l">
              <a:spcBef>
                <a:spcPts val="0"/>
              </a:spcBef>
              <a:spcAft>
                <a:spcPts val="400"/>
              </a:spcAft>
            </a:pPr>
            <a:r>
              <a:rPr sz="1300" b="0" i="0">
                <a:solidFill>
                  <a:srgbClr val="5F6B7A"/>
                </a:solidFill>
                <a:latin typeface="Calibri"/>
              </a:rPr>
              <a:t>source types: DTC library, NHTSA complaints, warranty booklets</a:t>
            </a:r>
          </a:p>
        </p:txBody>
      </p:sp>
      <p:sp>
        <p:nvSpPr>
          <p:cNvPr id="13" name="Rounded Rectangle 12"/>
          <p:cNvSpPr/>
          <p:nvPr/>
        </p:nvSpPr>
        <p:spPr>
          <a:xfrm>
            <a:off x="7635240" y="4160520"/>
            <a:ext cx="4160520" cy="118872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18120" y="4270248"/>
            <a:ext cx="3840480" cy="566928"/>
          </a:xfrm>
          <a:prstGeom prst="rect">
            <a:avLst/>
          </a:prstGeom>
          <a:noFill/>
        </p:spPr>
        <p:txBody>
          <a:bodyPr wrap="square" anchor="t" lIns="0" rIns="0" tIns="0" bIns="0">
            <a:spAutoFit/>
          </a:bodyPr>
          <a:lstStyle/>
          <a:p>
            <a:pPr algn="l">
              <a:spcBef>
                <a:spcPts val="0"/>
              </a:spcBef>
              <a:spcAft>
                <a:spcPts val="400"/>
              </a:spcAft>
            </a:pPr>
            <a:r>
              <a:rPr sz="3400" b="1" i="0">
                <a:solidFill>
                  <a:srgbClr val="1F4E79"/>
                </a:solidFill>
                <a:latin typeface="Calibri"/>
              </a:rPr>
              <a:t>6</a:t>
            </a:r>
          </a:p>
        </p:txBody>
      </p:sp>
      <p:sp>
        <p:nvSpPr>
          <p:cNvPr id="15" name="TextBox 14"/>
          <p:cNvSpPr txBox="1"/>
          <p:nvPr/>
        </p:nvSpPr>
        <p:spPr>
          <a:xfrm>
            <a:off x="7818120" y="4837176"/>
            <a:ext cx="3840480" cy="457200"/>
          </a:xfrm>
          <a:prstGeom prst="rect">
            <a:avLst/>
          </a:prstGeom>
          <a:noFill/>
        </p:spPr>
        <p:txBody>
          <a:bodyPr wrap="square" anchor="t" lIns="0" rIns="0" tIns="0" bIns="0">
            <a:spAutoFit/>
          </a:bodyPr>
          <a:lstStyle/>
          <a:p>
            <a:pPr algn="l">
              <a:spcBef>
                <a:spcPts val="0"/>
              </a:spcBef>
              <a:spcAft>
                <a:spcPts val="400"/>
              </a:spcAft>
            </a:pPr>
            <a:r>
              <a:rPr sz="1300" b="0" i="0">
                <a:solidFill>
                  <a:srgbClr val="5F6B7A"/>
                </a:solidFill>
                <a:latin typeface="Calibri"/>
              </a:rPr>
              <a:t>manufacturers' 2026 warranty booklets</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Oval 5"/>
          <p:cNvSpPr/>
          <p:nvPr/>
        </p:nvSpPr>
        <p:spPr>
          <a:xfrm>
            <a:off x="411480" y="144475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7" name="TextBox 6"/>
          <p:cNvSpPr txBox="1"/>
          <p:nvPr/>
        </p:nvSpPr>
        <p:spPr>
          <a:xfrm>
            <a:off x="1051560" y="1371600"/>
            <a:ext cx="10607040" cy="777240"/>
          </a:xfrm>
          <a:prstGeom prst="rect">
            <a:avLst/>
          </a:prstGeom>
          <a:noFill/>
        </p:spPr>
        <p:txBody>
          <a:bodyPr wrap="square" anchor="t" lIns="18288" rIns="18288" tIns="18288" bIns="18288">
            <a:spAutoFit/>
          </a:bodyPr>
          <a:lstStyle/>
          <a:p>
            <a:pPr algn="l">
              <a:spcBef>
                <a:spcPts val="0"/>
              </a:spcBef>
              <a:spcAft>
                <a:spcPts val="100"/>
              </a:spcAft>
            </a:pPr>
            <a:r>
              <a:rPr sz="1700" b="1" i="0">
                <a:solidFill>
                  <a:srgbClr val="1F4E79"/>
                </a:solidFill>
                <a:latin typeface="Calibri"/>
              </a:rPr>
              <a:t>Unified knowledge corpus</a:t>
            </a:r>
          </a:p>
          <a:p>
            <a:pPr algn="l">
              <a:spcBef>
                <a:spcPts val="0"/>
              </a:spcBef>
              <a:spcAft>
                <a:spcPts val="0"/>
              </a:spcAft>
            </a:pPr>
            <a:r>
              <a:rPr sz="1400" b="0" i="0">
                <a:solidFill>
                  <a:srgbClr val="242424"/>
                </a:solidFill>
                <a:latin typeface="Calibri"/>
              </a:rPr>
              <a:t>DTC codes, NHTSA owner complaints and six manufacturers' warranty booklets, cleaned into traceable chunks.</a:t>
            </a:r>
          </a:p>
        </p:txBody>
      </p:sp>
      <p:sp>
        <p:nvSpPr>
          <p:cNvPr id="8" name="Oval 7"/>
          <p:cNvSpPr/>
          <p:nvPr/>
        </p:nvSpPr>
        <p:spPr>
          <a:xfrm>
            <a:off x="411480" y="226771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9" name="TextBox 8"/>
          <p:cNvSpPr txBox="1"/>
          <p:nvPr/>
        </p:nvSpPr>
        <p:spPr>
          <a:xfrm>
            <a:off x="1051560" y="2194560"/>
            <a:ext cx="10607040" cy="777240"/>
          </a:xfrm>
          <a:prstGeom prst="rect">
            <a:avLst/>
          </a:prstGeom>
          <a:noFill/>
        </p:spPr>
        <p:txBody>
          <a:bodyPr wrap="square" anchor="t" lIns="18288" rIns="18288" tIns="18288" bIns="18288">
            <a:spAutoFit/>
          </a:bodyPr>
          <a:lstStyle/>
          <a:p>
            <a:pPr algn="l">
              <a:spcBef>
                <a:spcPts val="0"/>
              </a:spcBef>
              <a:spcAft>
                <a:spcPts val="100"/>
              </a:spcAft>
            </a:pPr>
            <a:r>
              <a:rPr sz="1700" b="1" i="0">
                <a:solidFill>
                  <a:srgbClr val="1F4E79"/>
                </a:solidFill>
                <a:latin typeface="Calibri"/>
              </a:rPr>
              <a:t>Hybrid retrieval that beats either method alone</a:t>
            </a:r>
          </a:p>
          <a:p>
            <a:pPr algn="l">
              <a:spcBef>
                <a:spcPts val="0"/>
              </a:spcBef>
              <a:spcAft>
                <a:spcPts val="0"/>
              </a:spcAft>
            </a:pPr>
            <a:r>
              <a:rPr sz="1400" b="0" i="0">
                <a:solidFill>
                  <a:srgbClr val="242424"/>
                </a:solidFill>
                <a:latin typeface="Calibri"/>
              </a:rPr>
              <a:t>BGE-M3 dense vectors + BM25, fused with Reciprocal Rank Fusion and re-ranked by a cross-encoder.</a:t>
            </a:r>
          </a:p>
        </p:txBody>
      </p:sp>
      <p:sp>
        <p:nvSpPr>
          <p:cNvPr id="10" name="Oval 9"/>
          <p:cNvSpPr/>
          <p:nvPr/>
        </p:nvSpPr>
        <p:spPr>
          <a:xfrm>
            <a:off x="411480" y="309067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1" name="TextBox 10"/>
          <p:cNvSpPr txBox="1"/>
          <p:nvPr/>
        </p:nvSpPr>
        <p:spPr>
          <a:xfrm>
            <a:off x="1051560" y="3017520"/>
            <a:ext cx="10607040" cy="777240"/>
          </a:xfrm>
          <a:prstGeom prst="rect">
            <a:avLst/>
          </a:prstGeom>
          <a:noFill/>
        </p:spPr>
        <p:txBody>
          <a:bodyPr wrap="square" anchor="t" lIns="18288" rIns="18288" tIns="18288" bIns="18288">
            <a:spAutoFit/>
          </a:bodyPr>
          <a:lstStyle/>
          <a:p>
            <a:pPr algn="l">
              <a:spcBef>
                <a:spcPts val="0"/>
              </a:spcBef>
              <a:spcAft>
                <a:spcPts val="100"/>
              </a:spcAft>
            </a:pPr>
            <a:r>
              <a:rPr sz="1700" b="1" i="0">
                <a:solidFill>
                  <a:srgbClr val="1F4E79"/>
                </a:solidFill>
                <a:latin typeface="Calibri"/>
              </a:rPr>
              <a:t>Trustworthy warranty validation</a:t>
            </a:r>
          </a:p>
          <a:p>
            <a:pPr algn="l">
              <a:spcBef>
                <a:spcPts val="0"/>
              </a:spcBef>
              <a:spcAft>
                <a:spcPts val="0"/>
              </a:spcAft>
            </a:pPr>
            <a:r>
              <a:rPr sz="1400" b="0" i="0">
                <a:solidFill>
                  <a:srgbClr val="242424"/>
                </a:solidFill>
                <a:latin typeface="Calibri"/>
              </a:rPr>
              <a:t>Query routing plus a deterministic rules engine; the LLM only explains the verdict.</a:t>
            </a:r>
          </a:p>
        </p:txBody>
      </p:sp>
      <p:sp>
        <p:nvSpPr>
          <p:cNvPr id="12" name="Oval 11"/>
          <p:cNvSpPr/>
          <p:nvPr/>
        </p:nvSpPr>
        <p:spPr>
          <a:xfrm>
            <a:off x="411480" y="391363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3" name="TextBox 12"/>
          <p:cNvSpPr txBox="1"/>
          <p:nvPr/>
        </p:nvSpPr>
        <p:spPr>
          <a:xfrm>
            <a:off x="1051560" y="3840480"/>
            <a:ext cx="10607040" cy="777240"/>
          </a:xfrm>
          <a:prstGeom prst="rect">
            <a:avLst/>
          </a:prstGeom>
          <a:noFill/>
        </p:spPr>
        <p:txBody>
          <a:bodyPr wrap="square" anchor="t" lIns="18288" rIns="18288" tIns="18288" bIns="18288">
            <a:spAutoFit/>
          </a:bodyPr>
          <a:lstStyle/>
          <a:p>
            <a:pPr algn="l">
              <a:spcBef>
                <a:spcPts val="0"/>
              </a:spcBef>
              <a:spcAft>
                <a:spcPts val="100"/>
              </a:spcAft>
            </a:pPr>
            <a:r>
              <a:rPr sz="1700" b="1" i="0">
                <a:solidFill>
                  <a:srgbClr val="1F4E79"/>
                </a:solidFill>
                <a:latin typeface="Calibri"/>
              </a:rPr>
              <a:t>Grounded answers in a usable product</a:t>
            </a:r>
          </a:p>
          <a:p>
            <a:pPr algn="l">
              <a:spcBef>
                <a:spcPts val="0"/>
              </a:spcBef>
              <a:spcAft>
                <a:spcPts val="0"/>
              </a:spcAft>
            </a:pPr>
            <a:r>
              <a:rPr sz="1400" b="0" i="0">
                <a:solidFill>
                  <a:srgbClr val="242424"/>
                </a:solidFill>
                <a:latin typeface="Calibri"/>
              </a:rPr>
              <a:t>Cited answers with LLM failover, confidence-gating, FastAPI + Streamlit UI with voice, deployed to the cloud.</a:t>
            </a:r>
          </a:p>
        </p:txBody>
      </p:sp>
      <p:sp>
        <p:nvSpPr>
          <p:cNvPr id="14" name="Oval 13"/>
          <p:cNvSpPr/>
          <p:nvPr/>
        </p:nvSpPr>
        <p:spPr>
          <a:xfrm>
            <a:off x="411480" y="4736592"/>
            <a:ext cx="475488" cy="475488"/>
          </a:xfrm>
          <a:prstGeom prst="ellipse">
            <a:avLst/>
          </a:prstGeom>
          <a:solidFill>
            <a:srgbClr val="0C8A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5" name="TextBox 14"/>
          <p:cNvSpPr txBox="1"/>
          <p:nvPr/>
        </p:nvSpPr>
        <p:spPr>
          <a:xfrm>
            <a:off x="1051560" y="4663440"/>
            <a:ext cx="10607040" cy="777240"/>
          </a:xfrm>
          <a:prstGeom prst="rect">
            <a:avLst/>
          </a:prstGeom>
          <a:noFill/>
        </p:spPr>
        <p:txBody>
          <a:bodyPr wrap="square" anchor="t" lIns="18288" rIns="18288" tIns="18288" bIns="18288">
            <a:spAutoFit/>
          </a:bodyPr>
          <a:lstStyle/>
          <a:p>
            <a:pPr algn="l">
              <a:spcBef>
                <a:spcPts val="0"/>
              </a:spcBef>
              <a:spcAft>
                <a:spcPts val="100"/>
              </a:spcAft>
            </a:pPr>
            <a:r>
              <a:rPr sz="1700" b="1" i="0">
                <a:solidFill>
                  <a:srgbClr val="1F4E79"/>
                </a:solidFill>
                <a:latin typeface="Calibri"/>
              </a:rPr>
              <a:t>Measured quality</a:t>
            </a:r>
          </a:p>
          <a:p>
            <a:pPr algn="l">
              <a:spcBef>
                <a:spcPts val="0"/>
              </a:spcBef>
              <a:spcAft>
                <a:spcPts val="0"/>
              </a:spcAft>
            </a:pPr>
            <a:r>
              <a:rPr sz="1400" b="0" i="0">
                <a:solidFill>
                  <a:srgbClr val="242424"/>
                </a:solidFill>
                <a:latin typeface="Calibri"/>
              </a:rPr>
              <a:t>Gold Q&amp;A set, retrieval ablation (Recall@5, MRR, nDCG@5) and RAGAS generation metrics.</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2834640" y="57036"/>
            <a:ext cx="9189720" cy="646331"/>
          </a:xfrm>
          <a:prstGeom prst="rect">
            <a:avLst/>
          </a:prstGeom>
          <a:noFill/>
        </p:spPr>
        <p:txBody>
          <a:bodyPr wrap="square" rtlCol="0">
            <a:spAutoFit/>
          </a:bodyPr>
          <a:lstStyle/>
          <a:p>
            <a:pPr algn="r"/>
            <a:r>
              <a:rPr lang="en-US" b="1" i="1" dirty="0">
                <a:solidFill>
                  <a:srgbClr val="FFFFFF"/>
                </a:solidFill>
              </a:rPr>
              <a:t>AutoDiag-RAG: Hybrid Retrieval for Fault Diagnosis &amp; Warranty Validation</a:t>
            </a:r>
          </a:p>
          <a:p>
            <a:pPr algn="r"/>
            <a:endParaRPr lang="en-US" dirty="0"/>
          </a:p>
        </p:txBody>
      </p:sp>
      <p:sp>
        <p:nvSpPr>
          <p:cNvPr id="7" name="Rounded Rectangle 6"/>
          <p:cNvSpPr/>
          <p:nvPr/>
        </p:nvSpPr>
        <p:spPr>
          <a:xfrm>
            <a:off x="320040" y="137160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84632" y="153619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9" name="TextBox 8"/>
          <p:cNvSpPr txBox="1"/>
          <p:nvPr/>
        </p:nvSpPr>
        <p:spPr>
          <a:xfrm>
            <a:off x="1005840" y="1536192"/>
            <a:ext cx="2834640" cy="457200"/>
          </a:xfrm>
          <a:prstGeom prst="rect">
            <a:avLst/>
          </a:prstGeom>
          <a:noFill/>
        </p:spPr>
        <p:txBody>
          <a:bodyPr wrap="square" anchor="ctr" lIns="0" rIns="0" tIns="0" bIns="0">
            <a:spAutoFit/>
          </a:bodyPr>
          <a:lstStyle/>
          <a:p>
            <a:pPr algn="l">
              <a:spcBef>
                <a:spcPts val="0"/>
              </a:spcBef>
              <a:spcAft>
                <a:spcPts val="400"/>
              </a:spcAft>
            </a:pPr>
            <a:r>
              <a:rPr sz="1600" b="1" i="0">
                <a:solidFill>
                  <a:srgbClr val="1F4E79"/>
                </a:solidFill>
                <a:latin typeface="Calibri"/>
              </a:rPr>
              <a:t>Data ingestion &amp; chunking</a:t>
            </a:r>
          </a:p>
        </p:txBody>
      </p:sp>
      <p:sp>
        <p:nvSpPr>
          <p:cNvPr id="10" name="TextBox 9"/>
          <p:cNvSpPr txBox="1"/>
          <p:nvPr/>
        </p:nvSpPr>
        <p:spPr>
          <a:xfrm>
            <a:off x="502920" y="2103120"/>
            <a:ext cx="3291840" cy="1051560"/>
          </a:xfrm>
          <a:prstGeom prst="rect">
            <a:avLst/>
          </a:prstGeom>
          <a:noFill/>
        </p:spPr>
        <p:txBody>
          <a:bodyPr wrap="square" anchor="t" lIns="0" rIns="0" tIns="0" bIns="0">
            <a:spAutoFit/>
          </a:bodyPr>
          <a:lstStyle/>
          <a:p>
            <a:pPr algn="l">
              <a:spcBef>
                <a:spcPts val="0"/>
              </a:spcBef>
              <a:spcAft>
                <a:spcPts val="400"/>
              </a:spcAft>
            </a:pPr>
            <a:r>
              <a:rPr sz="1500" b="0" i="0">
                <a:solidFill>
                  <a:srgbClr val="242424"/>
                </a:solidFill>
                <a:latin typeface="Calibri"/>
              </a:rPr>
              <a:t>DTC YAML, NHTSA API (52,419 → 49,090 after cleaning), warranty PDFs → 59,504 chunks with metadata</a:t>
            </a:r>
          </a:p>
        </p:txBody>
      </p:sp>
      <p:sp>
        <p:nvSpPr>
          <p:cNvPr id="11" name="Rounded Rectangle 10"/>
          <p:cNvSpPr/>
          <p:nvPr/>
        </p:nvSpPr>
        <p:spPr>
          <a:xfrm>
            <a:off x="4229100" y="137160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393692" y="153619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3" name="TextBox 12"/>
          <p:cNvSpPr txBox="1"/>
          <p:nvPr/>
        </p:nvSpPr>
        <p:spPr>
          <a:xfrm>
            <a:off x="4914900" y="1536192"/>
            <a:ext cx="2834640" cy="457200"/>
          </a:xfrm>
          <a:prstGeom prst="rect">
            <a:avLst/>
          </a:prstGeom>
          <a:noFill/>
        </p:spPr>
        <p:txBody>
          <a:bodyPr wrap="square" anchor="ctr" lIns="0" rIns="0" tIns="0" bIns="0">
            <a:spAutoFit/>
          </a:bodyPr>
          <a:lstStyle/>
          <a:p>
            <a:pPr algn="l">
              <a:spcBef>
                <a:spcPts val="0"/>
              </a:spcBef>
              <a:spcAft>
                <a:spcPts val="400"/>
              </a:spcAft>
            </a:pPr>
            <a:r>
              <a:rPr sz="1600" b="1" i="0">
                <a:solidFill>
                  <a:srgbClr val="1F4E79"/>
                </a:solidFill>
                <a:latin typeface="Calibri"/>
              </a:rPr>
              <a:t>Hybrid retrieval &amp; re-ranking</a:t>
            </a:r>
          </a:p>
        </p:txBody>
      </p:sp>
      <p:sp>
        <p:nvSpPr>
          <p:cNvPr id="14" name="TextBox 13"/>
          <p:cNvSpPr txBox="1"/>
          <p:nvPr/>
        </p:nvSpPr>
        <p:spPr>
          <a:xfrm>
            <a:off x="4411980" y="2103120"/>
            <a:ext cx="3291840" cy="1051560"/>
          </a:xfrm>
          <a:prstGeom prst="rect">
            <a:avLst/>
          </a:prstGeom>
          <a:noFill/>
        </p:spPr>
        <p:txBody>
          <a:bodyPr wrap="square" anchor="t" lIns="0" rIns="0" tIns="0" bIns="0">
            <a:spAutoFit/>
          </a:bodyPr>
          <a:lstStyle/>
          <a:p>
            <a:pPr algn="l">
              <a:spcBef>
                <a:spcPts val="0"/>
              </a:spcBef>
              <a:spcAft>
                <a:spcPts val="400"/>
              </a:spcAft>
            </a:pPr>
            <a:r>
              <a:rPr sz="1500" b="0" i="0">
                <a:solidFill>
                  <a:srgbClr val="242424"/>
                </a:solidFill>
                <a:latin typeface="Calibri"/>
              </a:rPr>
              <a:t>BGE-M3 dense (Qdrant) + BM25 keyword → RRF (k = 60) → cross-encoder re-rank → top-5</a:t>
            </a:r>
          </a:p>
        </p:txBody>
      </p:sp>
      <p:sp>
        <p:nvSpPr>
          <p:cNvPr id="15" name="Rounded Rectangle 14"/>
          <p:cNvSpPr/>
          <p:nvPr/>
        </p:nvSpPr>
        <p:spPr>
          <a:xfrm>
            <a:off x="8138160" y="137160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302752" y="153619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7" name="TextBox 16"/>
          <p:cNvSpPr txBox="1"/>
          <p:nvPr/>
        </p:nvSpPr>
        <p:spPr>
          <a:xfrm>
            <a:off x="8823960" y="1536192"/>
            <a:ext cx="2834640" cy="457200"/>
          </a:xfrm>
          <a:prstGeom prst="rect">
            <a:avLst/>
          </a:prstGeom>
          <a:noFill/>
        </p:spPr>
        <p:txBody>
          <a:bodyPr wrap="square" anchor="ctr" lIns="0" rIns="0" tIns="0" bIns="0">
            <a:spAutoFit/>
          </a:bodyPr>
          <a:lstStyle/>
          <a:p>
            <a:pPr algn="l">
              <a:spcBef>
                <a:spcPts val="0"/>
              </a:spcBef>
              <a:spcAft>
                <a:spcPts val="400"/>
              </a:spcAft>
            </a:pPr>
            <a:r>
              <a:rPr sz="1600" b="1" i="0">
                <a:solidFill>
                  <a:srgbClr val="1F4E79"/>
                </a:solidFill>
                <a:latin typeface="Calibri"/>
              </a:rPr>
              <a:t>Routing &amp; warranty validation</a:t>
            </a:r>
          </a:p>
        </p:txBody>
      </p:sp>
      <p:sp>
        <p:nvSpPr>
          <p:cNvPr id="18" name="TextBox 17"/>
          <p:cNvSpPr txBox="1"/>
          <p:nvPr/>
        </p:nvSpPr>
        <p:spPr>
          <a:xfrm>
            <a:off x="8321040" y="2103120"/>
            <a:ext cx="3291840" cy="1051560"/>
          </a:xfrm>
          <a:prstGeom prst="rect">
            <a:avLst/>
          </a:prstGeom>
          <a:noFill/>
        </p:spPr>
        <p:txBody>
          <a:bodyPr wrap="square" anchor="t" lIns="0" rIns="0" tIns="0" bIns="0">
            <a:spAutoFit/>
          </a:bodyPr>
          <a:lstStyle/>
          <a:p>
            <a:pPr algn="l">
              <a:spcBef>
                <a:spcPts val="0"/>
              </a:spcBef>
              <a:spcAft>
                <a:spcPts val="400"/>
              </a:spcAft>
            </a:pPr>
            <a:r>
              <a:rPr sz="1500" b="0" i="0">
                <a:solidFill>
                  <a:srgbClr val="242424"/>
                </a:solidFill>
                <a:latin typeface="Calibri"/>
              </a:rPr>
              <a:t>Rule-based router; deterministic rules engine over 21 rules from 6 manufacturers</a:t>
            </a:r>
          </a:p>
        </p:txBody>
      </p:sp>
      <p:sp>
        <p:nvSpPr>
          <p:cNvPr id="19" name="Rounded Rectangle 18"/>
          <p:cNvSpPr/>
          <p:nvPr/>
        </p:nvSpPr>
        <p:spPr>
          <a:xfrm>
            <a:off x="320040" y="347472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4632" y="363931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1" name="TextBox 20"/>
          <p:cNvSpPr txBox="1"/>
          <p:nvPr/>
        </p:nvSpPr>
        <p:spPr>
          <a:xfrm>
            <a:off x="1005840" y="3639312"/>
            <a:ext cx="2834640" cy="457200"/>
          </a:xfrm>
          <a:prstGeom prst="rect">
            <a:avLst/>
          </a:prstGeom>
          <a:noFill/>
        </p:spPr>
        <p:txBody>
          <a:bodyPr wrap="square" anchor="ctr" lIns="0" rIns="0" tIns="0" bIns="0">
            <a:spAutoFit/>
          </a:bodyPr>
          <a:lstStyle/>
          <a:p>
            <a:pPr algn="l">
              <a:spcBef>
                <a:spcPts val="0"/>
              </a:spcBef>
              <a:spcAft>
                <a:spcPts val="400"/>
              </a:spcAft>
            </a:pPr>
            <a:r>
              <a:rPr sz="1600" b="1" i="0">
                <a:solidFill>
                  <a:srgbClr val="1F4E79"/>
                </a:solidFill>
                <a:latin typeface="Calibri"/>
              </a:rPr>
              <a:t>Grounded generation</a:t>
            </a:r>
          </a:p>
        </p:txBody>
      </p:sp>
      <p:sp>
        <p:nvSpPr>
          <p:cNvPr id="22" name="TextBox 21"/>
          <p:cNvSpPr txBox="1"/>
          <p:nvPr/>
        </p:nvSpPr>
        <p:spPr>
          <a:xfrm>
            <a:off x="502920" y="4206240"/>
            <a:ext cx="3291840" cy="1051560"/>
          </a:xfrm>
          <a:prstGeom prst="rect">
            <a:avLst/>
          </a:prstGeom>
          <a:noFill/>
        </p:spPr>
        <p:txBody>
          <a:bodyPr wrap="square" anchor="t" lIns="0" rIns="0" tIns="0" bIns="0">
            <a:spAutoFit/>
          </a:bodyPr>
          <a:lstStyle/>
          <a:p>
            <a:pPr algn="l">
              <a:spcBef>
                <a:spcPts val="0"/>
              </a:spcBef>
              <a:spcAft>
                <a:spcPts val="400"/>
              </a:spcAft>
            </a:pPr>
            <a:r>
              <a:rPr sz="1500" b="0" i="0">
                <a:solidFill>
                  <a:srgbClr val="242424"/>
                </a:solidFill>
                <a:latin typeface="Calibri"/>
              </a:rPr>
              <a:t>Gemini with automatic failover to a second model via OpenRouter; citation-only prompting</a:t>
            </a:r>
          </a:p>
        </p:txBody>
      </p:sp>
      <p:sp>
        <p:nvSpPr>
          <p:cNvPr id="23" name="Rounded Rectangle 22"/>
          <p:cNvSpPr/>
          <p:nvPr/>
        </p:nvSpPr>
        <p:spPr>
          <a:xfrm>
            <a:off x="4229100" y="3474720"/>
            <a:ext cx="3657600" cy="1874519"/>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393692" y="3639312"/>
            <a:ext cx="411480" cy="4114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5" name="TextBox 24"/>
          <p:cNvSpPr txBox="1"/>
          <p:nvPr/>
        </p:nvSpPr>
        <p:spPr>
          <a:xfrm>
            <a:off x="4914900" y="3639312"/>
            <a:ext cx="2834640" cy="457200"/>
          </a:xfrm>
          <a:prstGeom prst="rect">
            <a:avLst/>
          </a:prstGeom>
          <a:noFill/>
        </p:spPr>
        <p:txBody>
          <a:bodyPr wrap="square" anchor="ctr" lIns="0" rIns="0" tIns="0" bIns="0">
            <a:spAutoFit/>
          </a:bodyPr>
          <a:lstStyle/>
          <a:p>
            <a:pPr algn="l">
              <a:spcBef>
                <a:spcPts val="0"/>
              </a:spcBef>
              <a:spcAft>
                <a:spcPts val="400"/>
              </a:spcAft>
            </a:pPr>
            <a:r>
              <a:rPr sz="1600" b="1" i="0">
                <a:solidFill>
                  <a:srgbClr val="1F4E79"/>
                </a:solidFill>
                <a:latin typeface="Calibri"/>
              </a:rPr>
              <a:t>API, UI &amp; voice</a:t>
            </a:r>
          </a:p>
        </p:txBody>
      </p:sp>
      <p:sp>
        <p:nvSpPr>
          <p:cNvPr id="26" name="TextBox 25"/>
          <p:cNvSpPr txBox="1"/>
          <p:nvPr/>
        </p:nvSpPr>
        <p:spPr>
          <a:xfrm>
            <a:off x="4411980" y="4206240"/>
            <a:ext cx="3291840" cy="1051560"/>
          </a:xfrm>
          <a:prstGeom prst="rect">
            <a:avLst/>
          </a:prstGeom>
          <a:noFill/>
        </p:spPr>
        <p:txBody>
          <a:bodyPr wrap="square" anchor="t" lIns="0" rIns="0" tIns="0" bIns="0">
            <a:spAutoFit/>
          </a:bodyPr>
          <a:lstStyle/>
          <a:p>
            <a:pPr algn="l">
              <a:spcBef>
                <a:spcPts val="0"/>
              </a:spcBef>
              <a:spcAft>
                <a:spcPts val="400"/>
              </a:spcAft>
            </a:pPr>
            <a:r>
              <a:rPr sz="1500" b="0" i="0">
                <a:solidFill>
                  <a:srgbClr val="242424"/>
                </a:solidFill>
                <a:latin typeface="Calibri"/>
              </a:rPr>
              <a:t>FastAPI endpoints; Streamlit assistant, warranty checker and insights; Whisper voice input</a:t>
            </a:r>
          </a:p>
        </p:txBody>
      </p:sp>
      <p:sp>
        <p:nvSpPr>
          <p:cNvPr id="27" name="Rounded Rectangle 26"/>
          <p:cNvSpPr/>
          <p:nvPr/>
        </p:nvSpPr>
        <p:spPr>
          <a:xfrm>
            <a:off x="8138160" y="3474720"/>
            <a:ext cx="3657600" cy="1874519"/>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302752" y="3639312"/>
            <a:ext cx="411480" cy="411480"/>
          </a:xfrm>
          <a:prstGeom prst="ellipse">
            <a:avLst/>
          </a:prstGeom>
          <a:solidFill>
            <a:srgbClr val="1FAED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9" name="TextBox 28"/>
          <p:cNvSpPr txBox="1"/>
          <p:nvPr/>
        </p:nvSpPr>
        <p:spPr>
          <a:xfrm>
            <a:off x="8823960" y="3639312"/>
            <a:ext cx="2834640" cy="457200"/>
          </a:xfrm>
          <a:prstGeom prst="rect">
            <a:avLst/>
          </a:prstGeom>
          <a:noFill/>
        </p:spPr>
        <p:txBody>
          <a:bodyPr wrap="square" anchor="ctr" lIns="0" rIns="0" tIns="0" bIns="0">
            <a:spAutoFit/>
          </a:bodyPr>
          <a:lstStyle/>
          <a:p>
            <a:pPr algn="l">
              <a:spcBef>
                <a:spcPts val="0"/>
              </a:spcBef>
              <a:spcAft>
                <a:spcPts val="400"/>
              </a:spcAft>
            </a:pPr>
            <a:r>
              <a:rPr sz="1600" b="1" i="0">
                <a:solidFill>
                  <a:srgbClr val="1F4E79"/>
                </a:solidFill>
                <a:latin typeface="Calibri"/>
              </a:rPr>
              <a:t>Evaluation &amp; deployment</a:t>
            </a:r>
          </a:p>
        </p:txBody>
      </p:sp>
      <p:sp>
        <p:nvSpPr>
          <p:cNvPr id="30" name="TextBox 29"/>
          <p:cNvSpPr txBox="1"/>
          <p:nvPr/>
        </p:nvSpPr>
        <p:spPr>
          <a:xfrm>
            <a:off x="8321040" y="4206240"/>
            <a:ext cx="3291840" cy="1051560"/>
          </a:xfrm>
          <a:prstGeom prst="rect">
            <a:avLst/>
          </a:prstGeom>
          <a:noFill/>
        </p:spPr>
        <p:txBody>
          <a:bodyPr wrap="square" anchor="t" lIns="0" rIns="0" tIns="0" bIns="0">
            <a:spAutoFit/>
          </a:bodyPr>
          <a:lstStyle/>
          <a:p>
            <a:pPr algn="l">
              <a:spcBef>
                <a:spcPts val="0"/>
              </a:spcBef>
              <a:spcAft>
                <a:spcPts val="400"/>
              </a:spcAft>
            </a:pPr>
            <a:r>
              <a:rPr sz="1500" b="0" i="0">
                <a:solidFill>
                  <a:srgbClr val="242424"/>
                </a:solidFill>
                <a:latin typeface="Calibri"/>
              </a:rPr>
              <a:t>Gold set, retrieval ablation, RAGAS, confidence-gating; Render + Streamlit Community Cloud</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Rounded Rectangle 5"/>
          <p:cNvSpPr/>
          <p:nvPr/>
        </p:nvSpPr>
        <p:spPr>
          <a:xfrm>
            <a:off x="320040" y="1371600"/>
            <a:ext cx="11475720" cy="1143000"/>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444752"/>
            <a:ext cx="11064240" cy="1005840"/>
          </a:xfrm>
          <a:prstGeom prst="rect">
            <a:avLst/>
          </a:prstGeom>
          <a:noFill/>
        </p:spPr>
        <p:txBody>
          <a:bodyPr wrap="square" anchor="ctr" lIns="0" rIns="0" tIns="0" bIns="0">
            <a:spAutoFit/>
          </a:bodyPr>
          <a:lstStyle/>
          <a:p>
            <a:pPr algn="l">
              <a:spcBef>
                <a:spcPts val="0"/>
              </a:spcBef>
              <a:spcAft>
                <a:spcPts val="400"/>
              </a:spcAft>
            </a:pPr>
            <a:r>
              <a:rPr sz="1700" b="0" i="0">
                <a:solidFill>
                  <a:srgbClr val="242424"/>
                </a:solidFill>
                <a:latin typeface="Calibri"/>
              </a:rPr>
              <a:t>Given </a:t>
            </a:r>
            <a:r>
              <a:rPr sz="1700" b="1" i="0">
                <a:solidFill>
                  <a:srgbClr val="1F4E79"/>
                </a:solidFill>
                <a:latin typeface="Calibri"/>
              </a:rPr>
              <a:t>a symptom description, DTC code or warranty question</a:t>
            </a:r>
            <a:r>
              <a:rPr sz="1700" b="0" i="0">
                <a:solidFill>
                  <a:srgbClr val="242424"/>
                </a:solidFill>
                <a:latin typeface="Calibri"/>
              </a:rPr>
              <a:t> about a vehicle, retrieve the most relevant evidence from a heterogeneous corpus and return </a:t>
            </a:r>
            <a:r>
              <a:rPr sz="1700" b="1" i="0">
                <a:solidFill>
                  <a:srgbClr val="1F4E79"/>
                </a:solidFill>
                <a:latin typeface="Calibri"/>
              </a:rPr>
              <a:t>a grounded, cited diagnosis or a verifiable coverage decision</a:t>
            </a:r>
            <a:r>
              <a:rPr sz="1700" b="0" i="0">
                <a:solidFill>
                  <a:srgbClr val="242424"/>
                </a:solidFill>
                <a:latin typeface="Calibri"/>
              </a:rPr>
              <a:t> — fast enough to use interactively, on a CPU-only laptop.</a:t>
            </a:r>
          </a:p>
        </p:txBody>
      </p:sp>
      <p:sp>
        <p:nvSpPr>
          <p:cNvPr id="8" name="Rounded Rectangle 7"/>
          <p:cNvSpPr/>
          <p:nvPr/>
        </p:nvSpPr>
        <p:spPr>
          <a:xfrm>
            <a:off x="320040"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5488" y="2852928"/>
            <a:ext cx="2423160" cy="1737360"/>
          </a:xfrm>
          <a:prstGeom prst="rect">
            <a:avLst/>
          </a:prstGeom>
          <a:noFill/>
        </p:spPr>
        <p:txBody>
          <a:bodyPr wrap="square" anchor="t" lIns="0" rIns="0" tIns="0" bIns="0">
            <a:spAutoFit/>
          </a:bodyPr>
          <a:lstStyle/>
          <a:p>
            <a:pPr algn="l">
              <a:spcBef>
                <a:spcPts val="0"/>
              </a:spcBef>
              <a:spcAft>
                <a:spcPts val="400"/>
              </a:spcAft>
            </a:pPr>
            <a:r>
              <a:rPr sz="1600" b="1" i="0">
                <a:solidFill>
                  <a:srgbClr val="1F4E79"/>
                </a:solidFill>
                <a:latin typeface="Calibri"/>
              </a:rPr>
              <a:t>Vocabulary mismatch</a:t>
            </a:r>
          </a:p>
          <a:p>
            <a:pPr algn="l">
              <a:spcBef>
                <a:spcPts val="0"/>
              </a:spcBef>
              <a:spcAft>
                <a:spcPts val="400"/>
              </a:spcAft>
            </a:pPr>
            <a:r>
              <a:rPr sz="1500" b="0" i="0">
                <a:solidFill>
                  <a:srgbClr val="242424"/>
                </a:solidFill>
                <a:latin typeface="Calibri"/>
              </a:rPr>
              <a:t>"car shakes at idle" vs "rough idling condition" — keyword search misses paraphrases.</a:t>
            </a:r>
          </a:p>
        </p:txBody>
      </p:sp>
      <p:sp>
        <p:nvSpPr>
          <p:cNvPr id="10" name="TextBox 9"/>
          <p:cNvSpPr txBox="1"/>
          <p:nvPr/>
        </p:nvSpPr>
        <p:spPr>
          <a:xfrm>
            <a:off x="475488" y="4297680"/>
            <a:ext cx="2423160" cy="640080"/>
          </a:xfrm>
          <a:prstGeom prst="rect">
            <a:avLst/>
          </a:prstGeom>
          <a:noFill/>
        </p:spPr>
        <p:txBody>
          <a:bodyPr wrap="square" anchor="b" lIns="0" rIns="0" tIns="0" bIns="0">
            <a:spAutoFit/>
          </a:bodyPr>
          <a:lstStyle/>
          <a:p>
            <a:pPr algn="l">
              <a:spcBef>
                <a:spcPts val="0"/>
              </a:spcBef>
              <a:spcAft>
                <a:spcPts val="400"/>
              </a:spcAft>
            </a:pPr>
            <a:r>
              <a:rPr sz="1300" b="1" i="0">
                <a:solidFill>
                  <a:srgbClr val="0C8A0C"/>
                </a:solidFill>
                <a:latin typeface="Calibri"/>
              </a:rPr>
              <a:t>→ </a:t>
            </a:r>
            <a:r>
              <a:rPr sz="1300" b="1" i="0">
                <a:solidFill>
                  <a:srgbClr val="0C8A0C"/>
                </a:solidFill>
                <a:latin typeface="Calibri"/>
              </a:rPr>
              <a:t>Dense BGE-M3 retrieval</a:t>
            </a:r>
          </a:p>
        </p:txBody>
      </p:sp>
      <p:sp>
        <p:nvSpPr>
          <p:cNvPr id="11" name="Rounded Rectangle 10"/>
          <p:cNvSpPr/>
          <p:nvPr/>
        </p:nvSpPr>
        <p:spPr>
          <a:xfrm>
            <a:off x="3236976"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92424" y="2852928"/>
            <a:ext cx="2423160" cy="1737360"/>
          </a:xfrm>
          <a:prstGeom prst="rect">
            <a:avLst/>
          </a:prstGeom>
          <a:noFill/>
        </p:spPr>
        <p:txBody>
          <a:bodyPr wrap="square" anchor="t" lIns="0" rIns="0" tIns="0" bIns="0">
            <a:spAutoFit/>
          </a:bodyPr>
          <a:lstStyle/>
          <a:p>
            <a:pPr algn="l">
              <a:spcBef>
                <a:spcPts val="0"/>
              </a:spcBef>
              <a:spcAft>
                <a:spcPts val="400"/>
              </a:spcAft>
            </a:pPr>
            <a:r>
              <a:rPr sz="1600" b="1" i="0">
                <a:solidFill>
                  <a:srgbClr val="1F4E79"/>
                </a:solidFill>
                <a:latin typeface="Calibri"/>
              </a:rPr>
              <a:t>Exact identifiers</a:t>
            </a:r>
          </a:p>
          <a:p>
            <a:pPr algn="l">
              <a:spcBef>
                <a:spcPts val="0"/>
              </a:spcBef>
              <a:spcAft>
                <a:spcPts val="400"/>
              </a:spcAft>
            </a:pPr>
            <a:r>
              <a:rPr sz="1500" b="0" i="0">
                <a:solidFill>
                  <a:srgbClr val="242424"/>
                </a:solidFill>
                <a:latin typeface="Calibri"/>
              </a:rPr>
              <a:t>Codes like P0301 are arbitrary tokens to a semantic model.</a:t>
            </a:r>
          </a:p>
        </p:txBody>
      </p:sp>
      <p:sp>
        <p:nvSpPr>
          <p:cNvPr id="13" name="TextBox 12"/>
          <p:cNvSpPr txBox="1"/>
          <p:nvPr/>
        </p:nvSpPr>
        <p:spPr>
          <a:xfrm>
            <a:off x="3392424" y="4297680"/>
            <a:ext cx="2423160" cy="640080"/>
          </a:xfrm>
          <a:prstGeom prst="rect">
            <a:avLst/>
          </a:prstGeom>
          <a:noFill/>
        </p:spPr>
        <p:txBody>
          <a:bodyPr wrap="square" anchor="b" lIns="0" rIns="0" tIns="0" bIns="0">
            <a:spAutoFit/>
          </a:bodyPr>
          <a:lstStyle/>
          <a:p>
            <a:pPr algn="l">
              <a:spcBef>
                <a:spcPts val="0"/>
              </a:spcBef>
              <a:spcAft>
                <a:spcPts val="400"/>
              </a:spcAft>
            </a:pPr>
            <a:r>
              <a:rPr sz="1300" b="1" i="0">
                <a:solidFill>
                  <a:srgbClr val="0C8A0C"/>
                </a:solidFill>
                <a:latin typeface="Calibri"/>
              </a:rPr>
              <a:t>→ </a:t>
            </a:r>
            <a:r>
              <a:rPr sz="1300" b="1" i="0">
                <a:solidFill>
                  <a:srgbClr val="0C8A0C"/>
                </a:solidFill>
                <a:latin typeface="Calibri"/>
              </a:rPr>
              <a:t>BM25 + RRF fusion</a:t>
            </a:r>
          </a:p>
        </p:txBody>
      </p:sp>
      <p:sp>
        <p:nvSpPr>
          <p:cNvPr id="14" name="Rounded Rectangle 13"/>
          <p:cNvSpPr/>
          <p:nvPr/>
        </p:nvSpPr>
        <p:spPr>
          <a:xfrm>
            <a:off x="6153912"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09359" y="2852928"/>
            <a:ext cx="2423160" cy="1737360"/>
          </a:xfrm>
          <a:prstGeom prst="rect">
            <a:avLst/>
          </a:prstGeom>
          <a:noFill/>
        </p:spPr>
        <p:txBody>
          <a:bodyPr wrap="square" anchor="t" lIns="0" rIns="0" tIns="0" bIns="0">
            <a:spAutoFit/>
          </a:bodyPr>
          <a:lstStyle/>
          <a:p>
            <a:pPr algn="l">
              <a:spcBef>
                <a:spcPts val="0"/>
              </a:spcBef>
              <a:spcAft>
                <a:spcPts val="400"/>
              </a:spcAft>
            </a:pPr>
            <a:r>
              <a:rPr sz="1600" b="1" i="0">
                <a:solidFill>
                  <a:srgbClr val="1F4E79"/>
                </a:solidFill>
                <a:latin typeface="Calibri"/>
              </a:rPr>
              <a:t>Coverage arithmetic</a:t>
            </a:r>
          </a:p>
          <a:p>
            <a:pPr algn="l">
              <a:spcBef>
                <a:spcPts val="0"/>
              </a:spcBef>
              <a:spcAft>
                <a:spcPts val="400"/>
              </a:spcAft>
            </a:pPr>
            <a:r>
              <a:rPr sz="1500" b="0" i="0">
                <a:solidFill>
                  <a:srgbClr val="242424"/>
                </a:solidFill>
                <a:latin typeface="Calibri"/>
              </a:rPr>
              <a:t>LLMs get year / mileage limits wrong.</a:t>
            </a:r>
          </a:p>
        </p:txBody>
      </p:sp>
      <p:sp>
        <p:nvSpPr>
          <p:cNvPr id="16" name="TextBox 15"/>
          <p:cNvSpPr txBox="1"/>
          <p:nvPr/>
        </p:nvSpPr>
        <p:spPr>
          <a:xfrm>
            <a:off x="6309359" y="4297680"/>
            <a:ext cx="2423160" cy="640080"/>
          </a:xfrm>
          <a:prstGeom prst="rect">
            <a:avLst/>
          </a:prstGeom>
          <a:noFill/>
        </p:spPr>
        <p:txBody>
          <a:bodyPr wrap="square" anchor="b" lIns="0" rIns="0" tIns="0" bIns="0">
            <a:spAutoFit/>
          </a:bodyPr>
          <a:lstStyle/>
          <a:p>
            <a:pPr algn="l">
              <a:spcBef>
                <a:spcPts val="0"/>
              </a:spcBef>
              <a:spcAft>
                <a:spcPts val="400"/>
              </a:spcAft>
            </a:pPr>
            <a:r>
              <a:rPr sz="1300" b="1" i="0">
                <a:solidFill>
                  <a:srgbClr val="0C8A0C"/>
                </a:solidFill>
                <a:latin typeface="Calibri"/>
              </a:rPr>
              <a:t>→ </a:t>
            </a:r>
            <a:r>
              <a:rPr sz="1300" b="1" i="0">
                <a:solidFill>
                  <a:srgbClr val="0C8A0C"/>
                </a:solidFill>
                <a:latin typeface="Calibri"/>
              </a:rPr>
              <a:t>Deterministic rules engine</a:t>
            </a:r>
          </a:p>
        </p:txBody>
      </p:sp>
      <p:sp>
        <p:nvSpPr>
          <p:cNvPr id="17" name="Rounded Rectangle 16"/>
          <p:cNvSpPr/>
          <p:nvPr/>
        </p:nvSpPr>
        <p:spPr>
          <a:xfrm>
            <a:off x="9070848" y="2743200"/>
            <a:ext cx="2724912" cy="22860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26296" y="2852928"/>
            <a:ext cx="2423160" cy="1737360"/>
          </a:xfrm>
          <a:prstGeom prst="rect">
            <a:avLst/>
          </a:prstGeom>
          <a:noFill/>
        </p:spPr>
        <p:txBody>
          <a:bodyPr wrap="square" anchor="t" lIns="0" rIns="0" tIns="0" bIns="0">
            <a:spAutoFit/>
          </a:bodyPr>
          <a:lstStyle/>
          <a:p>
            <a:pPr algn="l">
              <a:spcBef>
                <a:spcPts val="0"/>
              </a:spcBef>
              <a:spcAft>
                <a:spcPts val="400"/>
              </a:spcAft>
            </a:pPr>
            <a:r>
              <a:rPr sz="1600" b="1" i="0">
                <a:solidFill>
                  <a:srgbClr val="1F4E79"/>
                </a:solidFill>
                <a:latin typeface="Calibri"/>
              </a:rPr>
              <a:t>Trust &amp; availability</a:t>
            </a:r>
          </a:p>
          <a:p>
            <a:pPr algn="l">
              <a:spcBef>
                <a:spcPts val="0"/>
              </a:spcBef>
              <a:spcAft>
                <a:spcPts val="400"/>
              </a:spcAft>
            </a:pPr>
            <a:r>
              <a:rPr sz="1500" b="0" i="0">
                <a:solidFill>
                  <a:srgbClr val="242424"/>
                </a:solidFill>
                <a:latin typeface="Calibri"/>
              </a:rPr>
              <a:t>Answers must be traceable; hosted LLMs get overloaded.</a:t>
            </a:r>
          </a:p>
        </p:txBody>
      </p:sp>
      <p:sp>
        <p:nvSpPr>
          <p:cNvPr id="19" name="TextBox 18"/>
          <p:cNvSpPr txBox="1"/>
          <p:nvPr/>
        </p:nvSpPr>
        <p:spPr>
          <a:xfrm>
            <a:off x="9226296" y="4297680"/>
            <a:ext cx="2423160" cy="640080"/>
          </a:xfrm>
          <a:prstGeom prst="rect">
            <a:avLst/>
          </a:prstGeom>
          <a:noFill/>
        </p:spPr>
        <p:txBody>
          <a:bodyPr wrap="square" anchor="b" lIns="0" rIns="0" tIns="0" bIns="0">
            <a:spAutoFit/>
          </a:bodyPr>
          <a:lstStyle/>
          <a:p>
            <a:pPr algn="l">
              <a:spcBef>
                <a:spcPts val="0"/>
              </a:spcBef>
              <a:spcAft>
                <a:spcPts val="400"/>
              </a:spcAft>
            </a:pPr>
            <a:r>
              <a:rPr sz="1300" b="1" i="0">
                <a:solidFill>
                  <a:srgbClr val="0C8A0C"/>
                </a:solidFill>
                <a:latin typeface="Calibri"/>
              </a:rPr>
              <a:t>→ </a:t>
            </a:r>
            <a:r>
              <a:rPr sz="1300" b="1" i="0">
                <a:solidFill>
                  <a:srgbClr val="0C8A0C"/>
                </a:solidFill>
                <a:latin typeface="Calibri"/>
              </a:rPr>
              <a:t>Citations, confidence-gating, LLM failover</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280160"/>
            <a:ext cx="5486400" cy="320040"/>
          </a:xfrm>
          <a:prstGeom prst="rect">
            <a:avLst/>
          </a:prstGeom>
          <a:noFill/>
        </p:spPr>
        <p:txBody>
          <a:bodyPr wrap="square" anchor="t" lIns="0" rIns="0" tIns="0" bIns="0">
            <a:spAutoFit/>
          </a:bodyPr>
          <a:lstStyle/>
          <a:p>
            <a:pPr algn="l">
              <a:spcBef>
                <a:spcPts val="0"/>
              </a:spcBef>
              <a:spcAft>
                <a:spcPts val="400"/>
              </a:spcAft>
            </a:pPr>
            <a:r>
              <a:rPr sz="1300" b="1" i="0">
                <a:solidFill>
                  <a:srgbClr val="5583D1"/>
                </a:solidFill>
                <a:latin typeface="Calibri"/>
              </a:rPr>
              <a:t>OFFLINE — indexing (run once)</a:t>
            </a:r>
          </a:p>
        </p:txBody>
      </p:sp>
      <p:sp>
        <p:nvSpPr>
          <p:cNvPr id="7" name="Rounded Rectangle 6"/>
          <p:cNvSpPr/>
          <p:nvPr/>
        </p:nvSpPr>
        <p:spPr>
          <a:xfrm>
            <a:off x="320040" y="1645920"/>
            <a:ext cx="1737360" cy="12344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Sources</a:t>
            </a:r>
          </a:p>
          <a:p>
            <a:pPr algn="ctr"/>
            <a:r>
              <a:rPr sz="1100">
                <a:solidFill>
                  <a:srgbClr val="5F6B7A"/>
                </a:solidFill>
                <a:latin typeface="Calibri"/>
              </a:rPr>
              <a:t>DTC YAML · NHTSA API · warranty PDFs</a:t>
            </a:r>
          </a:p>
        </p:txBody>
      </p:sp>
      <p:sp>
        <p:nvSpPr>
          <p:cNvPr id="8" name="Rounded Rectangle 7"/>
          <p:cNvSpPr/>
          <p:nvPr/>
        </p:nvSpPr>
        <p:spPr>
          <a:xfrm>
            <a:off x="2377440" y="1645920"/>
            <a:ext cx="1737360" cy="12344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Ingest &amp; clean</a:t>
            </a:r>
          </a:p>
          <a:p>
            <a:pPr algn="ctr"/>
            <a:r>
              <a:rPr sz="1100">
                <a:solidFill>
                  <a:srgbClr val="5F6B7A"/>
                </a:solidFill>
                <a:latin typeface="Calibri"/>
              </a:rPr>
              <a:t>filter, dedupe, parse</a:t>
            </a:r>
          </a:p>
        </p:txBody>
      </p:sp>
      <p:sp>
        <p:nvSpPr>
          <p:cNvPr id="9" name="Rounded Rectangle 8"/>
          <p:cNvSpPr/>
          <p:nvPr/>
        </p:nvSpPr>
        <p:spPr>
          <a:xfrm>
            <a:off x="4434840" y="1645920"/>
            <a:ext cx="1737360" cy="12344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Chunk + metadata</a:t>
            </a:r>
          </a:p>
          <a:p>
            <a:pPr algn="ctr"/>
            <a:r>
              <a:rPr sz="1100">
                <a:solidFill>
                  <a:srgbClr val="5F6B7A"/>
                </a:solidFill>
                <a:latin typeface="Calibri"/>
              </a:rPr>
              <a:t>JSONL · 59,504 chunks</a:t>
            </a:r>
          </a:p>
        </p:txBody>
      </p:sp>
      <p:sp>
        <p:nvSpPr>
          <p:cNvPr id="10" name="Rounded Rectangle 9"/>
          <p:cNvSpPr/>
          <p:nvPr/>
        </p:nvSpPr>
        <p:spPr>
          <a:xfrm>
            <a:off x="6629400" y="1645920"/>
            <a:ext cx="2240280" cy="566928"/>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F4E79"/>
                </a:solidFill>
                <a:latin typeface="Calibri"/>
              </a:rPr>
              <a:t>BGE-M3 embeddings</a:t>
            </a:r>
          </a:p>
        </p:txBody>
      </p:sp>
      <p:sp>
        <p:nvSpPr>
          <p:cNvPr id="11" name="Rounded Rectangle 10"/>
          <p:cNvSpPr/>
          <p:nvPr/>
        </p:nvSpPr>
        <p:spPr>
          <a:xfrm>
            <a:off x="6629400" y="2313432"/>
            <a:ext cx="2240280" cy="566928"/>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F4E79"/>
                </a:solidFill>
                <a:latin typeface="Calibri"/>
              </a:rPr>
              <a:t>BM25 indexing</a:t>
            </a:r>
          </a:p>
        </p:txBody>
      </p:sp>
      <p:sp>
        <p:nvSpPr>
          <p:cNvPr id="12" name="Rounded Rectangle 11"/>
          <p:cNvSpPr/>
          <p:nvPr/>
        </p:nvSpPr>
        <p:spPr>
          <a:xfrm>
            <a:off x="9281160" y="1645920"/>
            <a:ext cx="2514600" cy="566928"/>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F4E79"/>
                </a:solidFill>
                <a:latin typeface="Calibri"/>
              </a:rPr>
              <a:t>Qdrant</a:t>
            </a:r>
          </a:p>
          <a:p>
            <a:pPr algn="ctr"/>
            <a:r>
              <a:rPr sz="1100">
                <a:solidFill>
                  <a:srgbClr val="5F6B7A"/>
                </a:solidFill>
                <a:latin typeface="Calibri"/>
              </a:rPr>
              <a:t>dense vectors</a:t>
            </a:r>
          </a:p>
        </p:txBody>
      </p:sp>
      <p:sp>
        <p:nvSpPr>
          <p:cNvPr id="13" name="Rounded Rectangle 12"/>
          <p:cNvSpPr/>
          <p:nvPr/>
        </p:nvSpPr>
        <p:spPr>
          <a:xfrm>
            <a:off x="9281160" y="2313432"/>
            <a:ext cx="2514600" cy="566928"/>
          </a:xfrm>
          <a:prstGeom prst="roundRect">
            <a:avLst>
              <a:gd name="adj" fmla="val 8000"/>
            </a:avLst>
          </a:prstGeom>
          <a:solidFill>
            <a:srgbClr val="E4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F4E79"/>
                </a:solidFill>
                <a:latin typeface="Calibri"/>
              </a:rPr>
              <a:t>BM25 index</a:t>
            </a:r>
          </a:p>
          <a:p>
            <a:pPr algn="ctr"/>
            <a:r>
              <a:rPr sz="1100">
                <a:solidFill>
                  <a:srgbClr val="5F6B7A"/>
                </a:solidFill>
                <a:latin typeface="Calibri"/>
              </a:rPr>
              <a:t>local</a:t>
            </a:r>
          </a:p>
        </p:txBody>
      </p:sp>
      <p:cxnSp>
        <p:nvCxnSpPr>
          <p:cNvPr id="14" name="Connector 13"/>
          <p:cNvCxnSpPr/>
          <p:nvPr/>
        </p:nvCxnSpPr>
        <p:spPr>
          <a:xfrm>
            <a:off x="2075688" y="2263140"/>
            <a:ext cx="283464"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33087" y="2263140"/>
            <a:ext cx="283465"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190488" y="1929384"/>
            <a:ext cx="420624" cy="173736"/>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90488" y="2423160"/>
            <a:ext cx="420624" cy="173736"/>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87968" y="1929384"/>
            <a:ext cx="374904"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87968" y="2596896"/>
            <a:ext cx="374904"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20040" y="3154680"/>
            <a:ext cx="5486400" cy="320040"/>
          </a:xfrm>
          <a:prstGeom prst="rect">
            <a:avLst/>
          </a:prstGeom>
          <a:noFill/>
        </p:spPr>
        <p:txBody>
          <a:bodyPr wrap="square" anchor="t" lIns="0" rIns="0" tIns="0" bIns="0">
            <a:spAutoFit/>
          </a:bodyPr>
          <a:lstStyle/>
          <a:p>
            <a:pPr algn="l">
              <a:spcBef>
                <a:spcPts val="0"/>
              </a:spcBef>
              <a:spcAft>
                <a:spcPts val="400"/>
              </a:spcAft>
            </a:pPr>
            <a:r>
              <a:rPr sz="1300" b="1" i="0">
                <a:solidFill>
                  <a:srgbClr val="5583D1"/>
                </a:solidFill>
                <a:latin typeface="Calibri"/>
              </a:rPr>
              <a:t>ONLINE — per question</a:t>
            </a:r>
          </a:p>
        </p:txBody>
      </p:sp>
      <p:sp>
        <p:nvSpPr>
          <p:cNvPr id="21" name="Rounded Rectangle 20"/>
          <p:cNvSpPr/>
          <p:nvPr/>
        </p:nvSpPr>
        <p:spPr>
          <a:xfrm>
            <a:off x="320040"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Question</a:t>
            </a:r>
          </a:p>
          <a:p>
            <a:pPr algn="ctr"/>
            <a:r>
              <a:rPr sz="1100">
                <a:solidFill>
                  <a:srgbClr val="5F6B7A"/>
                </a:solidFill>
                <a:latin typeface="Calibri"/>
              </a:rPr>
              <a:t>text or voice</a:t>
            </a:r>
          </a:p>
        </p:txBody>
      </p:sp>
      <p:cxnSp>
        <p:nvCxnSpPr>
          <p:cNvPr id="22" name="Connector 21"/>
          <p:cNvCxnSpPr/>
          <p:nvPr/>
        </p:nvCxnSpPr>
        <p:spPr>
          <a:xfrm>
            <a:off x="1755648"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002536"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Router</a:t>
            </a:r>
          </a:p>
          <a:p>
            <a:pPr algn="ctr"/>
            <a:r>
              <a:rPr sz="1100">
                <a:solidFill>
                  <a:srgbClr val="5F6B7A"/>
                </a:solidFill>
                <a:latin typeface="Calibri"/>
              </a:rPr>
              <a:t>diagnosis / warranty</a:t>
            </a:r>
          </a:p>
        </p:txBody>
      </p:sp>
      <p:cxnSp>
        <p:nvCxnSpPr>
          <p:cNvPr id="24" name="Connector 23"/>
          <p:cNvCxnSpPr/>
          <p:nvPr/>
        </p:nvCxnSpPr>
        <p:spPr>
          <a:xfrm>
            <a:off x="3438144"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685032"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Hybrid retrieval</a:t>
            </a:r>
          </a:p>
          <a:p>
            <a:pPr algn="ctr"/>
            <a:r>
              <a:rPr sz="1100">
                <a:solidFill>
                  <a:srgbClr val="5F6B7A"/>
                </a:solidFill>
                <a:latin typeface="Calibri"/>
              </a:rPr>
              <a:t>dense + BM25 → RRF</a:t>
            </a:r>
          </a:p>
        </p:txBody>
      </p:sp>
      <p:cxnSp>
        <p:nvCxnSpPr>
          <p:cNvPr id="26" name="Connector 25"/>
          <p:cNvCxnSpPr/>
          <p:nvPr/>
        </p:nvCxnSpPr>
        <p:spPr>
          <a:xfrm>
            <a:off x="5120640"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367528"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Re-rank</a:t>
            </a:r>
          </a:p>
          <a:p>
            <a:pPr algn="ctr"/>
            <a:r>
              <a:rPr sz="1100">
                <a:solidFill>
                  <a:srgbClr val="5F6B7A"/>
                </a:solidFill>
                <a:latin typeface="Calibri"/>
              </a:rPr>
              <a:t>cross-encoder, top-5</a:t>
            </a:r>
          </a:p>
        </p:txBody>
      </p:sp>
      <p:cxnSp>
        <p:nvCxnSpPr>
          <p:cNvPr id="28" name="Connector 27"/>
          <p:cNvCxnSpPr/>
          <p:nvPr/>
        </p:nvCxnSpPr>
        <p:spPr>
          <a:xfrm>
            <a:off x="6803136"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050024" y="3520440"/>
            <a:ext cx="1417320" cy="10515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Rules check</a:t>
            </a:r>
          </a:p>
          <a:p>
            <a:pPr algn="ctr"/>
            <a:r>
              <a:rPr sz="1100">
                <a:solidFill>
                  <a:srgbClr val="5F6B7A"/>
                </a:solidFill>
                <a:latin typeface="Calibri"/>
              </a:rPr>
              <a:t>warranty only</a:t>
            </a:r>
          </a:p>
        </p:txBody>
      </p:sp>
      <p:cxnSp>
        <p:nvCxnSpPr>
          <p:cNvPr id="30" name="Connector 29"/>
          <p:cNvCxnSpPr/>
          <p:nvPr/>
        </p:nvCxnSpPr>
        <p:spPr>
          <a:xfrm>
            <a:off x="8485632"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732520" y="3520440"/>
            <a:ext cx="1417320" cy="10515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Confidence gate</a:t>
            </a:r>
          </a:p>
          <a:p>
            <a:pPr algn="ctr"/>
            <a:r>
              <a:rPr sz="1100">
                <a:solidFill>
                  <a:srgbClr val="5F6B7A"/>
                </a:solidFill>
                <a:latin typeface="Calibri"/>
              </a:rPr>
              <a:t>defer if evidence weak</a:t>
            </a:r>
          </a:p>
        </p:txBody>
      </p:sp>
      <p:cxnSp>
        <p:nvCxnSpPr>
          <p:cNvPr id="32" name="Connector 31"/>
          <p:cNvCxnSpPr/>
          <p:nvPr/>
        </p:nvCxnSpPr>
        <p:spPr>
          <a:xfrm>
            <a:off x="10168128" y="4046220"/>
            <a:ext cx="228600" cy="0"/>
          </a:xfrm>
          <a:prstGeom prst="line">
            <a:avLst/>
          </a:prstGeom>
          <a:ln w="1905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415016" y="3520440"/>
            <a:ext cx="1417320" cy="10515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F4E79"/>
                </a:solidFill>
                <a:latin typeface="Calibri"/>
              </a:rPr>
              <a:t>LLM answer</a:t>
            </a:r>
          </a:p>
          <a:p>
            <a:pPr algn="ctr"/>
            <a:r>
              <a:rPr sz="1100">
                <a:solidFill>
                  <a:srgbClr val="5F6B7A"/>
                </a:solidFill>
                <a:latin typeface="Calibri"/>
              </a:rPr>
              <a:t>Gemini, failover</a:t>
            </a:r>
          </a:p>
        </p:txBody>
      </p:sp>
      <p:sp>
        <p:nvSpPr>
          <p:cNvPr id="34" name="TextBox 33"/>
          <p:cNvSpPr txBox="1"/>
          <p:nvPr/>
        </p:nvSpPr>
        <p:spPr>
          <a:xfrm>
            <a:off x="320040" y="4800600"/>
            <a:ext cx="11475720" cy="731520"/>
          </a:xfrm>
          <a:prstGeom prst="rect">
            <a:avLst/>
          </a:prstGeom>
          <a:noFill/>
        </p:spPr>
        <p:txBody>
          <a:bodyPr wrap="square" anchor="t" lIns="0" rIns="0" tIns="0" bIns="0">
            <a:spAutoFit/>
          </a:bodyPr>
          <a:lstStyle/>
          <a:p>
            <a:pPr algn="l">
              <a:spcBef>
                <a:spcPts val="0"/>
              </a:spcBef>
              <a:spcAft>
                <a:spcPts val="400"/>
              </a:spcAft>
            </a:pPr>
            <a:r>
              <a:rPr sz="1300" b="1" i="0">
                <a:solidFill>
                  <a:srgbClr val="1F4E79"/>
                </a:solidFill>
                <a:latin typeface="Calibri"/>
              </a:rPr>
              <a:t>Response: </a:t>
            </a:r>
            <a:r>
              <a:rPr sz="1300" b="0" i="0">
                <a:solidFill>
                  <a:srgbClr val="242424"/>
                </a:solidFill>
                <a:latin typeface="Calibri"/>
              </a:rPr>
              <a:t>route, cited answer, coverage verdict with limits, the 5 sources with their dense / BM25 ranks, a confidence flag and per-step timings.</a:t>
            </a: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 Algorithms / Tools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5394960" cy="365760"/>
          </a:xfrm>
          <a:prstGeom prst="rect">
            <a:avLst/>
          </a:prstGeom>
          <a:noFill/>
        </p:spPr>
        <p:txBody>
          <a:bodyPr wrap="square" anchor="t" lIns="0" rIns="0" tIns="0" bIns="0">
            <a:spAutoFit/>
          </a:bodyPr>
          <a:lstStyle/>
          <a:p>
            <a:pPr algn="l">
              <a:spcBef>
                <a:spcPts val="0"/>
              </a:spcBef>
              <a:spcAft>
                <a:spcPts val="400"/>
              </a:spcAft>
            </a:pPr>
            <a:r>
              <a:rPr sz="1700" b="1" i="0">
                <a:solidFill>
                  <a:srgbClr val="5583D1"/>
                </a:solidFill>
                <a:latin typeface="Calibri"/>
              </a:rPr>
              <a:t>Algorithms</a:t>
            </a:r>
          </a:p>
        </p:txBody>
      </p:sp>
      <p:sp>
        <p:nvSpPr>
          <p:cNvPr id="7" name="Rounded Rectangle 6"/>
          <p:cNvSpPr/>
          <p:nvPr/>
        </p:nvSpPr>
        <p:spPr>
          <a:xfrm>
            <a:off x="320040" y="1783080"/>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29768" y="1874519"/>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9" name="TextBox 8"/>
          <p:cNvSpPr txBox="1"/>
          <p:nvPr/>
        </p:nvSpPr>
        <p:spPr>
          <a:xfrm>
            <a:off x="914400" y="1801368"/>
            <a:ext cx="4709160" cy="493776"/>
          </a:xfrm>
          <a:prstGeom prst="rect">
            <a:avLst/>
          </a:prstGeom>
          <a:noFill/>
        </p:spPr>
        <p:txBody>
          <a:bodyPr wrap="square" anchor="ctr" lIns="0" rIns="0" tIns="0" bIns="0">
            <a:spAutoFit/>
          </a:bodyPr>
          <a:lstStyle/>
          <a:p>
            <a:pPr algn="l">
              <a:spcBef>
                <a:spcPts val="0"/>
              </a:spcBef>
              <a:spcAft>
                <a:spcPts val="400"/>
              </a:spcAft>
            </a:pPr>
            <a:r>
              <a:rPr sz="1400" b="1" i="0">
                <a:solidFill>
                  <a:srgbClr val="1F4E79"/>
                </a:solidFill>
                <a:latin typeface="Calibri"/>
              </a:rPr>
              <a:t>BGE-M3</a:t>
            </a:r>
            <a:r>
              <a:rPr sz="1400" b="0" i="0">
                <a:solidFill>
                  <a:srgbClr val="242424"/>
                </a:solidFill>
                <a:latin typeface="Calibri"/>
              </a:rPr>
              <a:t>  —  dense semantic embeddings (1024-d)</a:t>
            </a:r>
          </a:p>
        </p:txBody>
      </p:sp>
      <p:sp>
        <p:nvSpPr>
          <p:cNvPr id="10" name="Rounded Rectangle 9"/>
          <p:cNvSpPr/>
          <p:nvPr/>
        </p:nvSpPr>
        <p:spPr>
          <a:xfrm>
            <a:off x="320040" y="2404872"/>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29768" y="2496312"/>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2" name="TextBox 11"/>
          <p:cNvSpPr txBox="1"/>
          <p:nvPr/>
        </p:nvSpPr>
        <p:spPr>
          <a:xfrm>
            <a:off x="914400" y="2423160"/>
            <a:ext cx="4709160" cy="493776"/>
          </a:xfrm>
          <a:prstGeom prst="rect">
            <a:avLst/>
          </a:prstGeom>
          <a:noFill/>
        </p:spPr>
        <p:txBody>
          <a:bodyPr wrap="square" anchor="ctr" lIns="0" rIns="0" tIns="0" bIns="0">
            <a:spAutoFit/>
          </a:bodyPr>
          <a:lstStyle/>
          <a:p>
            <a:pPr algn="l">
              <a:spcBef>
                <a:spcPts val="0"/>
              </a:spcBef>
              <a:spcAft>
                <a:spcPts val="400"/>
              </a:spcAft>
            </a:pPr>
            <a:r>
              <a:rPr sz="1400" b="1" i="0">
                <a:solidFill>
                  <a:srgbClr val="1F4E79"/>
                </a:solidFill>
                <a:latin typeface="Calibri"/>
              </a:rPr>
              <a:t>BM25 Okapi</a:t>
            </a:r>
            <a:r>
              <a:rPr sz="1400" b="0" i="0">
                <a:solidFill>
                  <a:srgbClr val="242424"/>
                </a:solidFill>
                <a:latin typeface="Calibri"/>
              </a:rPr>
              <a:t>  —  keyword relevance, exact codes</a:t>
            </a:r>
          </a:p>
        </p:txBody>
      </p:sp>
      <p:sp>
        <p:nvSpPr>
          <p:cNvPr id="13" name="Rounded Rectangle 12"/>
          <p:cNvSpPr/>
          <p:nvPr/>
        </p:nvSpPr>
        <p:spPr>
          <a:xfrm>
            <a:off x="320040" y="3026664"/>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29768" y="3118104"/>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5" name="TextBox 14"/>
          <p:cNvSpPr txBox="1"/>
          <p:nvPr/>
        </p:nvSpPr>
        <p:spPr>
          <a:xfrm>
            <a:off x="914400" y="3044952"/>
            <a:ext cx="4709160" cy="493776"/>
          </a:xfrm>
          <a:prstGeom prst="rect">
            <a:avLst/>
          </a:prstGeom>
          <a:noFill/>
        </p:spPr>
        <p:txBody>
          <a:bodyPr wrap="square" anchor="ctr" lIns="0" rIns="0" tIns="0" bIns="0">
            <a:spAutoFit/>
          </a:bodyPr>
          <a:lstStyle/>
          <a:p>
            <a:pPr algn="l">
              <a:spcBef>
                <a:spcPts val="0"/>
              </a:spcBef>
              <a:spcAft>
                <a:spcPts val="400"/>
              </a:spcAft>
            </a:pPr>
            <a:r>
              <a:rPr sz="1400" b="1" i="0">
                <a:solidFill>
                  <a:srgbClr val="1F4E79"/>
                </a:solidFill>
                <a:latin typeface="Calibri"/>
              </a:rPr>
              <a:t>Reciprocal Rank Fusion</a:t>
            </a:r>
            <a:r>
              <a:rPr sz="1400" b="0" i="0">
                <a:solidFill>
                  <a:srgbClr val="242424"/>
                </a:solidFill>
                <a:latin typeface="Calibri"/>
              </a:rPr>
              <a:t>  —  Σ 1 / (60 + rank)</a:t>
            </a:r>
          </a:p>
        </p:txBody>
      </p:sp>
      <p:sp>
        <p:nvSpPr>
          <p:cNvPr id="16" name="Rounded Rectangle 15"/>
          <p:cNvSpPr/>
          <p:nvPr/>
        </p:nvSpPr>
        <p:spPr>
          <a:xfrm>
            <a:off x="320040" y="3648456"/>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29768" y="3739896"/>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8" name="TextBox 17"/>
          <p:cNvSpPr txBox="1"/>
          <p:nvPr/>
        </p:nvSpPr>
        <p:spPr>
          <a:xfrm>
            <a:off x="914400" y="3666744"/>
            <a:ext cx="4709160" cy="493776"/>
          </a:xfrm>
          <a:prstGeom prst="rect">
            <a:avLst/>
          </a:prstGeom>
          <a:noFill/>
        </p:spPr>
        <p:txBody>
          <a:bodyPr wrap="square" anchor="ctr" lIns="0" rIns="0" tIns="0" bIns="0">
            <a:spAutoFit/>
          </a:bodyPr>
          <a:lstStyle/>
          <a:p>
            <a:pPr algn="l">
              <a:spcBef>
                <a:spcPts val="0"/>
              </a:spcBef>
              <a:spcAft>
                <a:spcPts val="400"/>
              </a:spcAft>
            </a:pPr>
            <a:r>
              <a:rPr sz="1400" b="1" i="0">
                <a:solidFill>
                  <a:srgbClr val="1F4E79"/>
                </a:solidFill>
                <a:latin typeface="Calibri"/>
              </a:rPr>
              <a:t>Cross-encoder re-ranker</a:t>
            </a:r>
            <a:r>
              <a:rPr sz="1400" b="0" i="0">
                <a:solidFill>
                  <a:srgbClr val="242424"/>
                </a:solidFill>
                <a:latin typeface="Calibri"/>
              </a:rPr>
              <a:t>  —  re-scores the fused top-20</a:t>
            </a:r>
          </a:p>
        </p:txBody>
      </p:sp>
      <p:sp>
        <p:nvSpPr>
          <p:cNvPr id="19" name="Rounded Rectangle 18"/>
          <p:cNvSpPr/>
          <p:nvPr/>
        </p:nvSpPr>
        <p:spPr>
          <a:xfrm>
            <a:off x="320040" y="4270248"/>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29768" y="4361688"/>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21" name="TextBox 20"/>
          <p:cNvSpPr txBox="1"/>
          <p:nvPr/>
        </p:nvSpPr>
        <p:spPr>
          <a:xfrm>
            <a:off x="914400" y="4288536"/>
            <a:ext cx="4709160" cy="493776"/>
          </a:xfrm>
          <a:prstGeom prst="rect">
            <a:avLst/>
          </a:prstGeom>
          <a:noFill/>
        </p:spPr>
        <p:txBody>
          <a:bodyPr wrap="square" anchor="ctr" lIns="0" rIns="0" tIns="0" bIns="0">
            <a:spAutoFit/>
          </a:bodyPr>
          <a:lstStyle/>
          <a:p>
            <a:pPr algn="l">
              <a:spcBef>
                <a:spcPts val="0"/>
              </a:spcBef>
              <a:spcAft>
                <a:spcPts val="400"/>
              </a:spcAft>
            </a:pPr>
            <a:r>
              <a:rPr sz="1400" b="1" i="0">
                <a:solidFill>
                  <a:srgbClr val="1F4E79"/>
                </a:solidFill>
                <a:latin typeface="Calibri"/>
              </a:rPr>
              <a:t>Rules engine + router</a:t>
            </a:r>
            <a:r>
              <a:rPr sz="1400" b="0" i="0">
                <a:solidFill>
                  <a:srgbClr val="242424"/>
                </a:solidFill>
                <a:latin typeface="Calibri"/>
              </a:rPr>
              <a:t>  —  deterministic coverage decision</a:t>
            </a:r>
          </a:p>
        </p:txBody>
      </p:sp>
      <p:sp>
        <p:nvSpPr>
          <p:cNvPr id="22" name="Rounded Rectangle 21"/>
          <p:cNvSpPr/>
          <p:nvPr/>
        </p:nvSpPr>
        <p:spPr>
          <a:xfrm>
            <a:off x="320040" y="4892040"/>
            <a:ext cx="5394960" cy="530352"/>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29768" y="4983480"/>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24" name="TextBox 23"/>
          <p:cNvSpPr txBox="1"/>
          <p:nvPr/>
        </p:nvSpPr>
        <p:spPr>
          <a:xfrm>
            <a:off x="914400" y="4910328"/>
            <a:ext cx="4709160" cy="493776"/>
          </a:xfrm>
          <a:prstGeom prst="rect">
            <a:avLst/>
          </a:prstGeom>
          <a:noFill/>
        </p:spPr>
        <p:txBody>
          <a:bodyPr wrap="square" anchor="ctr" lIns="0" rIns="0" tIns="0" bIns="0">
            <a:spAutoFit/>
          </a:bodyPr>
          <a:lstStyle/>
          <a:p>
            <a:pPr algn="l">
              <a:spcBef>
                <a:spcPts val="0"/>
              </a:spcBef>
              <a:spcAft>
                <a:spcPts val="400"/>
              </a:spcAft>
            </a:pPr>
            <a:r>
              <a:rPr sz="1400" b="1" i="0">
                <a:solidFill>
                  <a:srgbClr val="1F4E79"/>
                </a:solidFill>
                <a:latin typeface="Calibri"/>
              </a:rPr>
              <a:t>Confidence gate + failover</a:t>
            </a:r>
            <a:r>
              <a:rPr sz="1400" b="0" i="0">
                <a:solidFill>
                  <a:srgbClr val="242424"/>
                </a:solidFill>
                <a:latin typeface="Calibri"/>
              </a:rPr>
              <a:t>  —  defer weak answers; backup LLM</a:t>
            </a:r>
          </a:p>
        </p:txBody>
      </p:sp>
      <p:sp>
        <p:nvSpPr>
          <p:cNvPr id="25" name="TextBox 24"/>
          <p:cNvSpPr txBox="1"/>
          <p:nvPr/>
        </p:nvSpPr>
        <p:spPr>
          <a:xfrm>
            <a:off x="6080760" y="1325880"/>
            <a:ext cx="5669280" cy="365760"/>
          </a:xfrm>
          <a:prstGeom prst="rect">
            <a:avLst/>
          </a:prstGeom>
          <a:noFill/>
        </p:spPr>
        <p:txBody>
          <a:bodyPr wrap="square" anchor="t" lIns="0" rIns="0" tIns="0" bIns="0">
            <a:spAutoFit/>
          </a:bodyPr>
          <a:lstStyle/>
          <a:p>
            <a:pPr algn="l">
              <a:spcBef>
                <a:spcPts val="0"/>
              </a:spcBef>
              <a:spcAft>
                <a:spcPts val="400"/>
              </a:spcAft>
            </a:pPr>
            <a:r>
              <a:rPr sz="1700" b="1" i="0">
                <a:solidFill>
                  <a:srgbClr val="5583D1"/>
                </a:solidFill>
                <a:latin typeface="Calibri"/>
              </a:rPr>
              <a:t>Tools</a:t>
            </a:r>
          </a:p>
        </p:txBody>
      </p:sp>
      <p:graphicFrame>
        <p:nvGraphicFramePr>
          <p:cNvPr id="26" name="Table 25"/>
          <p:cNvGraphicFramePr>
            <a:graphicFrameLocks noGrp="1"/>
          </p:cNvGraphicFramePr>
          <p:nvPr/>
        </p:nvGraphicFramePr>
        <p:xfrm>
          <a:off x="6080760" y="1783080"/>
          <a:ext cx="5715000" cy="3621024"/>
        </p:xfrm>
        <a:graphic>
          <a:graphicData uri="http://schemas.openxmlformats.org/drawingml/2006/table">
            <a:tbl>
              <a:tblPr firstRow="1" bandRow="1">
                <a:tableStyleId>{5940675A-B579-460E-94D1-54222C63F5DA}</a:tableStyleId>
              </a:tblPr>
              <a:tblGrid>
                <a:gridCol w="1783080"/>
                <a:gridCol w="3931920"/>
              </a:tblGrid>
              <a:tr h="402336">
                <a:tc>
                  <a:txBody>
                    <a:bodyPr wrap="square"/>
                    <a:lstStyle/>
                    <a:p>
                      <a:r>
                        <a:rPr sz="1200" b="1">
                          <a:solidFill>
                            <a:srgbClr val="FFFFFF"/>
                          </a:solidFill>
                          <a:latin typeface="Calibri"/>
                        </a:rPr>
                        <a:t>Layer</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1">
                          <a:solidFill>
                            <a:srgbClr val="FFFFFF"/>
                          </a:solidFill>
                          <a:latin typeface="Calibri"/>
                        </a:rPr>
                        <a:t>Tool</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Language</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Python 3.11 · VS Code</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Embeddings</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BGE-M3 (Colab T4 for corpus, OpenRouter for queries)</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Vector store / keyword</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Qdrant · rank_bm25</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LLM</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Gemini 3.6 Flash, failover via OpenRouter</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Speech-to-text</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Groq Whisper large-v3-turbo</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Backend / Frontend</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FastAPI + Uvicorn / Streamlit</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Evaluation</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RAGAS · Recall@5 · MRR · nDCG@5</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02336">
                <a:tc>
                  <a:txBody>
                    <a:bodyPr wrap="square"/>
                    <a:lstStyle/>
                    <a:p>
                      <a:r>
                        <a:rPr sz="1200" b="1">
                          <a:solidFill>
                            <a:srgbClr val="242424"/>
                          </a:solidFill>
                          <a:latin typeface="Calibri"/>
                        </a:rPr>
                        <a:t>Deployment</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200" b="0">
                          <a:solidFill>
                            <a:srgbClr val="242424"/>
                          </a:solidFill>
                          <a:latin typeface="Calibri"/>
                        </a:rPr>
                        <a:t>Render (API) · Streamlit Community Cloud (UI)</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Retrieval</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graphicFrame>
        <p:nvGraphicFramePr>
          <p:cNvPr id="6" name="Table 5"/>
          <p:cNvGraphicFramePr>
            <a:graphicFrameLocks noGrp="1"/>
          </p:cNvGraphicFramePr>
          <p:nvPr/>
        </p:nvGraphicFramePr>
        <p:xfrm>
          <a:off x="320040" y="1371600"/>
          <a:ext cx="6675120" cy="2286000"/>
        </p:xfrm>
        <a:graphic>
          <a:graphicData uri="http://schemas.openxmlformats.org/drawingml/2006/table">
            <a:tbl>
              <a:tblPr firstRow="1" bandRow="1">
                <a:tableStyleId>{5940675A-B579-460E-94D1-54222C63F5DA}</a:tableStyleId>
              </a:tblPr>
              <a:tblGrid>
                <a:gridCol w="2560320"/>
                <a:gridCol w="1371600"/>
                <a:gridCol w="1371600"/>
                <a:gridCol w="1371600"/>
              </a:tblGrid>
              <a:tr h="457200">
                <a:tc>
                  <a:txBody>
                    <a:bodyPr wrap="square"/>
                    <a:lstStyle/>
                    <a:p>
                      <a:r>
                        <a:rPr sz="1300" b="1">
                          <a:solidFill>
                            <a:srgbClr val="FFFFFF"/>
                          </a:solidFill>
                          <a:latin typeface="Calibri"/>
                        </a:rPr>
                        <a:t>Retriever (gold set)</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Recall@5</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MRR</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nDCG@5</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r>
              <a:tr h="457200">
                <a:tc>
                  <a:txBody>
                    <a:bodyPr wrap="square"/>
                    <a:lstStyle/>
                    <a:p>
                      <a:r>
                        <a:rPr sz="1300" b="1">
                          <a:solidFill>
                            <a:srgbClr val="242424"/>
                          </a:solidFill>
                          <a:latin typeface="Calibri"/>
                        </a:rPr>
                        <a:t>BM25 only</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57200">
                <a:tc>
                  <a:txBody>
                    <a:bodyPr wrap="square"/>
                    <a:lstStyle/>
                    <a:p>
                      <a:r>
                        <a:rPr sz="1300" b="1">
                          <a:solidFill>
                            <a:srgbClr val="242424"/>
                          </a:solidFill>
                          <a:latin typeface="Calibri"/>
                        </a:rPr>
                        <a:t>Dense only (BGE-M3)</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r h="457200">
                <a:tc>
                  <a:txBody>
                    <a:bodyPr wrap="square"/>
                    <a:lstStyle/>
                    <a:p>
                      <a:r>
                        <a:rPr sz="1300" b="1">
                          <a:solidFill>
                            <a:srgbClr val="1F4E79"/>
                          </a:solidFill>
                          <a:latin typeface="Calibri"/>
                        </a:rPr>
                        <a:t>Hybrid (RRF)</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57200">
                <a:tc>
                  <a:txBody>
                    <a:bodyPr wrap="square"/>
                    <a:lstStyle/>
                    <a:p>
                      <a:r>
                        <a:rPr sz="1300" b="1">
                          <a:solidFill>
                            <a:srgbClr val="1F4E79"/>
                          </a:solidFill>
                          <a:latin typeface="Calibri"/>
                        </a:rPr>
                        <a:t>Hybrid + re-rank</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bl>
          </a:graphicData>
        </a:graphic>
      </p:graphicFrame>
      <p:graphicFrame>
        <p:nvGraphicFramePr>
          <p:cNvPr id="7" name="Table 6"/>
          <p:cNvGraphicFramePr>
            <a:graphicFrameLocks noGrp="1"/>
          </p:cNvGraphicFramePr>
          <p:nvPr/>
        </p:nvGraphicFramePr>
        <p:xfrm>
          <a:off x="320040" y="3840480"/>
          <a:ext cx="6675120" cy="1234440"/>
        </p:xfrm>
        <a:graphic>
          <a:graphicData uri="http://schemas.openxmlformats.org/drawingml/2006/table">
            <a:tbl>
              <a:tblPr firstRow="1" bandRow="1">
                <a:tableStyleId>{5940675A-B579-460E-94D1-54222C63F5DA}</a:tableStyleId>
              </a:tblPr>
              <a:tblGrid>
                <a:gridCol w="2560320"/>
                <a:gridCol w="1371600"/>
                <a:gridCol w="1371600"/>
                <a:gridCol w="1371600"/>
              </a:tblGrid>
              <a:tr h="411480">
                <a:tc>
                  <a:txBody>
                    <a:bodyPr wrap="square"/>
                    <a:lstStyle/>
                    <a:p>
                      <a:r>
                        <a:rPr sz="1300" b="1">
                          <a:solidFill>
                            <a:srgbClr val="FFFFFF"/>
                          </a:solidFill>
                          <a:latin typeface="Calibri"/>
                        </a:rPr>
                        <a:t>Recall@5 by query type</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BM25</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Dense</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Hybrid</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r>
              <a:tr h="411480">
                <a:tc>
                  <a:txBody>
                    <a:bodyPr wrap="square"/>
                    <a:lstStyle/>
                    <a:p>
                      <a:r>
                        <a:rPr sz="1300" b="1">
                          <a:solidFill>
                            <a:srgbClr val="242424"/>
                          </a:solidFill>
                          <a:latin typeface="Calibri"/>
                        </a:rPr>
                        <a:t>Exact DTC code</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11480">
                <a:tc>
                  <a:txBody>
                    <a:bodyPr wrap="square"/>
                    <a:lstStyle/>
                    <a:p>
                      <a:r>
                        <a:rPr sz="1300" b="1">
                          <a:solidFill>
                            <a:srgbClr val="242424"/>
                          </a:solidFill>
                          <a:latin typeface="Calibri"/>
                        </a:rPr>
                        <a:t>Symptom paraphrase</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bl>
          </a:graphicData>
        </a:graphic>
      </p:graphicFrame>
      <p:sp>
        <p:nvSpPr>
          <p:cNvPr id="8" name="Rounded Rectangle 7"/>
          <p:cNvSpPr/>
          <p:nvPr/>
        </p:nvSpPr>
        <p:spPr>
          <a:xfrm>
            <a:off x="7315200" y="1371600"/>
            <a:ext cx="4480560" cy="365760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79" y="1481328"/>
            <a:ext cx="4114800" cy="3474720"/>
          </a:xfrm>
          <a:prstGeom prst="rect">
            <a:avLst/>
          </a:prstGeom>
          <a:noFill/>
        </p:spPr>
        <p:txBody>
          <a:bodyPr wrap="square" anchor="t" lIns="0" rIns="0" tIns="0" bIns="0">
            <a:spAutoFit/>
          </a:bodyPr>
          <a:lstStyle/>
          <a:p>
            <a:pPr algn="l">
              <a:spcBef>
                <a:spcPts val="0"/>
              </a:spcBef>
              <a:spcAft>
                <a:spcPts val="600"/>
              </a:spcAft>
            </a:pPr>
            <a:r>
              <a:rPr sz="1600" b="1" i="0">
                <a:solidFill>
                  <a:srgbClr val="1F4E79"/>
                </a:solidFill>
                <a:latin typeface="Calibri"/>
              </a:rPr>
              <a:t>What the ablation shows</a:t>
            </a:r>
          </a:p>
          <a:p>
            <a:pPr algn="l" marL="201168" indent="-201168">
              <a:spcBef>
                <a:spcPts val="0"/>
              </a:spcBef>
              <a:spcAft>
                <a:spcPts val="500"/>
              </a:spcAft>
              <a:buClr>
                <a:srgbClr val="5583D1"/>
              </a:buClr>
              <a:buFont typeface="Arial"/>
              <a:buChar char="•"/>
            </a:pPr>
            <a:r>
              <a:rPr sz="1300" b="0" i="0">
                <a:solidFill>
                  <a:srgbClr val="242424"/>
                </a:solidFill>
                <a:latin typeface="Calibri"/>
              </a:rPr>
              <a:t>BM25 is strongest on exact codes; dense is strongest on paraphrased symptoms</a:t>
            </a:r>
          </a:p>
          <a:p>
            <a:pPr algn="l" marL="201168" indent="-201168">
              <a:spcBef>
                <a:spcPts val="0"/>
              </a:spcBef>
              <a:spcAft>
                <a:spcPts val="500"/>
              </a:spcAft>
              <a:buClr>
                <a:srgbClr val="5583D1"/>
              </a:buClr>
              <a:buFont typeface="Arial"/>
              <a:buChar char="•"/>
            </a:pPr>
            <a:r>
              <a:rPr sz="1300" b="0" i="0">
                <a:solidFill>
                  <a:srgbClr val="242424"/>
                </a:solidFill>
                <a:latin typeface="Calibri"/>
              </a:rPr>
              <a:t>RRF combines both, so hybrid leads overall without any score tuning</a:t>
            </a:r>
          </a:p>
          <a:p>
            <a:pPr algn="l" marL="201168" indent="-201168">
              <a:spcBef>
                <a:spcPts val="0"/>
              </a:spcBef>
              <a:spcAft>
                <a:spcPts val="500"/>
              </a:spcAft>
              <a:buClr>
                <a:srgbClr val="5583D1"/>
              </a:buClr>
              <a:buFont typeface="Arial"/>
              <a:buChar char="•"/>
            </a:pPr>
            <a:r>
              <a:rPr sz="1300" b="0" i="0">
                <a:solidFill>
                  <a:srgbClr val="242424"/>
                </a:solidFill>
                <a:latin typeface="Calibri"/>
              </a:rPr>
              <a:t>Example: for "rattling noise when accelerating", the fused #1 chunk was in neither retriever's own top-5</a:t>
            </a:r>
          </a:p>
          <a:p>
            <a:pPr algn="l" marL="201168" indent="-201168">
              <a:spcBef>
                <a:spcPts val="0"/>
              </a:spcBef>
              <a:spcAft>
                <a:spcPts val="0"/>
              </a:spcAft>
              <a:buClr>
                <a:srgbClr val="5583D1"/>
              </a:buClr>
              <a:buFont typeface="Arial"/>
              <a:buChar char="•"/>
            </a:pPr>
            <a:r>
              <a:rPr sz="1300" b="0" i="0">
                <a:solidFill>
                  <a:srgbClr val="242424"/>
                </a:solidFill>
                <a:latin typeface="Calibri"/>
              </a:rPr>
              <a:t>Gold set: xx queries across diagnosis, DTC-code and warranty questions</a:t>
            </a:r>
          </a:p>
        </p:txBody>
      </p:sp>
      <p:sp>
        <p:nvSpPr>
          <p:cNvPr id="10" name="Rounded Rectangle 9"/>
          <p:cNvSpPr/>
          <p:nvPr/>
        </p:nvSpPr>
        <p:spPr>
          <a:xfrm>
            <a:off x="320040" y="5230368"/>
            <a:ext cx="11475720" cy="384048"/>
          </a:xfrm>
          <a:prstGeom prst="roundRect">
            <a:avLst>
              <a:gd name="adj" fmla="val 8000"/>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5257800"/>
            <a:ext cx="11247120" cy="329184"/>
          </a:xfrm>
          <a:prstGeom prst="rect">
            <a:avLst/>
          </a:prstGeom>
          <a:noFill/>
        </p:spPr>
        <p:txBody>
          <a:bodyPr wrap="square" anchor="ctr" lIns="0" rIns="0" tIns="0" bIns="0">
            <a:spAutoFit/>
          </a:bodyPr>
          <a:lstStyle/>
          <a:p>
            <a:pPr algn="l">
              <a:spcBef>
                <a:spcPts val="0"/>
              </a:spcBef>
              <a:spcAft>
                <a:spcPts val="400"/>
              </a:spcAft>
            </a:pPr>
            <a:r>
              <a:rPr sz="1200" b="1" i="0">
                <a:solidFill>
                  <a:srgbClr val="B36B00"/>
                </a:solidFill>
                <a:latin typeface="Calibri"/>
              </a:rPr>
              <a:t>Values shown as x.xx / xx: </a:t>
            </a:r>
            <a:r>
              <a:rPr sz="1200" b="0" i="0">
                <a:solidFill>
                  <a:srgbClr val="242424"/>
                </a:solidFill>
                <a:latin typeface="Calibri"/>
              </a:rPr>
              <a:t>replace with the numbers from your final evaluation run (src/eval/run_eval.py) before presenting.</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Answers &amp; System</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graphicFrame>
        <p:nvGraphicFramePr>
          <p:cNvPr id="6" name="Table 5"/>
          <p:cNvGraphicFramePr>
            <a:graphicFrameLocks noGrp="1"/>
          </p:cNvGraphicFramePr>
          <p:nvPr/>
        </p:nvGraphicFramePr>
        <p:xfrm>
          <a:off x="320040" y="1371600"/>
          <a:ext cx="5486400" cy="2194560"/>
        </p:xfrm>
        <a:graphic>
          <a:graphicData uri="http://schemas.openxmlformats.org/drawingml/2006/table">
            <a:tbl>
              <a:tblPr firstRow="1" bandRow="1">
                <a:tableStyleId>{5940675A-B579-460E-94D1-54222C63F5DA}</a:tableStyleId>
              </a:tblPr>
              <a:tblGrid>
                <a:gridCol w="3657600"/>
                <a:gridCol w="1828800"/>
              </a:tblGrid>
              <a:tr h="438912">
                <a:tc>
                  <a:txBody>
                    <a:bodyPr wrap="square"/>
                    <a:lstStyle/>
                    <a:p>
                      <a:r>
                        <a:rPr sz="1300" b="1">
                          <a:solidFill>
                            <a:srgbClr val="FFFFFF"/>
                          </a:solidFill>
                          <a:latin typeface="Calibri"/>
                        </a:rPr>
                        <a:t>RAGAS metric</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Score</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r>
              <a:tr h="438912">
                <a:tc>
                  <a:txBody>
                    <a:bodyPr wrap="square"/>
                    <a:lstStyle/>
                    <a:p>
                      <a:r>
                        <a:rPr sz="1300" b="1">
                          <a:solidFill>
                            <a:srgbClr val="242424"/>
                          </a:solidFill>
                          <a:latin typeface="Calibri"/>
                        </a:rPr>
                        <a:t>Faithfulness</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38912">
                <a:tc>
                  <a:txBody>
                    <a:bodyPr wrap="square"/>
                    <a:lstStyle/>
                    <a:p>
                      <a:r>
                        <a:rPr sz="1300" b="1">
                          <a:solidFill>
                            <a:srgbClr val="242424"/>
                          </a:solidFill>
                          <a:latin typeface="Calibri"/>
                        </a:rPr>
                        <a:t>Answer relevancy</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r h="438912">
                <a:tc>
                  <a:txBody>
                    <a:bodyPr wrap="square"/>
                    <a:lstStyle/>
                    <a:p>
                      <a:r>
                        <a:rPr sz="1300" b="1">
                          <a:solidFill>
                            <a:srgbClr val="242424"/>
                          </a:solidFill>
                          <a:latin typeface="Calibri"/>
                        </a:rPr>
                        <a:t>Context precision</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38912">
                <a:tc>
                  <a:txBody>
                    <a:bodyPr wrap="square"/>
                    <a:lstStyle/>
                    <a:p>
                      <a:r>
                        <a:rPr sz="1300" b="1">
                          <a:solidFill>
                            <a:srgbClr val="242424"/>
                          </a:solidFill>
                          <a:latin typeface="Calibri"/>
                        </a:rPr>
                        <a:t>Context recall</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x.xx</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bl>
          </a:graphicData>
        </a:graphic>
      </p:graphicFrame>
      <p:graphicFrame>
        <p:nvGraphicFramePr>
          <p:cNvPr id="7" name="Table 6"/>
          <p:cNvGraphicFramePr>
            <a:graphicFrameLocks noGrp="1"/>
          </p:cNvGraphicFramePr>
          <p:nvPr/>
        </p:nvGraphicFramePr>
        <p:xfrm>
          <a:off x="320040" y="3794760"/>
          <a:ext cx="5486400" cy="1234440"/>
        </p:xfrm>
        <a:graphic>
          <a:graphicData uri="http://schemas.openxmlformats.org/drawingml/2006/table">
            <a:tbl>
              <a:tblPr firstRow="1" bandRow="1">
                <a:tableStyleId>{5940675A-B579-460E-94D1-54222C63F5DA}</a:tableStyleId>
              </a:tblPr>
              <a:tblGrid>
                <a:gridCol w="3657600"/>
                <a:gridCol w="1828800"/>
              </a:tblGrid>
              <a:tr h="411480">
                <a:tc>
                  <a:txBody>
                    <a:bodyPr wrap="square"/>
                    <a:lstStyle/>
                    <a:p>
                      <a:r>
                        <a:rPr sz="1300" b="1">
                          <a:solidFill>
                            <a:srgbClr val="FFFFFF"/>
                          </a:solidFill>
                          <a:latin typeface="Calibri"/>
                        </a:rPr>
                        <a:t>System behaviour</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FFFFFF"/>
                          </a:solidFill>
                          <a:latin typeface="Calibri"/>
                        </a:rPr>
                        <a:t>Result</a:t>
                      </a:r>
                    </a:p>
                  </a:txBody>
                  <a:tcPr marL="73152" marR="73152" marT="27432" marB="27432" anchor="ctr">
                    <a:solidFill>
                      <a:srgbClr val="1F4E79"/>
                    </a:solidFill>
                    <a:lnL w="6350">
                      <a:solidFill>
                        <a:srgbClr val="C9D6E6"/>
                      </a:solidFill>
                    </a:lnL>
                    <a:lnR w="6350">
                      <a:solidFill>
                        <a:srgbClr val="C9D6E6"/>
                      </a:solidFill>
                    </a:lnR>
                    <a:lnT w="6350">
                      <a:solidFill>
                        <a:srgbClr val="C9D6E6"/>
                      </a:solidFill>
                    </a:lnT>
                    <a:lnB w="6350">
                      <a:solidFill>
                        <a:srgbClr val="C9D6E6"/>
                      </a:solidFill>
                    </a:lnB>
                  </a:tcPr>
                </a:tc>
              </a:tr>
              <a:tr h="411480">
                <a:tc>
                  <a:txBody>
                    <a:bodyPr wrap="square"/>
                    <a:lstStyle/>
                    <a:p>
                      <a:r>
                        <a:rPr sz="1300" b="1">
                          <a:solidFill>
                            <a:srgbClr val="242424"/>
                          </a:solidFill>
                          <a:latin typeface="Calibri"/>
                        </a:rPr>
                        <a:t>Median end-to-end latency</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 s</a:t>
                      </a:r>
                    </a:p>
                  </a:txBody>
                  <a:tcPr marL="73152" marR="73152" marT="27432" marB="27432" anchor="ctr">
                    <a:solidFill>
                      <a:srgbClr val="FFFFFF"/>
                    </a:solidFill>
                    <a:lnL w="6350">
                      <a:solidFill>
                        <a:srgbClr val="C9D6E6"/>
                      </a:solidFill>
                    </a:lnL>
                    <a:lnR w="6350">
                      <a:solidFill>
                        <a:srgbClr val="C9D6E6"/>
                      </a:solidFill>
                    </a:lnR>
                    <a:lnT w="6350">
                      <a:solidFill>
                        <a:srgbClr val="C9D6E6"/>
                      </a:solidFill>
                    </a:lnT>
                    <a:lnB w="6350">
                      <a:solidFill>
                        <a:srgbClr val="C9D6E6"/>
                      </a:solidFill>
                    </a:lnB>
                  </a:tcPr>
                </a:tc>
              </a:tr>
              <a:tr h="411480">
                <a:tc>
                  <a:txBody>
                    <a:bodyPr wrap="square"/>
                    <a:lstStyle/>
                    <a:p>
                      <a:r>
                        <a:rPr sz="1300" b="1">
                          <a:solidFill>
                            <a:srgbClr val="242424"/>
                          </a:solidFill>
                          <a:latin typeface="Calibri"/>
                        </a:rPr>
                        <a:t>Answers deferred by confidence gate</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c>
                  <a:txBody>
                    <a:bodyPr wrap="square"/>
                    <a:lstStyle/>
                    <a:p>
                      <a:r>
                        <a:rPr sz="1300" b="1">
                          <a:solidFill>
                            <a:srgbClr val="B36B00"/>
                          </a:solidFill>
                          <a:latin typeface="Calibri"/>
                        </a:rPr>
                        <a:t>xx %</a:t>
                      </a:r>
                    </a:p>
                  </a:txBody>
                  <a:tcPr marL="73152" marR="73152" marT="27432" marB="27432" anchor="ctr">
                    <a:solidFill>
                      <a:srgbClr val="EAF2FB"/>
                    </a:solidFill>
                    <a:lnL w="6350">
                      <a:solidFill>
                        <a:srgbClr val="C9D6E6"/>
                      </a:solidFill>
                    </a:lnL>
                    <a:lnR w="6350">
                      <a:solidFill>
                        <a:srgbClr val="C9D6E6"/>
                      </a:solidFill>
                    </a:lnR>
                    <a:lnT w="6350">
                      <a:solidFill>
                        <a:srgbClr val="C9D6E6"/>
                      </a:solidFill>
                    </a:lnT>
                    <a:lnB w="6350">
                      <a:solidFill>
                        <a:srgbClr val="C9D6E6"/>
                      </a:solidFill>
                    </a:lnB>
                  </a:tcPr>
                </a:tc>
              </a:tr>
            </a:tbl>
          </a:graphicData>
        </a:graphic>
      </p:graphicFrame>
      <p:sp>
        <p:nvSpPr>
          <p:cNvPr id="8" name="Rounded Rectangle 7"/>
          <p:cNvSpPr/>
          <p:nvPr/>
        </p:nvSpPr>
        <p:spPr>
          <a:xfrm>
            <a:off x="6172200" y="1371600"/>
            <a:ext cx="5623560" cy="8229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55080" y="1417320"/>
            <a:ext cx="1371600" cy="731520"/>
          </a:xfrm>
          <a:prstGeom prst="rect">
            <a:avLst/>
          </a:prstGeom>
          <a:noFill/>
        </p:spPr>
        <p:txBody>
          <a:bodyPr wrap="square" anchor="ctr" lIns="0" rIns="0" tIns="0" bIns="0">
            <a:spAutoFit/>
          </a:bodyPr>
          <a:lstStyle/>
          <a:p>
            <a:pPr algn="l">
              <a:spcBef>
                <a:spcPts val="0"/>
              </a:spcBef>
              <a:spcAft>
                <a:spcPts val="400"/>
              </a:spcAft>
            </a:pPr>
            <a:r>
              <a:rPr sz="2200" b="1" i="0">
                <a:solidFill>
                  <a:srgbClr val="1F4E79"/>
                </a:solidFill>
                <a:latin typeface="Calibri"/>
              </a:rPr>
              <a:t>6 / 6</a:t>
            </a:r>
          </a:p>
        </p:txBody>
      </p:sp>
      <p:sp>
        <p:nvSpPr>
          <p:cNvPr id="10" name="TextBox 9"/>
          <p:cNvSpPr txBox="1"/>
          <p:nvPr/>
        </p:nvSpPr>
        <p:spPr>
          <a:xfrm>
            <a:off x="7726679" y="1417320"/>
            <a:ext cx="3931920" cy="731520"/>
          </a:xfrm>
          <a:prstGeom prst="rect">
            <a:avLst/>
          </a:prstGeom>
          <a:noFill/>
        </p:spPr>
        <p:txBody>
          <a:bodyPr wrap="square" anchor="ctr" lIns="0" rIns="0" tIns="0" bIns="0">
            <a:spAutoFit/>
          </a:bodyPr>
          <a:lstStyle/>
          <a:p>
            <a:pPr algn="l">
              <a:spcBef>
                <a:spcPts val="0"/>
              </a:spcBef>
              <a:spcAft>
                <a:spcPts val="400"/>
              </a:spcAft>
            </a:pPr>
            <a:r>
              <a:rPr sz="1300" b="0" i="0">
                <a:solidFill>
                  <a:srgbClr val="242424"/>
                </a:solidFill>
                <a:latin typeface="Calibri"/>
              </a:rPr>
              <a:t>rules-engine test cases correct, incl. boundary and unknown manufacturer</a:t>
            </a:r>
          </a:p>
        </p:txBody>
      </p:sp>
      <p:sp>
        <p:nvSpPr>
          <p:cNvPr id="11" name="Rounded Rectangle 10"/>
          <p:cNvSpPr/>
          <p:nvPr/>
        </p:nvSpPr>
        <p:spPr>
          <a:xfrm>
            <a:off x="6172200" y="2313432"/>
            <a:ext cx="5623560" cy="8229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55080" y="2359152"/>
            <a:ext cx="1371600" cy="731520"/>
          </a:xfrm>
          <a:prstGeom prst="rect">
            <a:avLst/>
          </a:prstGeom>
          <a:noFill/>
        </p:spPr>
        <p:txBody>
          <a:bodyPr wrap="square" anchor="ctr" lIns="0" rIns="0" tIns="0" bIns="0">
            <a:spAutoFit/>
          </a:bodyPr>
          <a:lstStyle/>
          <a:p>
            <a:pPr algn="l">
              <a:spcBef>
                <a:spcPts val="0"/>
              </a:spcBef>
              <a:spcAft>
                <a:spcPts val="400"/>
              </a:spcAft>
            </a:pPr>
            <a:r>
              <a:rPr sz="2200" b="1" i="0">
                <a:solidFill>
                  <a:srgbClr val="1F4E79"/>
                </a:solidFill>
                <a:latin typeface="Calibri"/>
              </a:rPr>
              <a:t>5 / 5</a:t>
            </a:r>
          </a:p>
        </p:txBody>
      </p:sp>
      <p:sp>
        <p:nvSpPr>
          <p:cNvPr id="13" name="TextBox 12"/>
          <p:cNvSpPr txBox="1"/>
          <p:nvPr/>
        </p:nvSpPr>
        <p:spPr>
          <a:xfrm>
            <a:off x="7726679" y="2359152"/>
            <a:ext cx="3931920" cy="731520"/>
          </a:xfrm>
          <a:prstGeom prst="rect">
            <a:avLst/>
          </a:prstGeom>
          <a:noFill/>
        </p:spPr>
        <p:txBody>
          <a:bodyPr wrap="square" anchor="ctr" lIns="0" rIns="0" tIns="0" bIns="0">
            <a:spAutoFit/>
          </a:bodyPr>
          <a:lstStyle/>
          <a:p>
            <a:pPr algn="l">
              <a:spcBef>
                <a:spcPts val="0"/>
              </a:spcBef>
              <a:spcAft>
                <a:spcPts val="400"/>
              </a:spcAft>
            </a:pPr>
            <a:r>
              <a:rPr sz="1300" b="0" i="0">
                <a:solidFill>
                  <a:srgbClr val="242424"/>
                </a:solidFill>
                <a:latin typeface="Calibri"/>
              </a:rPr>
              <a:t>router test queries routed correctly</a:t>
            </a:r>
          </a:p>
        </p:txBody>
      </p:sp>
      <p:sp>
        <p:nvSpPr>
          <p:cNvPr id="14" name="Rounded Rectangle 13"/>
          <p:cNvSpPr/>
          <p:nvPr/>
        </p:nvSpPr>
        <p:spPr>
          <a:xfrm>
            <a:off x="6172200" y="3255264"/>
            <a:ext cx="5623560" cy="8229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55080" y="3300984"/>
            <a:ext cx="1371600" cy="731520"/>
          </a:xfrm>
          <a:prstGeom prst="rect">
            <a:avLst/>
          </a:prstGeom>
          <a:noFill/>
        </p:spPr>
        <p:txBody>
          <a:bodyPr wrap="square" anchor="ctr" lIns="0" rIns="0" tIns="0" bIns="0">
            <a:spAutoFit/>
          </a:bodyPr>
          <a:lstStyle/>
          <a:p>
            <a:pPr algn="l">
              <a:spcBef>
                <a:spcPts val="0"/>
              </a:spcBef>
              <a:spcAft>
                <a:spcPts val="400"/>
              </a:spcAft>
            </a:pPr>
            <a:r>
              <a:rPr sz="2200" b="1" i="0">
                <a:solidFill>
                  <a:srgbClr val="1F4E79"/>
                </a:solidFill>
                <a:latin typeface="Calibri"/>
              </a:rPr>
              <a:t>2 LLMs</a:t>
            </a:r>
          </a:p>
        </p:txBody>
      </p:sp>
      <p:sp>
        <p:nvSpPr>
          <p:cNvPr id="16" name="TextBox 15"/>
          <p:cNvSpPr txBox="1"/>
          <p:nvPr/>
        </p:nvSpPr>
        <p:spPr>
          <a:xfrm>
            <a:off x="7726679" y="3300984"/>
            <a:ext cx="3931920" cy="731520"/>
          </a:xfrm>
          <a:prstGeom prst="rect">
            <a:avLst/>
          </a:prstGeom>
          <a:noFill/>
        </p:spPr>
        <p:txBody>
          <a:bodyPr wrap="square" anchor="ctr" lIns="0" rIns="0" tIns="0" bIns="0">
            <a:spAutoFit/>
          </a:bodyPr>
          <a:lstStyle/>
          <a:p>
            <a:pPr algn="l">
              <a:spcBef>
                <a:spcPts val="0"/>
              </a:spcBef>
              <a:spcAft>
                <a:spcPts val="400"/>
              </a:spcAft>
            </a:pPr>
            <a:r>
              <a:rPr sz="1300" b="0" i="0">
                <a:solidFill>
                  <a:srgbClr val="242424"/>
                </a:solidFill>
                <a:latin typeface="Calibri"/>
              </a:rPr>
              <a:t>Gemini primary + OpenRouter fallback — answers still delivered during a Gemini 503 outage (tested)</a:t>
            </a:r>
          </a:p>
        </p:txBody>
      </p:sp>
      <p:sp>
        <p:nvSpPr>
          <p:cNvPr id="17" name="Rounded Rectangle 16"/>
          <p:cNvSpPr/>
          <p:nvPr/>
        </p:nvSpPr>
        <p:spPr>
          <a:xfrm>
            <a:off x="6172200" y="4197096"/>
            <a:ext cx="5623560" cy="82296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4242816"/>
            <a:ext cx="1371600" cy="731520"/>
          </a:xfrm>
          <a:prstGeom prst="rect">
            <a:avLst/>
          </a:prstGeom>
          <a:noFill/>
        </p:spPr>
        <p:txBody>
          <a:bodyPr wrap="square" anchor="ctr" lIns="0" rIns="0" tIns="0" bIns="0">
            <a:spAutoFit/>
          </a:bodyPr>
          <a:lstStyle/>
          <a:p>
            <a:pPr algn="l">
              <a:spcBef>
                <a:spcPts val="0"/>
              </a:spcBef>
              <a:spcAft>
                <a:spcPts val="400"/>
              </a:spcAft>
            </a:pPr>
            <a:r>
              <a:rPr sz="2200" b="1" i="0">
                <a:solidFill>
                  <a:srgbClr val="1F4E79"/>
                </a:solidFill>
                <a:latin typeface="Calibri"/>
              </a:rPr>
              <a:t>2</a:t>
            </a:r>
          </a:p>
        </p:txBody>
      </p:sp>
      <p:sp>
        <p:nvSpPr>
          <p:cNvPr id="19" name="TextBox 18"/>
          <p:cNvSpPr txBox="1"/>
          <p:nvPr/>
        </p:nvSpPr>
        <p:spPr>
          <a:xfrm>
            <a:off x="7726679" y="4242816"/>
            <a:ext cx="3931920" cy="731520"/>
          </a:xfrm>
          <a:prstGeom prst="rect">
            <a:avLst/>
          </a:prstGeom>
          <a:noFill/>
        </p:spPr>
        <p:txBody>
          <a:bodyPr wrap="square" anchor="ctr" lIns="0" rIns="0" tIns="0" bIns="0">
            <a:spAutoFit/>
          </a:bodyPr>
          <a:lstStyle/>
          <a:p>
            <a:pPr algn="l">
              <a:spcBef>
                <a:spcPts val="0"/>
              </a:spcBef>
              <a:spcAft>
                <a:spcPts val="400"/>
              </a:spcAft>
            </a:pPr>
            <a:r>
              <a:rPr sz="1300" b="0" i="0">
                <a:solidFill>
                  <a:srgbClr val="242424"/>
                </a:solidFill>
                <a:latin typeface="Calibri"/>
              </a:rPr>
              <a:t>deployed services: Render (API) + Streamlit Cloud (UI)</a:t>
            </a:r>
          </a:p>
        </p:txBody>
      </p:sp>
      <p:sp>
        <p:nvSpPr>
          <p:cNvPr id="20" name="Rounded Rectangle 19"/>
          <p:cNvSpPr/>
          <p:nvPr/>
        </p:nvSpPr>
        <p:spPr>
          <a:xfrm>
            <a:off x="320040" y="5230368"/>
            <a:ext cx="11475720" cy="384048"/>
          </a:xfrm>
          <a:prstGeom prst="roundRect">
            <a:avLst>
              <a:gd name="adj" fmla="val 8000"/>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5257800"/>
            <a:ext cx="11247120" cy="329184"/>
          </a:xfrm>
          <a:prstGeom prst="rect">
            <a:avLst/>
          </a:prstGeom>
          <a:noFill/>
        </p:spPr>
        <p:txBody>
          <a:bodyPr wrap="square" anchor="ctr" lIns="0" rIns="0" tIns="0" bIns="0">
            <a:spAutoFit/>
          </a:bodyPr>
          <a:lstStyle/>
          <a:p>
            <a:pPr algn="l">
              <a:spcBef>
                <a:spcPts val="0"/>
              </a:spcBef>
              <a:spcAft>
                <a:spcPts val="400"/>
              </a:spcAft>
            </a:pPr>
            <a:r>
              <a:rPr sz="1200" b="1" i="0">
                <a:solidFill>
                  <a:srgbClr val="B36B00"/>
                </a:solidFill>
                <a:latin typeface="Calibri"/>
              </a:rPr>
              <a:t>Values shown as x.xx / xx: </a:t>
            </a:r>
            <a:r>
              <a:rPr sz="1200" b="0" i="0">
                <a:solidFill>
                  <a:srgbClr val="242424"/>
                </a:solidFill>
                <a:latin typeface="Calibri"/>
              </a:rPr>
              <a:t>replace with the numbers from your final evaluation run (src/eval/run_eval.py) before presenting.</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6400800" cy="4206240"/>
          </a:xfrm>
          <a:prstGeom prst="rect">
            <a:avLst/>
          </a:prstGeom>
          <a:noFill/>
        </p:spPr>
        <p:txBody>
          <a:bodyPr wrap="square" anchor="t" lIns="45720" rIns="45720">
            <a:spAutoFit/>
          </a:bodyPr>
          <a:lstStyle/>
          <a:p>
            <a:pPr algn="l">
              <a:spcBef>
                <a:spcPts val="0"/>
              </a:spcBef>
              <a:spcAft>
                <a:spcPts val="400"/>
              </a:spcAft>
            </a:pPr>
            <a:r>
              <a:rPr sz="1800" b="1" i="0">
                <a:solidFill>
                  <a:srgbClr val="5583D1"/>
                </a:solidFill>
                <a:latin typeface="Calibri"/>
              </a:rPr>
              <a:t>Contributions</a:t>
            </a:r>
          </a:p>
          <a:p>
            <a:pPr algn="l" marL="201168" indent="-201168">
              <a:spcBef>
                <a:spcPts val="0"/>
              </a:spcBef>
              <a:spcAft>
                <a:spcPts val="400"/>
              </a:spcAft>
              <a:buClr>
                <a:srgbClr val="5583D1"/>
              </a:buClr>
              <a:buFont typeface="Arial"/>
              <a:buChar char="•"/>
            </a:pPr>
            <a:r>
              <a:rPr sz="1500" b="1" i="0">
                <a:solidFill>
                  <a:srgbClr val="1F4E79"/>
                </a:solidFill>
                <a:latin typeface="Calibri"/>
              </a:rPr>
              <a:t>Domain-motivated hybrid retrieval</a:t>
            </a:r>
            <a:r>
              <a:rPr sz="1500" b="0" i="0">
                <a:solidFill>
                  <a:srgbClr val="242424"/>
                </a:solidFill>
                <a:latin typeface="Calibri"/>
              </a:rPr>
              <a:t> — dense + BM25 + RRF + re-ranking, shown by ablation to beat either retriever alone.</a:t>
            </a:r>
          </a:p>
          <a:p>
            <a:pPr algn="l" marL="201168" indent="-201168">
              <a:spcBef>
                <a:spcPts val="0"/>
              </a:spcBef>
              <a:spcAft>
                <a:spcPts val="400"/>
              </a:spcAft>
              <a:buClr>
                <a:srgbClr val="5583D1"/>
              </a:buClr>
              <a:buFont typeface="Arial"/>
              <a:buChar char="•"/>
            </a:pPr>
            <a:r>
              <a:rPr sz="1500" b="1" i="0">
                <a:solidFill>
                  <a:srgbClr val="1F4E79"/>
                </a:solidFill>
                <a:latin typeface="Calibri"/>
              </a:rPr>
              <a:t>Neuro-symbolic warranty validation</a:t>
            </a:r>
            <a:r>
              <a:rPr sz="1500" b="0" i="0">
                <a:solidFill>
                  <a:srgbClr val="242424"/>
                </a:solidFill>
                <a:latin typeface="Calibri"/>
              </a:rPr>
              <a:t> — coverage decided in code, explained by the LLM with citations.</a:t>
            </a:r>
          </a:p>
          <a:p>
            <a:pPr algn="l" marL="201168" indent="-201168">
              <a:spcBef>
                <a:spcPts val="0"/>
              </a:spcBef>
              <a:spcAft>
                <a:spcPts val="400"/>
              </a:spcAft>
              <a:buClr>
                <a:srgbClr val="5583D1"/>
              </a:buClr>
              <a:buFont typeface="Arial"/>
              <a:buChar char="•"/>
            </a:pPr>
            <a:r>
              <a:rPr sz="1500" b="1" i="0">
                <a:solidFill>
                  <a:srgbClr val="1F4E79"/>
                </a:solidFill>
                <a:latin typeface="Calibri"/>
              </a:rPr>
              <a:t>Trustworthy answers</a:t>
            </a:r>
            <a:r>
              <a:rPr sz="1500" b="0" i="0">
                <a:solidFill>
                  <a:srgbClr val="242424"/>
                </a:solidFill>
                <a:latin typeface="Calibri"/>
              </a:rPr>
              <a:t> — source citations, retriever-rank evidence, confidence-gating and LLM failover.</a:t>
            </a:r>
          </a:p>
          <a:p>
            <a:pPr algn="l" marL="201168" indent="-201168">
              <a:spcBef>
                <a:spcPts val="0"/>
              </a:spcBef>
              <a:spcAft>
                <a:spcPts val="400"/>
              </a:spcAft>
              <a:buClr>
                <a:srgbClr val="5583D1"/>
              </a:buClr>
              <a:buFont typeface="Arial"/>
              <a:buChar char="•"/>
            </a:pPr>
            <a:r>
              <a:rPr sz="1500" b="1" i="0">
                <a:solidFill>
                  <a:srgbClr val="1F4E79"/>
                </a:solidFill>
                <a:latin typeface="Calibri"/>
              </a:rPr>
              <a:t>End-to-end product</a:t>
            </a:r>
            <a:r>
              <a:rPr sz="1500" b="0" i="0">
                <a:solidFill>
                  <a:srgbClr val="242424"/>
                </a:solidFill>
                <a:latin typeface="Calibri"/>
              </a:rPr>
              <a:t> — 59,504-chunk corpus, FastAPI + Streamlit with voice, deployed to the cloud.</a:t>
            </a:r>
          </a:p>
        </p:txBody>
      </p:sp>
      <p:sp>
        <p:nvSpPr>
          <p:cNvPr id="7" name="Rounded Rectangle 6"/>
          <p:cNvSpPr/>
          <p:nvPr/>
        </p:nvSpPr>
        <p:spPr>
          <a:xfrm>
            <a:off x="7086600" y="1371600"/>
            <a:ext cx="4709160" cy="1965960"/>
          </a:xfrm>
          <a:prstGeom prst="roundRect">
            <a:avLst>
              <a:gd name="adj" fmla="val 8000"/>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69480" y="1463040"/>
            <a:ext cx="4389120" cy="1828800"/>
          </a:xfrm>
          <a:prstGeom prst="rect">
            <a:avLst/>
          </a:prstGeom>
          <a:noFill/>
        </p:spPr>
        <p:txBody>
          <a:bodyPr wrap="square" anchor="t" lIns="0" rIns="0" tIns="0" bIns="0">
            <a:spAutoFit/>
          </a:bodyPr>
          <a:lstStyle/>
          <a:p>
            <a:pPr algn="l">
              <a:spcBef>
                <a:spcPts val="0"/>
              </a:spcBef>
              <a:spcAft>
                <a:spcPts val="400"/>
              </a:spcAft>
            </a:pPr>
            <a:r>
              <a:rPr sz="1500" b="1" i="0">
                <a:solidFill>
                  <a:srgbClr val="1F4E79"/>
                </a:solidFill>
                <a:latin typeface="Calibri"/>
              </a:rPr>
              <a:t>Limitations</a:t>
            </a:r>
          </a:p>
          <a:p>
            <a:pPr algn="l" marL="201168" indent="-201168">
              <a:spcBef>
                <a:spcPts val="0"/>
              </a:spcBef>
              <a:spcAft>
                <a:spcPts val="200"/>
              </a:spcAft>
              <a:buClr>
                <a:srgbClr val="5583D1"/>
              </a:buClr>
              <a:buFont typeface="Arial"/>
              <a:buChar char="•"/>
            </a:pPr>
            <a:r>
              <a:rPr sz="1400" b="0" i="0">
                <a:solidFill>
                  <a:srgbClr val="242424"/>
                </a:solidFill>
                <a:latin typeface="Calibri"/>
              </a:rPr>
              <a:t>Warranty rules hand-built for six manufacturers</a:t>
            </a:r>
          </a:p>
          <a:p>
            <a:pPr algn="l" marL="201168" indent="-201168">
              <a:spcBef>
                <a:spcPts val="0"/>
              </a:spcBef>
              <a:spcAft>
                <a:spcPts val="200"/>
              </a:spcAft>
              <a:buClr>
                <a:srgbClr val="5583D1"/>
              </a:buClr>
              <a:buFont typeface="Arial"/>
              <a:buChar char="•"/>
            </a:pPr>
            <a:r>
              <a:rPr sz="1400" b="0" i="0">
                <a:solidFill>
                  <a:srgbClr val="242424"/>
                </a:solidFill>
                <a:latin typeface="Calibri"/>
              </a:rPr>
              <a:t>NHTSA text is US-market and noisy</a:t>
            </a:r>
          </a:p>
          <a:p>
            <a:pPr algn="l" marL="201168" indent="-201168">
              <a:spcBef>
                <a:spcPts val="0"/>
              </a:spcBef>
              <a:spcAft>
                <a:spcPts val="0"/>
              </a:spcAft>
              <a:buClr>
                <a:srgbClr val="5583D1"/>
              </a:buClr>
              <a:buFont typeface="Arial"/>
              <a:buChar char="•"/>
            </a:pPr>
            <a:r>
              <a:rPr sz="1400" b="0" i="0">
                <a:solidFill>
                  <a:srgbClr val="242424"/>
                </a:solidFill>
                <a:latin typeface="Calibri"/>
              </a:rPr>
              <a:t>Depends on hosted APIs and network access</a:t>
            </a:r>
          </a:p>
        </p:txBody>
      </p:sp>
      <p:sp>
        <p:nvSpPr>
          <p:cNvPr id="9" name="Rounded Rectangle 8"/>
          <p:cNvSpPr/>
          <p:nvPr/>
        </p:nvSpPr>
        <p:spPr>
          <a:xfrm>
            <a:off x="7086600" y="3520440"/>
            <a:ext cx="4709160" cy="1965960"/>
          </a:xfrm>
          <a:prstGeom prst="roundRect">
            <a:avLst>
              <a:gd name="adj" fmla="val 8000"/>
            </a:avLst>
          </a:prstGeom>
          <a:solidFill>
            <a:srgbClr val="EC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69480" y="3611880"/>
            <a:ext cx="4389120" cy="1828800"/>
          </a:xfrm>
          <a:prstGeom prst="rect">
            <a:avLst/>
          </a:prstGeom>
          <a:noFill/>
        </p:spPr>
        <p:txBody>
          <a:bodyPr wrap="square" anchor="t" lIns="0" rIns="0" tIns="0" bIns="0">
            <a:spAutoFit/>
          </a:bodyPr>
          <a:lstStyle/>
          <a:p>
            <a:pPr algn="l">
              <a:spcBef>
                <a:spcPts val="0"/>
              </a:spcBef>
              <a:spcAft>
                <a:spcPts val="400"/>
              </a:spcAft>
            </a:pPr>
            <a:r>
              <a:rPr sz="1500" b="1" i="0">
                <a:solidFill>
                  <a:srgbClr val="1F4E79"/>
                </a:solidFill>
                <a:latin typeface="Calibri"/>
              </a:rPr>
              <a:t>Future work</a:t>
            </a:r>
          </a:p>
          <a:p>
            <a:pPr algn="l" marL="201168" indent="-201168">
              <a:spcBef>
                <a:spcPts val="0"/>
              </a:spcBef>
              <a:spcAft>
                <a:spcPts val="200"/>
              </a:spcAft>
              <a:buClr>
                <a:srgbClr val="5583D1"/>
              </a:buClr>
              <a:buFont typeface="Arial"/>
              <a:buChar char="•"/>
            </a:pPr>
            <a:r>
              <a:rPr sz="1400" b="0" i="0">
                <a:solidFill>
                  <a:srgbClr val="242424"/>
                </a:solidFill>
                <a:latin typeface="Calibri"/>
              </a:rPr>
              <a:t>Extract warranty rules automatically from booklets</a:t>
            </a:r>
          </a:p>
          <a:p>
            <a:pPr algn="l" marL="201168" indent="-201168">
              <a:spcBef>
                <a:spcPts val="0"/>
              </a:spcBef>
              <a:spcAft>
                <a:spcPts val="200"/>
              </a:spcAft>
              <a:buClr>
                <a:srgbClr val="5583D1"/>
              </a:buClr>
              <a:buFont typeface="Arial"/>
              <a:buChar char="•"/>
            </a:pPr>
            <a:r>
              <a:rPr sz="1400" b="0" i="0">
                <a:solidFill>
                  <a:srgbClr val="242424"/>
                </a:solidFill>
                <a:latin typeface="Calibri"/>
              </a:rPr>
              <a:t>Add Technical Service Bulletins and repair manuals</a:t>
            </a:r>
          </a:p>
          <a:p>
            <a:pPr algn="l" marL="201168" indent="-201168">
              <a:spcBef>
                <a:spcPts val="0"/>
              </a:spcBef>
              <a:spcAft>
                <a:spcPts val="0"/>
              </a:spcAft>
              <a:buClr>
                <a:srgbClr val="5583D1"/>
              </a:buClr>
              <a:buFont typeface="Arial"/>
              <a:buChar char="•"/>
            </a:pPr>
            <a:r>
              <a:rPr sz="1400" b="0" i="0">
                <a:solidFill>
                  <a:srgbClr val="242424"/>
                </a:solidFill>
                <a:latin typeface="Calibri"/>
              </a:rPr>
              <a:t>Self-hosted models for fully offline deployment</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Rounded Rectangle 5"/>
          <p:cNvSpPr/>
          <p:nvPr/>
        </p:nvSpPr>
        <p:spPr>
          <a:xfrm>
            <a:off x="320040" y="1463040"/>
            <a:ext cx="11475720" cy="329184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691640"/>
            <a:ext cx="10744200" cy="2926080"/>
          </a:xfrm>
          <a:prstGeom prst="rect">
            <a:avLst/>
          </a:prstGeom>
          <a:noFill/>
        </p:spPr>
        <p:txBody>
          <a:bodyPr wrap="square" anchor="t" lIns="0" rIns="0" tIns="0" bIns="0">
            <a:spAutoFit/>
          </a:bodyPr>
          <a:lstStyle/>
          <a:p>
            <a:pPr algn="l">
              <a:lnSpc>
                <a:spcPct val="115000"/>
              </a:lnSpc>
              <a:spcBef>
                <a:spcPts val="0"/>
              </a:spcBef>
              <a:spcAft>
                <a:spcPts val="1200"/>
              </a:spcAft>
            </a:pPr>
            <a:r>
              <a:rPr sz="1800" b="0" i="0">
                <a:solidFill>
                  <a:srgbClr val="242424"/>
                </a:solidFill>
                <a:latin typeface="Calibri"/>
              </a:rPr>
              <a:t>I sincerely thank my project guide and mentors for their guidance and feedback throughout the three reviews of this project.</a:t>
            </a:r>
          </a:p>
          <a:p>
            <a:pPr algn="l">
              <a:lnSpc>
                <a:spcPct val="115000"/>
              </a:lnSpc>
              <a:spcBef>
                <a:spcPts val="0"/>
              </a:spcBef>
              <a:spcAft>
                <a:spcPts val="1200"/>
              </a:spcAft>
            </a:pPr>
            <a:r>
              <a:rPr sz="1800" b="0" i="0">
                <a:solidFill>
                  <a:srgbClr val="242424"/>
                </a:solidFill>
                <a:latin typeface="Calibri"/>
              </a:rPr>
              <a:t>I am grateful to the University, LTIMindtree and L&amp;T EduTech for the Advanced Industry Integrated Programme that made this work possible.</a:t>
            </a:r>
          </a:p>
          <a:p>
            <a:pPr algn="l">
              <a:lnSpc>
                <a:spcPct val="115000"/>
              </a:lnSpc>
              <a:spcBef>
                <a:spcPts val="0"/>
              </a:spcBef>
              <a:spcAft>
                <a:spcPts val="0"/>
              </a:spcAft>
            </a:pPr>
            <a:r>
              <a:rPr sz="1800" b="0" i="0">
                <a:solidFill>
                  <a:srgbClr val="242424"/>
                </a:solidFill>
                <a:latin typeface="Calibri"/>
              </a:rPr>
              <a:t>Thanks also to the open data that powers AutoDiag-RAG: the NHTSA Office of Defects Investigation complaints database, the OBDex DTC library, and the manufacturers who publish their warranty booklets.</a:t>
            </a:r>
          </a:p>
        </p:txBody>
      </p:sp>
      <p:sp>
        <p:nvSpPr>
          <p:cNvPr id="8" name="TextBox 7"/>
          <p:cNvSpPr txBox="1"/>
          <p:nvPr/>
        </p:nvSpPr>
        <p:spPr>
          <a:xfrm>
            <a:off x="320040" y="4983480"/>
            <a:ext cx="11475720" cy="457200"/>
          </a:xfrm>
          <a:prstGeom prst="rect">
            <a:avLst/>
          </a:prstGeom>
          <a:noFill/>
        </p:spPr>
        <p:txBody>
          <a:bodyPr wrap="square" anchor="t" lIns="0" rIns="0" tIns="0" bIns="0">
            <a:spAutoFit/>
          </a:bodyPr>
          <a:lstStyle/>
          <a:p>
            <a:pPr algn="ctr">
              <a:spcBef>
                <a:spcPts val="0"/>
              </a:spcBef>
              <a:spcAft>
                <a:spcPts val="400"/>
              </a:spcAft>
            </a:pPr>
            <a:r>
              <a:rPr sz="2400" b="1" i="0">
                <a:solidFill>
                  <a:srgbClr val="1F4E79"/>
                </a:solidFill>
                <a:latin typeface="Calibri"/>
              </a:rPr>
              <a:t>Thank you</a:t>
            </a: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2834640" y="57036"/>
            <a:ext cx="9189720" cy="646331"/>
          </a:xfrm>
          <a:prstGeom prst="rect">
            <a:avLst/>
          </a:prstGeom>
          <a:noFill/>
        </p:spPr>
        <p:txBody>
          <a:bodyPr wrap="square" rtlCol="0">
            <a:spAutoFit/>
          </a:bodyPr>
          <a:lstStyle/>
          <a:p>
            <a:pPr algn="r"/>
            <a:r>
              <a:rPr lang="en-US" sz="1800" b="1" i="1" dirty="0">
                <a:solidFill>
                  <a:srgbClr val="FFFFFF"/>
                </a:solidFill>
              </a:rPr>
              <a:t>AutoDiag-RAG: Hybrid Retrieval for Fault Diagnosis &amp; Warranty Validation</a:t>
            </a:r>
          </a:p>
          <a:p>
            <a:pPr algn="r"/>
            <a:endParaRPr lang="en-US" dirty="0"/>
          </a:p>
        </p:txBody>
      </p:sp>
      <p:sp>
        <p:nvSpPr>
          <p:cNvPr id="6" name="TextBox 5"/>
          <p:cNvSpPr txBox="1"/>
          <p:nvPr/>
        </p:nvSpPr>
        <p:spPr>
          <a:xfrm>
            <a:off x="320040" y="1325880"/>
            <a:ext cx="11475720" cy="4206240"/>
          </a:xfrm>
          <a:prstGeom prst="rect">
            <a:avLst/>
          </a:prstGeom>
          <a:noFill/>
        </p:spPr>
        <p:txBody>
          <a:bodyPr wrap="square" anchor="t" lIns="0" rIns="0" tIns="0" bIns="0">
            <a:spAutoFit/>
          </a:bodyPr>
          <a:lstStyle/>
          <a:p>
            <a:pPr algn="l">
              <a:spcBef>
                <a:spcPts val="0"/>
              </a:spcBef>
              <a:spcAft>
                <a:spcPts val="900"/>
              </a:spcAft>
            </a:pPr>
            <a:r>
              <a:rPr sz="1400" b="1" i="0">
                <a:solidFill>
                  <a:srgbClr val="1F4E79"/>
                </a:solidFill>
                <a:latin typeface="Calibri"/>
              </a:rPr>
              <a:t>[1]  </a:t>
            </a:r>
            <a:r>
              <a:rPr sz="1400" b="0" i="0">
                <a:solidFill>
                  <a:srgbClr val="242424"/>
                </a:solidFill>
                <a:latin typeface="Calibri"/>
              </a:rPr>
              <a:t>Lewis, P. et al. (2020). Retrieval-Augmented Generation for Knowledge-Intensive NLP Tasks. NeurIPS 2020.</a:t>
            </a:r>
          </a:p>
          <a:p>
            <a:pPr algn="l">
              <a:spcBef>
                <a:spcPts val="0"/>
              </a:spcBef>
              <a:spcAft>
                <a:spcPts val="900"/>
              </a:spcAft>
            </a:pPr>
            <a:r>
              <a:rPr sz="1400" b="1" i="0">
                <a:solidFill>
                  <a:srgbClr val="1F4E79"/>
                </a:solidFill>
                <a:latin typeface="Calibri"/>
              </a:rPr>
              <a:t>[2]  </a:t>
            </a:r>
            <a:r>
              <a:rPr sz="1400" b="0" i="0">
                <a:solidFill>
                  <a:srgbClr val="242424"/>
                </a:solidFill>
                <a:latin typeface="Calibri"/>
              </a:rPr>
              <a:t>Chen, J. et al. (2024). BGE M3-Embedding: Multi-Lingual, Multi-Functionality, Multi-Granularity Text Embeddings Through Self-Knowledge Distillation. arXiv:2402.03216.</a:t>
            </a:r>
          </a:p>
          <a:p>
            <a:pPr algn="l">
              <a:spcBef>
                <a:spcPts val="0"/>
              </a:spcBef>
              <a:spcAft>
                <a:spcPts val="900"/>
              </a:spcAft>
            </a:pPr>
            <a:r>
              <a:rPr sz="1400" b="1" i="0">
                <a:solidFill>
                  <a:srgbClr val="1F4E79"/>
                </a:solidFill>
                <a:latin typeface="Calibri"/>
              </a:rPr>
              <a:t>[3]  </a:t>
            </a:r>
            <a:r>
              <a:rPr sz="1400" b="0" i="0">
                <a:solidFill>
                  <a:srgbClr val="242424"/>
                </a:solidFill>
                <a:latin typeface="Calibri"/>
              </a:rPr>
              <a:t>Robertson, S. &amp; Zaragoza, H. (2009). The Probabilistic Relevance Framework: BM25 and Beyond. Foundations and Trends in Information Retrieval, 3(4).</a:t>
            </a:r>
          </a:p>
          <a:p>
            <a:pPr algn="l">
              <a:spcBef>
                <a:spcPts val="0"/>
              </a:spcBef>
              <a:spcAft>
                <a:spcPts val="900"/>
              </a:spcAft>
            </a:pPr>
            <a:r>
              <a:rPr sz="1400" b="1" i="0">
                <a:solidFill>
                  <a:srgbClr val="1F4E79"/>
                </a:solidFill>
                <a:latin typeface="Calibri"/>
              </a:rPr>
              <a:t>[4]  </a:t>
            </a:r>
            <a:r>
              <a:rPr sz="1400" b="0" i="0">
                <a:solidFill>
                  <a:srgbClr val="242424"/>
                </a:solidFill>
                <a:latin typeface="Calibri"/>
              </a:rPr>
              <a:t>Cormack, G. V., Clarke, C. L. A. &amp; Buettcher, S. (2009). Reciprocal Rank Fusion Outperforms Condorcet and Individual Rank Learning Methods. SIGIR 2009.</a:t>
            </a:r>
          </a:p>
          <a:p>
            <a:pPr algn="l">
              <a:spcBef>
                <a:spcPts val="0"/>
              </a:spcBef>
              <a:spcAft>
                <a:spcPts val="900"/>
              </a:spcAft>
            </a:pPr>
            <a:r>
              <a:rPr sz="1400" b="1" i="0">
                <a:solidFill>
                  <a:srgbClr val="1F4E79"/>
                </a:solidFill>
                <a:latin typeface="Calibri"/>
              </a:rPr>
              <a:t>[5]  </a:t>
            </a:r>
            <a:r>
              <a:rPr sz="1400" b="0" i="0">
                <a:solidFill>
                  <a:srgbClr val="242424"/>
                </a:solidFill>
                <a:latin typeface="Calibri"/>
              </a:rPr>
              <a:t>Es, S. et al. (2024). RAGAS: Automated Evaluation of Retrieval Augmented Generation. EACL 2024 (demo); arXiv:2309.15217.</a:t>
            </a:r>
          </a:p>
          <a:p>
            <a:pPr algn="l">
              <a:spcBef>
                <a:spcPts val="0"/>
              </a:spcBef>
              <a:spcAft>
                <a:spcPts val="900"/>
              </a:spcAft>
            </a:pPr>
            <a:r>
              <a:rPr sz="1400" b="1" i="0">
                <a:solidFill>
                  <a:srgbClr val="1F4E79"/>
                </a:solidFill>
                <a:latin typeface="Calibri"/>
              </a:rPr>
              <a:t>[6]  </a:t>
            </a:r>
            <a:r>
              <a:rPr sz="1400" b="0" i="0">
                <a:solidFill>
                  <a:srgbClr val="242424"/>
                </a:solidFill>
                <a:latin typeface="Calibri"/>
              </a:rPr>
              <a:t>Radford, A. et al. (2022). Robust Speech Recognition via Large-Scale Weak Supervision (Whisper). arXiv:2212.04356.</a:t>
            </a:r>
          </a:p>
          <a:p>
            <a:pPr algn="l">
              <a:spcBef>
                <a:spcPts val="0"/>
              </a:spcBef>
              <a:spcAft>
                <a:spcPts val="900"/>
              </a:spcAft>
            </a:pPr>
            <a:r>
              <a:rPr sz="1400" b="1" i="0">
                <a:solidFill>
                  <a:srgbClr val="1F4E79"/>
                </a:solidFill>
                <a:latin typeface="Calibri"/>
              </a:rPr>
              <a:t>[7]  </a:t>
            </a:r>
            <a:r>
              <a:rPr sz="1400" b="0" i="0">
                <a:solidFill>
                  <a:srgbClr val="242424"/>
                </a:solidFill>
                <a:latin typeface="Calibri"/>
              </a:rPr>
              <a:t>NHTSA Complaints API — api.nhtsa.gov · OBDex DTC database — github.com/foerbsnavi/OBDex · 2026 warranty booklets: Honda, Hyundai, Toyota, Ford, Nissan, Kia.</a:t>
            </a:r>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26297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Personal IT Change Impact Agent</a:t>
            </a:r>
          </a:p>
          <a:p>
            <a:pPr lvl="0" algn="ctr">
              <a:defRPr/>
            </a:pPr>
            <a:r>
              <a:rPr lang="en-US" sz="2200" b="0" dirty="0">
                <a:solidFill>
                  <a:prstClr val="white"/>
                </a:solidFill>
                <a:cs typeface="Calibri" panose="020F0502020204030204" pitchFamily="34" charset="0"/>
              </a:rPr>
              <a:t>Agentic AI that predicts what a software change will break</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Sanjay Suresh Hullyal</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20040" y="1371600"/>
            <a:ext cx="6035040" cy="365760"/>
          </a:xfrm>
          <a:prstGeom prst="rect">
            <a:avLst/>
          </a:prstGeom>
          <a:noFill/>
        </p:spPr>
        <p:txBody>
          <a:bodyPr wrap="square" lIns="36576" rIns="36576" tIns="18288" bIns="18288" anchor="t">
            <a:noAutofit/>
          </a:bodyPr>
          <a:lstStyle/>
          <a:p>
            <a:pPr>
              <a:spcAft>
                <a:spcPts val="400"/>
              </a:spcAft>
            </a:pPr>
            <a:r>
              <a:rPr sz="1800" b="1" i="0">
                <a:solidFill>
                  <a:srgbClr val="2E75B6"/>
                </a:solidFill>
                <a:latin typeface="Calibri"/>
              </a:rPr>
              <a:t>Context</a:t>
            </a:r>
          </a:p>
        </p:txBody>
      </p:sp>
      <p:sp>
        <p:nvSpPr>
          <p:cNvPr id="8" name="TextBox 7"/>
          <p:cNvSpPr txBox="1"/>
          <p:nvPr/>
        </p:nvSpPr>
        <p:spPr>
          <a:xfrm>
            <a:off x="320040" y="1783080"/>
            <a:ext cx="6035040" cy="2194560"/>
          </a:xfrm>
          <a:prstGeom prst="rect">
            <a:avLst/>
          </a:prstGeom>
          <a:noFill/>
        </p:spPr>
        <p:txBody>
          <a:bodyPr wrap="square" lIns="36576" rIns="36576" tIns="18288" bIns="18288" anchor="t">
            <a:noAutofit/>
          </a:bodyPr>
          <a:lstStyle/>
          <a:p>
            <a:pPr marL="228600" indent="-228600">
              <a:spcAft>
                <a:spcPts val="800"/>
              </a:spcAft>
              <a:buClr>
                <a:srgbClr val="2E75B6"/>
              </a:buClr>
              <a:buFont typeface="Arial"/>
              <a:buChar char="•"/>
            </a:pPr>
            <a:r>
              <a:rPr sz="1500" b="0" i="0">
                <a:solidFill>
                  <a:srgbClr val="262626"/>
                </a:solidFill>
                <a:latin typeface="Calibri"/>
              </a:rPr>
              <a:t>Development machines run many Python versions, virtual environments, containers and repositories side by side.</a:t>
            </a:r>
          </a:p>
          <a:p>
            <a:pPr marL="228600" indent="-228600">
              <a:spcAft>
                <a:spcPts val="800"/>
              </a:spcAft>
              <a:buClr>
                <a:srgbClr val="2E75B6"/>
              </a:buClr>
              <a:buFont typeface="Arial"/>
              <a:buChar char="•"/>
            </a:pPr>
            <a:r>
              <a:rPr sz="1500" b="0" i="0">
                <a:solidFill>
                  <a:srgbClr val="262626"/>
                </a:solidFill>
                <a:latin typeface="Calibri"/>
              </a:rPr>
              <a:t>Packages are shared across projects, so one upgrade, downgrade or removal can silently break work somewhere else.</a:t>
            </a:r>
          </a:p>
          <a:p>
            <a:pPr marL="228600" indent="-228600">
              <a:spcAft>
                <a:spcPts val="400"/>
              </a:spcAft>
              <a:buClr>
                <a:srgbClr val="2E75B6"/>
              </a:buClr>
              <a:buFont typeface="Arial"/>
              <a:buChar char="•"/>
            </a:pPr>
            <a:r>
              <a:rPr sz="1500" b="0" i="0">
                <a:solidFill>
                  <a:srgbClr val="262626"/>
                </a:solidFill>
                <a:latin typeface="Calibri"/>
              </a:rPr>
              <a:t>Security fixes make changes urgent, but checking their impact by hand is slow and error-prone.</a:t>
            </a:r>
          </a:p>
        </p:txBody>
      </p:sp>
      <p:sp>
        <p:nvSpPr>
          <p:cNvPr id="9" name="Rounded Rectangle 8"/>
          <p:cNvSpPr/>
          <p:nvPr/>
        </p:nvSpPr>
        <p:spPr>
          <a:xfrm>
            <a:off x="6675120" y="1417320"/>
            <a:ext cx="5166360" cy="242316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0" name="TextBox 9"/>
          <p:cNvSpPr txBox="1"/>
          <p:nvPr/>
        </p:nvSpPr>
        <p:spPr>
          <a:xfrm>
            <a:off x="6858000" y="1554480"/>
            <a:ext cx="4800600" cy="365760"/>
          </a:xfrm>
          <a:prstGeom prst="rect">
            <a:avLst/>
          </a:prstGeom>
          <a:noFill/>
        </p:spPr>
        <p:txBody>
          <a:bodyPr wrap="square" lIns="36576" rIns="36576" tIns="18288" bIns="18288" anchor="t">
            <a:noAutofit/>
          </a:bodyPr>
          <a:lstStyle/>
          <a:p>
            <a:pPr>
              <a:spcAft>
                <a:spcPts val="400"/>
              </a:spcAft>
            </a:pPr>
            <a:r>
              <a:rPr sz="1800" b="1" i="0">
                <a:solidFill>
                  <a:srgbClr val="1F4E79"/>
                </a:solidFill>
                <a:latin typeface="Calibri"/>
              </a:rPr>
              <a:t>The solution</a:t>
            </a:r>
          </a:p>
        </p:txBody>
      </p:sp>
      <p:sp>
        <p:nvSpPr>
          <p:cNvPr id="11" name="TextBox 10"/>
          <p:cNvSpPr txBox="1"/>
          <p:nvPr/>
        </p:nvSpPr>
        <p:spPr>
          <a:xfrm>
            <a:off x="6858000" y="1965960"/>
            <a:ext cx="4800600" cy="1325880"/>
          </a:xfrm>
          <a:prstGeom prst="rect">
            <a:avLst/>
          </a:prstGeom>
          <a:noFill/>
        </p:spPr>
        <p:txBody>
          <a:bodyPr wrap="square" lIns="36576" rIns="36576" tIns="18288" bIns="18288" anchor="t">
            <a:noAutofit/>
          </a:bodyPr>
          <a:lstStyle/>
          <a:p>
            <a:pPr>
              <a:spcAft>
                <a:spcPts val="400"/>
              </a:spcAft>
            </a:pPr>
            <a:r>
              <a:rPr sz="1450" b="0" i="0">
                <a:solidFill>
                  <a:srgbClr val="262626"/>
                </a:solidFill>
                <a:latin typeface="Calibri"/>
              </a:rPr>
              <a:t>An agentic AI system that answers “What will this change break?” before the change is made, and, only with the user's approval, verifies it safely in a sandbox.</a:t>
            </a:r>
          </a:p>
        </p:txBody>
      </p:sp>
      <p:sp>
        <p:nvSpPr>
          <p:cNvPr id="12" name="TextBox 11"/>
          <p:cNvSpPr txBox="1"/>
          <p:nvPr/>
        </p:nvSpPr>
        <p:spPr>
          <a:xfrm>
            <a:off x="6858000" y="3291840"/>
            <a:ext cx="4800600" cy="411480"/>
          </a:xfrm>
          <a:prstGeom prst="rect">
            <a:avLst/>
          </a:prstGeom>
          <a:noFill/>
        </p:spPr>
        <p:txBody>
          <a:bodyPr wrap="square" lIns="36576" rIns="36576" tIns="18288" bIns="18288" anchor="t">
            <a:noAutofit/>
          </a:bodyPr>
          <a:lstStyle/>
          <a:p>
            <a:pPr>
              <a:spcAft>
                <a:spcPts val="400"/>
              </a:spcAft>
            </a:pPr>
            <a:r>
              <a:rPr sz="1400" b="0" i="1">
                <a:solidFill>
                  <a:srgbClr val="1B8A99"/>
                </a:solidFill>
                <a:latin typeface="Calibri"/>
              </a:rPr>
              <a:t>Ask: “Can I upgrade numpy to 3.0 in AutoDiag_RAG?”</a:t>
            </a:r>
          </a:p>
        </p:txBody>
      </p:sp>
      <p:sp>
        <p:nvSpPr>
          <p:cNvPr id="13" name="TextBox 12"/>
          <p:cNvSpPr txBox="1"/>
          <p:nvPr/>
        </p:nvSpPr>
        <p:spPr>
          <a:xfrm>
            <a:off x="320040" y="3950208"/>
            <a:ext cx="11521440" cy="274320"/>
          </a:xfrm>
          <a:prstGeom prst="rect">
            <a:avLst/>
          </a:prstGeom>
          <a:noFill/>
        </p:spPr>
        <p:txBody>
          <a:bodyPr wrap="square" lIns="36576" rIns="36576" tIns="18288" bIns="18288" anchor="t">
            <a:noAutofit/>
          </a:bodyPr>
          <a:lstStyle/>
          <a:p>
            <a:pPr>
              <a:spcAft>
                <a:spcPts val="400"/>
              </a:spcAft>
            </a:pPr>
            <a:r>
              <a:rPr sz="1100" b="0" i="1">
                <a:solidFill>
                  <a:srgbClr val="5F6B7A"/>
                </a:solidFill>
                <a:latin typeface="Calibri"/>
              </a:rPr>
              <a:t>How it works</a:t>
            </a:r>
          </a:p>
        </p:txBody>
      </p:sp>
      <p:sp>
        <p:nvSpPr>
          <p:cNvPr id="14" name="Rounded Rectangle 13"/>
          <p:cNvSpPr/>
          <p:nvPr/>
        </p:nvSpPr>
        <p:spPr>
          <a:xfrm>
            <a:off x="365760" y="4224528"/>
            <a:ext cx="1691640" cy="8686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400" b="1" i="0">
                <a:solidFill>
                  <a:srgbClr val="FFFFFF"/>
                </a:solidFill>
                <a:latin typeface="Calibri"/>
              </a:rPr>
              <a:t>Ask</a:t>
            </a:r>
          </a:p>
          <a:p>
            <a:pPr algn="ctr">
              <a:spcAft>
                <a:spcPts val="400"/>
              </a:spcAft>
            </a:pPr>
            <a:r>
              <a:rPr sz="1050" b="0" i="0">
                <a:solidFill>
                  <a:srgbClr val="FFFFFF"/>
                </a:solidFill>
                <a:latin typeface="Calibri"/>
              </a:rPr>
              <a:t>plain-English question</a:t>
            </a:r>
          </a:p>
        </p:txBody>
      </p:sp>
      <p:cxnSp>
        <p:nvCxnSpPr>
          <p:cNvPr id="15" name="Connector 14"/>
          <p:cNvCxnSpPr/>
          <p:nvPr/>
        </p:nvCxnSpPr>
        <p:spPr>
          <a:xfrm>
            <a:off x="2075688"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322576" y="4224528"/>
            <a:ext cx="1691640" cy="868680"/>
          </a:xfrm>
          <a:prstGeom prst="roundRect">
            <a:avLst>
              <a:gd name="adj" fmla="val 1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400" b="1" i="0">
                <a:solidFill>
                  <a:srgbClr val="FFFFFF"/>
                </a:solidFill>
                <a:latin typeface="Calibri"/>
              </a:rPr>
              <a:t>Understand</a:t>
            </a:r>
          </a:p>
          <a:p>
            <a:pPr algn="ctr">
              <a:spcAft>
                <a:spcPts val="400"/>
              </a:spcAft>
            </a:pPr>
            <a:r>
              <a:rPr sz="1050" b="0" i="0">
                <a:solidFill>
                  <a:srgbClr val="FFFFFF"/>
                </a:solidFill>
                <a:latin typeface="Calibri"/>
              </a:rPr>
              <a:t>LLM → structured request</a:t>
            </a:r>
          </a:p>
        </p:txBody>
      </p:sp>
      <p:cxnSp>
        <p:nvCxnSpPr>
          <p:cNvPr id="17" name="Connector 16"/>
          <p:cNvCxnSpPr/>
          <p:nvPr/>
        </p:nvCxnSpPr>
        <p:spPr>
          <a:xfrm>
            <a:off x="4032504"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79392" y="4224528"/>
            <a:ext cx="1691640" cy="8686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400" b="1" i="0">
                <a:solidFill>
                  <a:srgbClr val="FFFFFF"/>
                </a:solidFill>
                <a:latin typeface="Calibri"/>
              </a:rPr>
              <a:t>Recall</a:t>
            </a:r>
          </a:p>
          <a:p>
            <a:pPr algn="ctr">
              <a:spcAft>
                <a:spcPts val="400"/>
              </a:spcAft>
            </a:pPr>
            <a:r>
              <a:rPr sz="1050" b="0" i="0">
                <a:solidFill>
                  <a:srgbClr val="FFFFFF"/>
                </a:solidFill>
                <a:latin typeface="Calibri"/>
              </a:rPr>
              <a:t>similar past changes</a:t>
            </a:r>
          </a:p>
        </p:txBody>
      </p:sp>
      <p:cxnSp>
        <p:nvCxnSpPr>
          <p:cNvPr id="19" name="Connector 18"/>
          <p:cNvCxnSpPr/>
          <p:nvPr/>
        </p:nvCxnSpPr>
        <p:spPr>
          <a:xfrm>
            <a:off x="5989320"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36208" y="4224528"/>
            <a:ext cx="1691640" cy="868680"/>
          </a:xfrm>
          <a:prstGeom prst="roundRect">
            <a:avLst>
              <a:gd name="adj" fmla="val 1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400" b="1" i="0">
                <a:solidFill>
                  <a:srgbClr val="FFFFFF"/>
                </a:solidFill>
                <a:latin typeface="Calibri"/>
              </a:rPr>
              <a:t>Investigate</a:t>
            </a:r>
          </a:p>
          <a:p>
            <a:pPr algn="ctr">
              <a:spcAft>
                <a:spcPts val="400"/>
              </a:spcAft>
            </a:pPr>
            <a:r>
              <a:rPr sz="1050" b="0" i="0">
                <a:solidFill>
                  <a:srgbClr val="FFFFFF"/>
                </a:solidFill>
                <a:latin typeface="Calibri"/>
              </a:rPr>
              <a:t>inventory · graph · PyPI</a:t>
            </a:r>
          </a:p>
        </p:txBody>
      </p:sp>
      <p:cxnSp>
        <p:nvCxnSpPr>
          <p:cNvPr id="21" name="Connector 20"/>
          <p:cNvCxnSpPr/>
          <p:nvPr/>
        </p:nvCxnSpPr>
        <p:spPr>
          <a:xfrm>
            <a:off x="7946136"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93024" y="4224528"/>
            <a:ext cx="1691640" cy="86868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400" b="1" i="0">
                <a:solidFill>
                  <a:srgbClr val="FFFFFF"/>
                </a:solidFill>
                <a:latin typeface="Calibri"/>
              </a:rPr>
              <a:t>Score</a:t>
            </a:r>
          </a:p>
          <a:p>
            <a:pPr algn="ctr">
              <a:spcAft>
                <a:spcPts val="400"/>
              </a:spcAft>
            </a:pPr>
            <a:r>
              <a:rPr sz="1050" b="0" i="0">
                <a:solidFill>
                  <a:srgbClr val="FFFFFF"/>
                </a:solidFill>
                <a:latin typeface="Calibri"/>
              </a:rPr>
              <a:t>rule-based risk</a:t>
            </a:r>
          </a:p>
        </p:txBody>
      </p:sp>
      <p:cxnSp>
        <p:nvCxnSpPr>
          <p:cNvPr id="23" name="Connector 22"/>
          <p:cNvCxnSpPr/>
          <p:nvPr/>
        </p:nvCxnSpPr>
        <p:spPr>
          <a:xfrm>
            <a:off x="9902952" y="4658868"/>
            <a:ext cx="22860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149840" y="4224528"/>
            <a:ext cx="1691640" cy="868680"/>
          </a:xfrm>
          <a:prstGeom prst="roundRect">
            <a:avLst>
              <a:gd name="adj" fmla="val 1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400" b="1" i="0">
                <a:solidFill>
                  <a:srgbClr val="FFFFFF"/>
                </a:solidFill>
                <a:latin typeface="Calibri"/>
              </a:rPr>
              <a:t>Explain &amp; verify</a:t>
            </a:r>
          </a:p>
          <a:p>
            <a:pPr algn="ctr">
              <a:spcAft>
                <a:spcPts val="400"/>
              </a:spcAft>
            </a:pPr>
            <a:r>
              <a:rPr sz="1050" b="0" i="0">
                <a:solidFill>
                  <a:srgbClr val="FFFFFF"/>
                </a:solidFill>
                <a:latin typeface="Calibri"/>
              </a:rPr>
              <a:t>report + sandbox dry run</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41732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8" name="Oval 7"/>
          <p:cNvSpPr/>
          <p:nvPr/>
        </p:nvSpPr>
        <p:spPr>
          <a:xfrm>
            <a:off x="548640" y="160020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600" b="1" i="0">
                <a:solidFill>
                  <a:srgbClr val="FFFFFF"/>
                </a:solidFill>
                <a:latin typeface="Calibri"/>
              </a:rPr>
              <a:t>1</a:t>
            </a:r>
          </a:p>
        </p:txBody>
      </p:sp>
      <p:sp>
        <p:nvSpPr>
          <p:cNvPr id="9" name="TextBox 8"/>
          <p:cNvSpPr txBox="1"/>
          <p:nvPr/>
        </p:nvSpPr>
        <p:spPr>
          <a:xfrm>
            <a:off x="1115568" y="1600200"/>
            <a:ext cx="1965960" cy="457200"/>
          </a:xfrm>
          <a:prstGeom prst="rect">
            <a:avLst/>
          </a:prstGeom>
          <a:noFill/>
        </p:spPr>
        <p:txBody>
          <a:bodyPr wrap="square" lIns="36576" rIns="36576" tIns="18288" bIns="18288" anchor="ctr">
            <a:noAutofit/>
          </a:bodyPr>
          <a:lstStyle/>
          <a:p>
            <a:pPr>
              <a:spcAft>
                <a:spcPts val="400"/>
              </a:spcAft>
            </a:pPr>
            <a:r>
              <a:rPr sz="1600" b="1" i="0">
                <a:solidFill>
                  <a:srgbClr val="1F4E79"/>
                </a:solidFill>
                <a:latin typeface="Calibri"/>
              </a:rPr>
              <a:t>Discover</a:t>
            </a:r>
          </a:p>
        </p:txBody>
      </p:sp>
      <p:sp>
        <p:nvSpPr>
          <p:cNvPr id="10" name="Rounded Rectangle 9"/>
          <p:cNvSpPr/>
          <p:nvPr/>
        </p:nvSpPr>
        <p:spPr>
          <a:xfrm>
            <a:off x="3063240" y="168249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1" i="0">
                <a:solidFill>
                  <a:srgbClr val="2E7D4F"/>
                </a:solidFill>
                <a:latin typeface="Calibri"/>
              </a:rPr>
              <a:t>Achieved</a:t>
            </a:r>
          </a:p>
        </p:txBody>
      </p:sp>
      <p:sp>
        <p:nvSpPr>
          <p:cNvPr id="11" name="TextBox 10"/>
          <p:cNvSpPr txBox="1"/>
          <p:nvPr/>
        </p:nvSpPr>
        <p:spPr>
          <a:xfrm>
            <a:off x="548640" y="2167128"/>
            <a:ext cx="3291840" cy="960120"/>
          </a:xfrm>
          <a:prstGeom prst="rect">
            <a:avLst/>
          </a:prstGeom>
          <a:noFill/>
        </p:spPr>
        <p:txBody>
          <a:bodyPr wrap="square" lIns="36576" rIns="36576" tIns="18288" bIns="18288" anchor="t">
            <a:noAutofit/>
          </a:bodyPr>
          <a:lstStyle/>
          <a:p>
            <a:pPr>
              <a:spcAft>
                <a:spcPts val="400"/>
              </a:spcAft>
            </a:pPr>
            <a:r>
              <a:rPr sz="1300" b="0" i="0">
                <a:solidFill>
                  <a:srgbClr val="262626"/>
                </a:solidFill>
                <a:latin typeface="Calibri"/>
              </a:rPr>
              <a:t>Inventory interpreters, virtualenvs, packages, Docker images and Git repos across the whole machine, read-only.</a:t>
            </a:r>
          </a:p>
        </p:txBody>
      </p:sp>
      <p:sp>
        <p:nvSpPr>
          <p:cNvPr id="12" name="Rounded Rectangle 11"/>
          <p:cNvSpPr/>
          <p:nvPr/>
        </p:nvSpPr>
        <p:spPr>
          <a:xfrm>
            <a:off x="4233672" y="141732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3" name="Oval 12"/>
          <p:cNvSpPr/>
          <p:nvPr/>
        </p:nvSpPr>
        <p:spPr>
          <a:xfrm>
            <a:off x="4416552" y="160020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600" b="1" i="0">
                <a:solidFill>
                  <a:srgbClr val="FFFFFF"/>
                </a:solidFill>
                <a:latin typeface="Calibri"/>
              </a:rPr>
              <a:t>2</a:t>
            </a:r>
          </a:p>
        </p:txBody>
      </p:sp>
      <p:sp>
        <p:nvSpPr>
          <p:cNvPr id="14" name="TextBox 13"/>
          <p:cNvSpPr txBox="1"/>
          <p:nvPr/>
        </p:nvSpPr>
        <p:spPr>
          <a:xfrm>
            <a:off x="4983480" y="1600200"/>
            <a:ext cx="1965960" cy="457200"/>
          </a:xfrm>
          <a:prstGeom prst="rect">
            <a:avLst/>
          </a:prstGeom>
          <a:noFill/>
        </p:spPr>
        <p:txBody>
          <a:bodyPr wrap="square" lIns="36576" rIns="36576" tIns="18288" bIns="18288" anchor="ctr">
            <a:noAutofit/>
          </a:bodyPr>
          <a:lstStyle/>
          <a:p>
            <a:pPr>
              <a:spcAft>
                <a:spcPts val="400"/>
              </a:spcAft>
            </a:pPr>
            <a:r>
              <a:rPr sz="1600" b="1" i="0">
                <a:solidFill>
                  <a:srgbClr val="1F4E79"/>
                </a:solidFill>
                <a:latin typeface="Calibri"/>
              </a:rPr>
              <a:t>Map</a:t>
            </a:r>
          </a:p>
        </p:txBody>
      </p:sp>
      <p:sp>
        <p:nvSpPr>
          <p:cNvPr id="15" name="Rounded Rectangle 14"/>
          <p:cNvSpPr/>
          <p:nvPr/>
        </p:nvSpPr>
        <p:spPr>
          <a:xfrm>
            <a:off x="6931152" y="168249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1" i="0">
                <a:solidFill>
                  <a:srgbClr val="2E7D4F"/>
                </a:solidFill>
                <a:latin typeface="Calibri"/>
              </a:rPr>
              <a:t>Achieved</a:t>
            </a:r>
          </a:p>
        </p:txBody>
      </p:sp>
      <p:sp>
        <p:nvSpPr>
          <p:cNvPr id="16" name="TextBox 15"/>
          <p:cNvSpPr txBox="1"/>
          <p:nvPr/>
        </p:nvSpPr>
        <p:spPr>
          <a:xfrm>
            <a:off x="4416552" y="2167128"/>
            <a:ext cx="3291840" cy="960120"/>
          </a:xfrm>
          <a:prstGeom prst="rect">
            <a:avLst/>
          </a:prstGeom>
          <a:noFill/>
        </p:spPr>
        <p:txBody>
          <a:bodyPr wrap="square" lIns="36576" rIns="36576" tIns="18288" bIns="18288" anchor="t">
            <a:noAutofit/>
          </a:bodyPr>
          <a:lstStyle/>
          <a:p>
            <a:pPr>
              <a:spcAft>
                <a:spcPts val="400"/>
              </a:spcAft>
            </a:pPr>
            <a:r>
              <a:rPr sz="1300" b="0" i="0">
                <a:solidFill>
                  <a:srgbClr val="262626"/>
                </a:solidFill>
                <a:latin typeface="Calibri"/>
              </a:rPr>
              <a:t>Build a dependency graph from manifests and package metadata that separates direct from transitive dependencies.</a:t>
            </a:r>
          </a:p>
        </p:txBody>
      </p:sp>
      <p:sp>
        <p:nvSpPr>
          <p:cNvPr id="17" name="Rounded Rectangle 16"/>
          <p:cNvSpPr/>
          <p:nvPr/>
        </p:nvSpPr>
        <p:spPr>
          <a:xfrm>
            <a:off x="8101584" y="141732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8" name="Oval 17"/>
          <p:cNvSpPr/>
          <p:nvPr/>
        </p:nvSpPr>
        <p:spPr>
          <a:xfrm>
            <a:off x="8284464" y="160020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600" b="1" i="0">
                <a:solidFill>
                  <a:srgbClr val="FFFFFF"/>
                </a:solidFill>
                <a:latin typeface="Calibri"/>
              </a:rPr>
              <a:t>3</a:t>
            </a:r>
          </a:p>
        </p:txBody>
      </p:sp>
      <p:sp>
        <p:nvSpPr>
          <p:cNvPr id="19" name="TextBox 18"/>
          <p:cNvSpPr txBox="1"/>
          <p:nvPr/>
        </p:nvSpPr>
        <p:spPr>
          <a:xfrm>
            <a:off x="8851392" y="1600200"/>
            <a:ext cx="1965960" cy="457200"/>
          </a:xfrm>
          <a:prstGeom prst="rect">
            <a:avLst/>
          </a:prstGeom>
          <a:noFill/>
        </p:spPr>
        <p:txBody>
          <a:bodyPr wrap="square" lIns="36576" rIns="36576" tIns="18288" bIns="18288" anchor="ctr">
            <a:noAutofit/>
          </a:bodyPr>
          <a:lstStyle/>
          <a:p>
            <a:pPr>
              <a:spcAft>
                <a:spcPts val="400"/>
              </a:spcAft>
            </a:pPr>
            <a:r>
              <a:rPr sz="1600" b="1" i="0">
                <a:solidFill>
                  <a:srgbClr val="1F4E79"/>
                </a:solidFill>
                <a:latin typeface="Calibri"/>
              </a:rPr>
              <a:t>Ground</a:t>
            </a:r>
          </a:p>
        </p:txBody>
      </p:sp>
      <p:sp>
        <p:nvSpPr>
          <p:cNvPr id="20" name="Rounded Rectangle 19"/>
          <p:cNvSpPr/>
          <p:nvPr/>
        </p:nvSpPr>
        <p:spPr>
          <a:xfrm>
            <a:off x="10799064" y="168249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1" i="0">
                <a:solidFill>
                  <a:srgbClr val="2E7D4F"/>
                </a:solidFill>
                <a:latin typeface="Calibri"/>
              </a:rPr>
              <a:t>Achieved</a:t>
            </a:r>
          </a:p>
        </p:txBody>
      </p:sp>
      <p:sp>
        <p:nvSpPr>
          <p:cNvPr id="21" name="TextBox 20"/>
          <p:cNvSpPr txBox="1"/>
          <p:nvPr/>
        </p:nvSpPr>
        <p:spPr>
          <a:xfrm>
            <a:off x="8284464" y="2167128"/>
            <a:ext cx="3291840" cy="960120"/>
          </a:xfrm>
          <a:prstGeom prst="rect">
            <a:avLst/>
          </a:prstGeom>
          <a:noFill/>
        </p:spPr>
        <p:txBody>
          <a:bodyPr wrap="square" lIns="36576" rIns="36576" tIns="18288" bIns="18288" anchor="t">
            <a:noAutofit/>
          </a:bodyPr>
          <a:lstStyle/>
          <a:p>
            <a:pPr>
              <a:spcAft>
                <a:spcPts val="400"/>
              </a:spcAft>
            </a:pPr>
            <a:r>
              <a:rPr sz="1300" b="0" i="0">
                <a:solidFill>
                  <a:srgbClr val="262626"/>
                </a:solidFill>
                <a:latin typeface="Calibri"/>
              </a:rPr>
              <a:t>Retrieve version-specific evidence from PyPI with semantic search, plus Python and wheel compatibility checks.</a:t>
            </a:r>
          </a:p>
        </p:txBody>
      </p:sp>
      <p:sp>
        <p:nvSpPr>
          <p:cNvPr id="22" name="Rounded Rectangle 21"/>
          <p:cNvSpPr/>
          <p:nvPr/>
        </p:nvSpPr>
        <p:spPr>
          <a:xfrm>
            <a:off x="365760" y="333756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23" name="Oval 22"/>
          <p:cNvSpPr/>
          <p:nvPr/>
        </p:nvSpPr>
        <p:spPr>
          <a:xfrm>
            <a:off x="548640" y="352044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600" b="1" i="0">
                <a:solidFill>
                  <a:srgbClr val="FFFFFF"/>
                </a:solidFill>
                <a:latin typeface="Calibri"/>
              </a:rPr>
              <a:t>4</a:t>
            </a:r>
          </a:p>
        </p:txBody>
      </p:sp>
      <p:sp>
        <p:nvSpPr>
          <p:cNvPr id="24" name="TextBox 23"/>
          <p:cNvSpPr txBox="1"/>
          <p:nvPr/>
        </p:nvSpPr>
        <p:spPr>
          <a:xfrm>
            <a:off x="1115568" y="3520440"/>
            <a:ext cx="1965960" cy="457200"/>
          </a:xfrm>
          <a:prstGeom prst="rect">
            <a:avLst/>
          </a:prstGeom>
          <a:noFill/>
        </p:spPr>
        <p:txBody>
          <a:bodyPr wrap="square" lIns="36576" rIns="36576" tIns="18288" bIns="18288" anchor="ctr">
            <a:noAutofit/>
          </a:bodyPr>
          <a:lstStyle/>
          <a:p>
            <a:pPr>
              <a:spcAft>
                <a:spcPts val="400"/>
              </a:spcAft>
            </a:pPr>
            <a:r>
              <a:rPr sz="1600" b="1" i="0">
                <a:solidFill>
                  <a:srgbClr val="1F4E79"/>
                </a:solidFill>
                <a:latin typeface="Calibri"/>
              </a:rPr>
              <a:t>Reason</a:t>
            </a:r>
          </a:p>
        </p:txBody>
      </p:sp>
      <p:sp>
        <p:nvSpPr>
          <p:cNvPr id="25" name="Rounded Rectangle 24"/>
          <p:cNvSpPr/>
          <p:nvPr/>
        </p:nvSpPr>
        <p:spPr>
          <a:xfrm>
            <a:off x="3063240" y="360273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1" i="0">
                <a:solidFill>
                  <a:srgbClr val="2E7D4F"/>
                </a:solidFill>
                <a:latin typeface="Calibri"/>
              </a:rPr>
              <a:t>Achieved</a:t>
            </a:r>
          </a:p>
        </p:txBody>
      </p:sp>
      <p:sp>
        <p:nvSpPr>
          <p:cNvPr id="26" name="TextBox 25"/>
          <p:cNvSpPr txBox="1"/>
          <p:nvPr/>
        </p:nvSpPr>
        <p:spPr>
          <a:xfrm>
            <a:off x="548640" y="4087368"/>
            <a:ext cx="3291840" cy="960120"/>
          </a:xfrm>
          <a:prstGeom prst="rect">
            <a:avLst/>
          </a:prstGeom>
          <a:noFill/>
        </p:spPr>
        <p:txBody>
          <a:bodyPr wrap="square" lIns="36576" rIns="36576" tIns="18288" bIns="18288" anchor="t">
            <a:noAutofit/>
          </a:bodyPr>
          <a:lstStyle/>
          <a:p>
            <a:pPr>
              <a:spcAft>
                <a:spcPts val="400"/>
              </a:spcAft>
            </a:pPr>
            <a:r>
              <a:rPr sz="1300" b="0" i="0">
                <a:solidFill>
                  <a:srgbClr val="262626"/>
                </a:solidFill>
                <a:latin typeface="Calibri"/>
              </a:rPr>
              <a:t>Orchestrate the analysis as a LangGraph agent that turns a plain-English question into a structured request.</a:t>
            </a:r>
          </a:p>
        </p:txBody>
      </p:sp>
      <p:sp>
        <p:nvSpPr>
          <p:cNvPr id="27" name="Rounded Rectangle 26"/>
          <p:cNvSpPr/>
          <p:nvPr/>
        </p:nvSpPr>
        <p:spPr>
          <a:xfrm>
            <a:off x="4233672" y="333756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28" name="Oval 27"/>
          <p:cNvSpPr/>
          <p:nvPr/>
        </p:nvSpPr>
        <p:spPr>
          <a:xfrm>
            <a:off x="4416552" y="352044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600" b="1" i="0">
                <a:solidFill>
                  <a:srgbClr val="FFFFFF"/>
                </a:solidFill>
                <a:latin typeface="Calibri"/>
              </a:rPr>
              <a:t>5</a:t>
            </a:r>
          </a:p>
        </p:txBody>
      </p:sp>
      <p:sp>
        <p:nvSpPr>
          <p:cNvPr id="29" name="TextBox 28"/>
          <p:cNvSpPr txBox="1"/>
          <p:nvPr/>
        </p:nvSpPr>
        <p:spPr>
          <a:xfrm>
            <a:off x="4983480" y="3520440"/>
            <a:ext cx="1965960" cy="457200"/>
          </a:xfrm>
          <a:prstGeom prst="rect">
            <a:avLst/>
          </a:prstGeom>
          <a:noFill/>
        </p:spPr>
        <p:txBody>
          <a:bodyPr wrap="square" lIns="36576" rIns="36576" tIns="18288" bIns="18288" anchor="ctr">
            <a:noAutofit/>
          </a:bodyPr>
          <a:lstStyle/>
          <a:p>
            <a:pPr>
              <a:spcAft>
                <a:spcPts val="400"/>
              </a:spcAft>
            </a:pPr>
            <a:r>
              <a:rPr sz="1600" b="1" i="0">
                <a:solidFill>
                  <a:srgbClr val="1F4E79"/>
                </a:solidFill>
                <a:latin typeface="Calibri"/>
              </a:rPr>
              <a:t>Assess &amp; verify</a:t>
            </a:r>
          </a:p>
        </p:txBody>
      </p:sp>
      <p:sp>
        <p:nvSpPr>
          <p:cNvPr id="30" name="Rounded Rectangle 29"/>
          <p:cNvSpPr/>
          <p:nvPr/>
        </p:nvSpPr>
        <p:spPr>
          <a:xfrm>
            <a:off x="6931152" y="360273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1" i="0">
                <a:solidFill>
                  <a:srgbClr val="2E7D4F"/>
                </a:solidFill>
                <a:latin typeface="Calibri"/>
              </a:rPr>
              <a:t>Achieved</a:t>
            </a:r>
          </a:p>
        </p:txBody>
      </p:sp>
      <p:sp>
        <p:nvSpPr>
          <p:cNvPr id="31" name="TextBox 30"/>
          <p:cNvSpPr txBox="1"/>
          <p:nvPr/>
        </p:nvSpPr>
        <p:spPr>
          <a:xfrm>
            <a:off x="4416552" y="4087368"/>
            <a:ext cx="3291840" cy="960120"/>
          </a:xfrm>
          <a:prstGeom prst="rect">
            <a:avLst/>
          </a:prstGeom>
          <a:noFill/>
        </p:spPr>
        <p:txBody>
          <a:bodyPr wrap="square" lIns="36576" rIns="36576" tIns="18288" bIns="18288" anchor="t">
            <a:noAutofit/>
          </a:bodyPr>
          <a:lstStyle/>
          <a:p>
            <a:pPr>
              <a:spcAft>
                <a:spcPts val="400"/>
              </a:spcAft>
            </a:pPr>
            <a:r>
              <a:rPr sz="1300" b="0" i="0">
                <a:solidFill>
                  <a:srgbClr val="262626"/>
                </a:solidFill>
                <a:latin typeface="Calibri"/>
              </a:rPr>
              <a:t>Score risk with transparent rules, explain it without inventing facts, and verify approved changes in a sandbox.</a:t>
            </a:r>
          </a:p>
        </p:txBody>
      </p:sp>
      <p:sp>
        <p:nvSpPr>
          <p:cNvPr id="32" name="Rounded Rectangle 31"/>
          <p:cNvSpPr/>
          <p:nvPr/>
        </p:nvSpPr>
        <p:spPr>
          <a:xfrm>
            <a:off x="8101584" y="3337560"/>
            <a:ext cx="3657600" cy="17830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3" name="Oval 32"/>
          <p:cNvSpPr/>
          <p:nvPr/>
        </p:nvSpPr>
        <p:spPr>
          <a:xfrm>
            <a:off x="8284464" y="3520440"/>
            <a:ext cx="457200" cy="4572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600" b="1" i="0">
                <a:solidFill>
                  <a:srgbClr val="FFFFFF"/>
                </a:solidFill>
                <a:latin typeface="Calibri"/>
              </a:rPr>
              <a:t>6</a:t>
            </a:r>
          </a:p>
        </p:txBody>
      </p:sp>
      <p:sp>
        <p:nvSpPr>
          <p:cNvPr id="34" name="TextBox 33"/>
          <p:cNvSpPr txBox="1"/>
          <p:nvPr/>
        </p:nvSpPr>
        <p:spPr>
          <a:xfrm>
            <a:off x="8851392" y="3520440"/>
            <a:ext cx="1965960" cy="457200"/>
          </a:xfrm>
          <a:prstGeom prst="rect">
            <a:avLst/>
          </a:prstGeom>
          <a:noFill/>
        </p:spPr>
        <p:txBody>
          <a:bodyPr wrap="square" lIns="36576" rIns="36576" tIns="18288" bIns="18288" anchor="ctr">
            <a:noAutofit/>
          </a:bodyPr>
          <a:lstStyle/>
          <a:p>
            <a:pPr>
              <a:spcAft>
                <a:spcPts val="400"/>
              </a:spcAft>
            </a:pPr>
            <a:r>
              <a:rPr sz="1600" b="1" i="0">
                <a:solidFill>
                  <a:srgbClr val="1F4E79"/>
                </a:solidFill>
                <a:latin typeface="Calibri"/>
              </a:rPr>
              <a:t>Remember &amp; deliver</a:t>
            </a:r>
          </a:p>
        </p:txBody>
      </p:sp>
      <p:sp>
        <p:nvSpPr>
          <p:cNvPr id="35" name="Rounded Rectangle 34"/>
          <p:cNvSpPr/>
          <p:nvPr/>
        </p:nvSpPr>
        <p:spPr>
          <a:xfrm>
            <a:off x="10799064" y="3602736"/>
            <a:ext cx="822960" cy="292608"/>
          </a:xfrm>
          <a:prstGeom prst="roundRect">
            <a:avLst>
              <a:gd name="adj" fmla="val 40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1" i="0">
                <a:solidFill>
                  <a:srgbClr val="2E7D4F"/>
                </a:solidFill>
                <a:latin typeface="Calibri"/>
              </a:rPr>
              <a:t>Achieved</a:t>
            </a:r>
          </a:p>
        </p:txBody>
      </p:sp>
      <p:sp>
        <p:nvSpPr>
          <p:cNvPr id="36" name="TextBox 35"/>
          <p:cNvSpPr txBox="1"/>
          <p:nvPr/>
        </p:nvSpPr>
        <p:spPr>
          <a:xfrm>
            <a:off x="8284464" y="4087368"/>
            <a:ext cx="3291840" cy="960120"/>
          </a:xfrm>
          <a:prstGeom prst="rect">
            <a:avLst/>
          </a:prstGeom>
          <a:noFill/>
        </p:spPr>
        <p:txBody>
          <a:bodyPr wrap="square" lIns="36576" rIns="36576" tIns="18288" bIns="18288" anchor="t">
            <a:noAutofit/>
          </a:bodyPr>
          <a:lstStyle/>
          <a:p>
            <a:pPr>
              <a:spcAft>
                <a:spcPts val="400"/>
              </a:spcAft>
            </a:pPr>
            <a:r>
              <a:rPr sz="1300" b="0" i="0">
                <a:solidFill>
                  <a:srgbClr val="262626"/>
                </a:solidFill>
                <a:latin typeface="Calibri"/>
              </a:rPr>
              <a:t>Store every analysis in episodic memory and present results, history and inventory in a dashboard.</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System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b="1" i="1" dirty="0">
                <a:solidFill>
                  <a:srgbClr val="FFFFFF"/>
                </a:solidFill>
              </a:rPr>
              <a:t>Personal IT Change Impact Agent</a:t>
            </a:r>
          </a:p>
          <a:p>
            <a:pPr algn="r"/>
            <a:endParaRPr lang="en-US" dirty="0"/>
          </a:p>
        </p:txBody>
      </p:sp>
      <p:sp>
        <p:nvSpPr>
          <p:cNvPr id="19" name="TextBox 18"/>
          <p:cNvSpPr txBox="1"/>
          <p:nvPr/>
        </p:nvSpPr>
        <p:spPr>
          <a:xfrm>
            <a:off x="320040" y="1325880"/>
            <a:ext cx="11521440" cy="411480"/>
          </a:xfrm>
          <a:prstGeom prst="rect">
            <a:avLst/>
          </a:prstGeom>
          <a:noFill/>
        </p:spPr>
        <p:txBody>
          <a:bodyPr wrap="square" lIns="36576" rIns="36576" tIns="18288" bIns="18288" anchor="t">
            <a:noAutofit/>
          </a:bodyPr>
          <a:lstStyle/>
          <a:p>
            <a:pPr>
              <a:spcAft>
                <a:spcPts val="400"/>
              </a:spcAft>
            </a:pPr>
            <a:r>
              <a:rPr sz="2000" b="1" i="0">
                <a:solidFill>
                  <a:srgbClr val="2E75B6"/>
                </a:solidFill>
                <a:latin typeface="Calibri"/>
              </a:rPr>
              <a:t>Six modules, built and integrated end to end</a:t>
            </a:r>
          </a:p>
        </p:txBody>
      </p:sp>
      <p:sp>
        <p:nvSpPr>
          <p:cNvPr id="20" name="Rounded Rectangle 19"/>
          <p:cNvSpPr/>
          <p:nvPr/>
        </p:nvSpPr>
        <p:spPr>
          <a:xfrm>
            <a:off x="365760" y="1874519"/>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21" name="Rounded Rectangle 20"/>
          <p:cNvSpPr/>
          <p:nvPr/>
        </p:nvSpPr>
        <p:spPr>
          <a:xfrm>
            <a:off x="530352" y="2029967"/>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300" b="1" i="0">
                <a:solidFill>
                  <a:srgbClr val="FFFFFF"/>
                </a:solidFill>
                <a:latin typeface="Calibri"/>
              </a:rPr>
              <a:t>M1</a:t>
            </a:r>
          </a:p>
        </p:txBody>
      </p:sp>
      <p:sp>
        <p:nvSpPr>
          <p:cNvPr id="22" name="TextBox 21"/>
          <p:cNvSpPr txBox="1"/>
          <p:nvPr/>
        </p:nvSpPr>
        <p:spPr>
          <a:xfrm>
            <a:off x="1143000" y="2029967"/>
            <a:ext cx="2788920" cy="384048"/>
          </a:xfrm>
          <a:prstGeom prst="rect">
            <a:avLst/>
          </a:prstGeom>
          <a:noFill/>
        </p:spPr>
        <p:txBody>
          <a:bodyPr wrap="square" lIns="36576" rIns="36576" tIns="18288" bIns="18288" anchor="ctr">
            <a:noAutofit/>
          </a:bodyPr>
          <a:lstStyle/>
          <a:p>
            <a:pPr>
              <a:spcAft>
                <a:spcPts val="400"/>
              </a:spcAft>
            </a:pPr>
            <a:r>
              <a:rPr sz="1450" b="1" i="0">
                <a:solidFill>
                  <a:srgbClr val="1F4E79"/>
                </a:solidFill>
                <a:latin typeface="Calibri"/>
              </a:rPr>
              <a:t>Environment discovery</a:t>
            </a:r>
          </a:p>
        </p:txBody>
      </p:sp>
      <p:sp>
        <p:nvSpPr>
          <p:cNvPr id="23" name="TextBox 22"/>
          <p:cNvSpPr txBox="1"/>
          <p:nvPr/>
        </p:nvSpPr>
        <p:spPr>
          <a:xfrm>
            <a:off x="530352" y="2514600"/>
            <a:ext cx="3337560" cy="868680"/>
          </a:xfrm>
          <a:prstGeom prst="rect">
            <a:avLst/>
          </a:prstGeom>
          <a:noFill/>
        </p:spPr>
        <p:txBody>
          <a:bodyPr wrap="square" lIns="36576" rIns="36576" tIns="18288" bIns="18288" anchor="t">
            <a:noAutofit/>
          </a:bodyPr>
          <a:lstStyle/>
          <a:p>
            <a:pPr>
              <a:spcAft>
                <a:spcPts val="400"/>
              </a:spcAft>
            </a:pPr>
            <a:r>
              <a:rPr sz="1200" b="0" i="0">
                <a:solidFill>
                  <a:srgbClr val="262626"/>
                </a:solidFill>
                <a:latin typeface="Calibri"/>
              </a:rPr>
              <a:t>Scans interpreters (py -0p), virtualenvs (pyvenv.cfg + importlib.metadata), Docker and Git into PostgreSQL.</a:t>
            </a:r>
          </a:p>
        </p:txBody>
      </p:sp>
      <p:sp>
        <p:nvSpPr>
          <p:cNvPr id="24" name="Rounded Rectangle 23"/>
          <p:cNvSpPr/>
          <p:nvPr/>
        </p:nvSpPr>
        <p:spPr>
          <a:xfrm>
            <a:off x="4274820" y="1874519"/>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25" name="Rounded Rectangle 24"/>
          <p:cNvSpPr/>
          <p:nvPr/>
        </p:nvSpPr>
        <p:spPr>
          <a:xfrm>
            <a:off x="4439412" y="2029967"/>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300" b="1" i="0">
                <a:solidFill>
                  <a:srgbClr val="FFFFFF"/>
                </a:solidFill>
                <a:latin typeface="Calibri"/>
              </a:rPr>
              <a:t>M2</a:t>
            </a:r>
          </a:p>
        </p:txBody>
      </p:sp>
      <p:sp>
        <p:nvSpPr>
          <p:cNvPr id="26" name="TextBox 25"/>
          <p:cNvSpPr txBox="1"/>
          <p:nvPr/>
        </p:nvSpPr>
        <p:spPr>
          <a:xfrm>
            <a:off x="5052060" y="2029967"/>
            <a:ext cx="2788920" cy="384048"/>
          </a:xfrm>
          <a:prstGeom prst="rect">
            <a:avLst/>
          </a:prstGeom>
          <a:noFill/>
        </p:spPr>
        <p:txBody>
          <a:bodyPr wrap="square" lIns="36576" rIns="36576" tIns="18288" bIns="18288" anchor="ctr">
            <a:noAutofit/>
          </a:bodyPr>
          <a:lstStyle/>
          <a:p>
            <a:pPr>
              <a:spcAft>
                <a:spcPts val="400"/>
              </a:spcAft>
            </a:pPr>
            <a:r>
              <a:rPr sz="1450" b="1" i="0">
                <a:solidFill>
                  <a:srgbClr val="1F4E79"/>
                </a:solidFill>
                <a:latin typeface="Calibri"/>
              </a:rPr>
              <a:t>Dependency graph</a:t>
            </a:r>
          </a:p>
        </p:txBody>
      </p:sp>
      <p:sp>
        <p:nvSpPr>
          <p:cNvPr id="27" name="TextBox 26"/>
          <p:cNvSpPr txBox="1"/>
          <p:nvPr/>
        </p:nvSpPr>
        <p:spPr>
          <a:xfrm>
            <a:off x="4439412" y="2514600"/>
            <a:ext cx="3337560" cy="868680"/>
          </a:xfrm>
          <a:prstGeom prst="rect">
            <a:avLst/>
          </a:prstGeom>
          <a:noFill/>
        </p:spPr>
        <p:txBody>
          <a:bodyPr wrap="square" lIns="36576" rIns="36576" tIns="18288" bIns="18288" anchor="t">
            <a:noAutofit/>
          </a:bodyPr>
          <a:lstStyle/>
          <a:p>
            <a:pPr>
              <a:spcAft>
                <a:spcPts val="400"/>
              </a:spcAft>
            </a:pPr>
            <a:r>
              <a:rPr sz="1200" b="0" i="0">
                <a:solidFill>
                  <a:srgbClr val="262626"/>
                </a:solidFill>
                <a:latin typeface="Calibri"/>
              </a:rPr>
              <a:t>Parses requirements.txt, pyproject.toml and Dockerfiles; resolves Requires-Dist to split direct and transitive dependencies.</a:t>
            </a:r>
          </a:p>
        </p:txBody>
      </p:sp>
      <p:sp>
        <p:nvSpPr>
          <p:cNvPr id="28" name="Rounded Rectangle 27"/>
          <p:cNvSpPr/>
          <p:nvPr/>
        </p:nvSpPr>
        <p:spPr>
          <a:xfrm>
            <a:off x="8183880" y="1874519"/>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29" name="Rounded Rectangle 28"/>
          <p:cNvSpPr/>
          <p:nvPr/>
        </p:nvSpPr>
        <p:spPr>
          <a:xfrm>
            <a:off x="8348472" y="2029967"/>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300" b="1" i="0">
                <a:solidFill>
                  <a:srgbClr val="FFFFFF"/>
                </a:solidFill>
                <a:latin typeface="Calibri"/>
              </a:rPr>
              <a:t>M3</a:t>
            </a:r>
          </a:p>
        </p:txBody>
      </p:sp>
      <p:sp>
        <p:nvSpPr>
          <p:cNvPr id="30" name="TextBox 29"/>
          <p:cNvSpPr txBox="1"/>
          <p:nvPr/>
        </p:nvSpPr>
        <p:spPr>
          <a:xfrm>
            <a:off x="8961120" y="2029967"/>
            <a:ext cx="2788920" cy="384048"/>
          </a:xfrm>
          <a:prstGeom prst="rect">
            <a:avLst/>
          </a:prstGeom>
          <a:noFill/>
        </p:spPr>
        <p:txBody>
          <a:bodyPr wrap="square" lIns="36576" rIns="36576" tIns="18288" bIns="18288" anchor="ctr">
            <a:noAutofit/>
          </a:bodyPr>
          <a:lstStyle/>
          <a:p>
            <a:pPr>
              <a:spcAft>
                <a:spcPts val="400"/>
              </a:spcAft>
            </a:pPr>
            <a:r>
              <a:rPr sz="1450" b="1" i="0">
                <a:solidFill>
                  <a:srgbClr val="1F4E79"/>
                </a:solidFill>
                <a:latin typeface="Calibri"/>
              </a:rPr>
              <a:t>Evidence &amp; compatibility</a:t>
            </a:r>
          </a:p>
        </p:txBody>
      </p:sp>
      <p:sp>
        <p:nvSpPr>
          <p:cNvPr id="31" name="TextBox 30"/>
          <p:cNvSpPr txBox="1"/>
          <p:nvPr/>
        </p:nvSpPr>
        <p:spPr>
          <a:xfrm>
            <a:off x="8348472" y="2514600"/>
            <a:ext cx="3337560" cy="868680"/>
          </a:xfrm>
          <a:prstGeom prst="rect">
            <a:avLst/>
          </a:prstGeom>
          <a:noFill/>
        </p:spPr>
        <p:txBody>
          <a:bodyPr wrap="square" lIns="36576" rIns="36576" tIns="18288" bIns="18288" anchor="t">
            <a:noAutofit/>
          </a:bodyPr>
          <a:lstStyle/>
          <a:p>
            <a:pPr>
              <a:spcAft>
                <a:spcPts val="400"/>
              </a:spcAft>
            </a:pPr>
            <a:r>
              <a:rPr sz="1200" b="0" i="0">
                <a:solidFill>
                  <a:srgbClr val="262626"/>
                </a:solidFill>
                <a:latin typeface="Calibri"/>
              </a:rPr>
              <a:t>On-demand PyPI ingest, 384-d embeddings in pgvector, version-filtered retrieval, Requires-Python and wheel checks.</a:t>
            </a:r>
          </a:p>
        </p:txBody>
      </p:sp>
      <p:sp>
        <p:nvSpPr>
          <p:cNvPr id="32" name="Rounded Rectangle 31"/>
          <p:cNvSpPr/>
          <p:nvPr/>
        </p:nvSpPr>
        <p:spPr>
          <a:xfrm>
            <a:off x="365760" y="3547872"/>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3" name="Rounded Rectangle 32"/>
          <p:cNvSpPr/>
          <p:nvPr/>
        </p:nvSpPr>
        <p:spPr>
          <a:xfrm>
            <a:off x="530352" y="3703320"/>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300" b="1" i="0">
                <a:solidFill>
                  <a:srgbClr val="FFFFFF"/>
                </a:solidFill>
                <a:latin typeface="Calibri"/>
              </a:rPr>
              <a:t>M4</a:t>
            </a:r>
          </a:p>
        </p:txBody>
      </p:sp>
      <p:sp>
        <p:nvSpPr>
          <p:cNvPr id="34" name="TextBox 33"/>
          <p:cNvSpPr txBox="1"/>
          <p:nvPr/>
        </p:nvSpPr>
        <p:spPr>
          <a:xfrm>
            <a:off x="1143000" y="3703320"/>
            <a:ext cx="2788920" cy="384048"/>
          </a:xfrm>
          <a:prstGeom prst="rect">
            <a:avLst/>
          </a:prstGeom>
          <a:noFill/>
        </p:spPr>
        <p:txBody>
          <a:bodyPr wrap="square" lIns="36576" rIns="36576" tIns="18288" bIns="18288" anchor="ctr">
            <a:noAutofit/>
          </a:bodyPr>
          <a:lstStyle/>
          <a:p>
            <a:pPr>
              <a:spcAft>
                <a:spcPts val="400"/>
              </a:spcAft>
            </a:pPr>
            <a:r>
              <a:rPr sz="1450" b="1" i="0">
                <a:solidFill>
                  <a:srgbClr val="1F4E79"/>
                </a:solidFill>
                <a:latin typeface="Calibri"/>
              </a:rPr>
              <a:t>Agent &amp; risk engine</a:t>
            </a:r>
          </a:p>
        </p:txBody>
      </p:sp>
      <p:sp>
        <p:nvSpPr>
          <p:cNvPr id="35" name="TextBox 34"/>
          <p:cNvSpPr txBox="1"/>
          <p:nvPr/>
        </p:nvSpPr>
        <p:spPr>
          <a:xfrm>
            <a:off x="530352" y="4187952"/>
            <a:ext cx="3337560" cy="868680"/>
          </a:xfrm>
          <a:prstGeom prst="rect">
            <a:avLst/>
          </a:prstGeom>
          <a:noFill/>
        </p:spPr>
        <p:txBody>
          <a:bodyPr wrap="square" lIns="36576" rIns="36576" tIns="18288" bIns="18288" anchor="t">
            <a:noAutofit/>
          </a:bodyPr>
          <a:lstStyle/>
          <a:p>
            <a:pPr>
              <a:spcAft>
                <a:spcPts val="400"/>
              </a:spcAft>
            </a:pPr>
            <a:r>
              <a:rPr sz="1200" b="0" i="0">
                <a:solidFill>
                  <a:srgbClr val="262626"/>
                </a:solidFill>
                <a:latin typeface="Calibri"/>
              </a:rPr>
              <a:t>LangGraph workflow: LLM parsing, tool-based investigation, rule-based risk scoring and conditional routing.</a:t>
            </a:r>
          </a:p>
        </p:txBody>
      </p:sp>
      <p:sp>
        <p:nvSpPr>
          <p:cNvPr id="36" name="Rounded Rectangle 35"/>
          <p:cNvSpPr/>
          <p:nvPr/>
        </p:nvSpPr>
        <p:spPr>
          <a:xfrm>
            <a:off x="4274820" y="3547872"/>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7" name="Rounded Rectangle 36"/>
          <p:cNvSpPr/>
          <p:nvPr/>
        </p:nvSpPr>
        <p:spPr>
          <a:xfrm>
            <a:off x="4439412" y="3703320"/>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300" b="1" i="0">
                <a:solidFill>
                  <a:srgbClr val="FFFFFF"/>
                </a:solidFill>
                <a:latin typeface="Calibri"/>
              </a:rPr>
              <a:t>M5</a:t>
            </a:r>
          </a:p>
        </p:txBody>
      </p:sp>
      <p:sp>
        <p:nvSpPr>
          <p:cNvPr id="38" name="TextBox 37"/>
          <p:cNvSpPr txBox="1"/>
          <p:nvPr/>
        </p:nvSpPr>
        <p:spPr>
          <a:xfrm>
            <a:off x="5052060" y="3703320"/>
            <a:ext cx="2788920" cy="384048"/>
          </a:xfrm>
          <a:prstGeom prst="rect">
            <a:avLst/>
          </a:prstGeom>
          <a:noFill/>
        </p:spPr>
        <p:txBody>
          <a:bodyPr wrap="square" lIns="36576" rIns="36576" tIns="18288" bIns="18288" anchor="ctr">
            <a:noAutofit/>
          </a:bodyPr>
          <a:lstStyle/>
          <a:p>
            <a:pPr>
              <a:spcAft>
                <a:spcPts val="400"/>
              </a:spcAft>
            </a:pPr>
            <a:r>
              <a:rPr sz="1450" b="1" i="0">
                <a:solidFill>
                  <a:srgbClr val="1F4E79"/>
                </a:solidFill>
                <a:latin typeface="Calibri"/>
              </a:rPr>
              <a:t>Memory &amp; controlled execution</a:t>
            </a:r>
          </a:p>
        </p:txBody>
      </p:sp>
      <p:sp>
        <p:nvSpPr>
          <p:cNvPr id="39" name="TextBox 38"/>
          <p:cNvSpPr txBox="1"/>
          <p:nvPr/>
        </p:nvSpPr>
        <p:spPr>
          <a:xfrm>
            <a:off x="4439412" y="4187952"/>
            <a:ext cx="3337560" cy="868680"/>
          </a:xfrm>
          <a:prstGeom prst="rect">
            <a:avLst/>
          </a:prstGeom>
          <a:noFill/>
        </p:spPr>
        <p:txBody>
          <a:bodyPr wrap="square" lIns="36576" rIns="36576" tIns="18288" bIns="18288" anchor="t">
            <a:noAutofit/>
          </a:bodyPr>
          <a:lstStyle/>
          <a:p>
            <a:pPr>
              <a:spcAft>
                <a:spcPts val="400"/>
              </a:spcAft>
            </a:pPr>
            <a:r>
              <a:rPr sz="1200" b="0" i="0">
                <a:solidFill>
                  <a:srgbClr val="262626"/>
                </a:solidFill>
                <a:latin typeface="Calibri"/>
              </a:rPr>
              <a:t>Episodic memory of past changes and outcomes; approval-gated dry run in a cloned virtual environment.</a:t>
            </a:r>
          </a:p>
        </p:txBody>
      </p:sp>
      <p:sp>
        <p:nvSpPr>
          <p:cNvPr id="40" name="Rounded Rectangle 39"/>
          <p:cNvSpPr/>
          <p:nvPr/>
        </p:nvSpPr>
        <p:spPr>
          <a:xfrm>
            <a:off x="8183880" y="3547872"/>
            <a:ext cx="3657600" cy="15544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41" name="Rounded Rectangle 40"/>
          <p:cNvSpPr/>
          <p:nvPr/>
        </p:nvSpPr>
        <p:spPr>
          <a:xfrm>
            <a:off x="8348472" y="3703320"/>
            <a:ext cx="502920" cy="38404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300" b="1" i="0">
                <a:solidFill>
                  <a:srgbClr val="FFFFFF"/>
                </a:solidFill>
                <a:latin typeface="Calibri"/>
              </a:rPr>
              <a:t>M6</a:t>
            </a:r>
          </a:p>
        </p:txBody>
      </p:sp>
      <p:sp>
        <p:nvSpPr>
          <p:cNvPr id="42" name="TextBox 41"/>
          <p:cNvSpPr txBox="1"/>
          <p:nvPr/>
        </p:nvSpPr>
        <p:spPr>
          <a:xfrm>
            <a:off x="8961120" y="3703320"/>
            <a:ext cx="2788920" cy="384048"/>
          </a:xfrm>
          <a:prstGeom prst="rect">
            <a:avLst/>
          </a:prstGeom>
          <a:noFill/>
        </p:spPr>
        <p:txBody>
          <a:bodyPr wrap="square" lIns="36576" rIns="36576" tIns="18288" bIns="18288" anchor="ctr">
            <a:noAutofit/>
          </a:bodyPr>
          <a:lstStyle/>
          <a:p>
            <a:pPr>
              <a:spcAft>
                <a:spcPts val="400"/>
              </a:spcAft>
            </a:pPr>
            <a:r>
              <a:rPr sz="1450" b="1" i="0">
                <a:solidFill>
                  <a:srgbClr val="1F4E79"/>
                </a:solidFill>
                <a:latin typeface="Calibri"/>
              </a:rPr>
              <a:t>Dashboard &amp; evaluation</a:t>
            </a:r>
          </a:p>
        </p:txBody>
      </p:sp>
      <p:sp>
        <p:nvSpPr>
          <p:cNvPr id="43" name="TextBox 42"/>
          <p:cNvSpPr txBox="1"/>
          <p:nvPr/>
        </p:nvSpPr>
        <p:spPr>
          <a:xfrm>
            <a:off x="8348472" y="4187952"/>
            <a:ext cx="3337560" cy="868680"/>
          </a:xfrm>
          <a:prstGeom prst="rect">
            <a:avLst/>
          </a:prstGeom>
          <a:noFill/>
        </p:spPr>
        <p:txBody>
          <a:bodyPr wrap="square" lIns="36576" rIns="36576" tIns="18288" bIns="18288" anchor="t">
            <a:noAutofit/>
          </a:bodyPr>
          <a:lstStyle/>
          <a:p>
            <a:pPr>
              <a:spcAft>
                <a:spcPts val="400"/>
              </a:spcAft>
            </a:pPr>
            <a:r>
              <a:rPr sz="1200" b="0" i="0">
                <a:solidFill>
                  <a:srgbClr val="262626"/>
                </a:solidFill>
                <a:latin typeface="Calibri"/>
              </a:rPr>
              <a:t>Streamlit app with live agent trace, impact map, inventory and history; benchmark suite for accuracy.</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371600"/>
            <a:ext cx="11475720" cy="1097280"/>
          </a:xfrm>
          <a:prstGeom prst="roundRect">
            <a:avLst>
              <a:gd name="adj" fmla="val 5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spcAft>
                <a:spcPts val="400"/>
              </a:spcAft>
            </a:pPr>
            <a:r>
              <a:rPr sz="1500" b="1" i="0">
                <a:solidFill>
                  <a:srgbClr val="1F4E79"/>
                </a:solidFill>
                <a:latin typeface="Calibri"/>
              </a:rPr>
              <a:t>Problem: </a:t>
            </a:r>
            <a:r>
              <a:rPr sz="1500" b="0" i="0">
                <a:solidFill>
                  <a:srgbClr val="262626"/>
                </a:solidFill>
                <a:latin typeface="Calibri"/>
              </a:rPr>
              <a:t>Developers and IT teams cannot see what a package upgrade, downgrade or removal will break until after it is made. Dependencies are spread across many environments, and today’s check (pip show in each venv, reading manifests and changelogs) is manual, slow and incomplete.</a:t>
            </a:r>
          </a:p>
        </p:txBody>
      </p:sp>
      <p:sp>
        <p:nvSpPr>
          <p:cNvPr id="8" name="Rounded Rectangle 7"/>
          <p:cNvSpPr/>
          <p:nvPr/>
        </p:nvSpPr>
        <p:spPr>
          <a:xfrm>
            <a:off x="365760" y="2697480"/>
            <a:ext cx="3657600" cy="2423160"/>
          </a:xfrm>
          <a:prstGeom prst="roundRect">
            <a:avLst>
              <a:gd name="adj" fmla="val 5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9" name="TextBox 8"/>
          <p:cNvSpPr txBox="1"/>
          <p:nvPr/>
        </p:nvSpPr>
        <p:spPr>
          <a:xfrm>
            <a:off x="548640" y="2807208"/>
            <a:ext cx="3291840" cy="365760"/>
          </a:xfrm>
          <a:prstGeom prst="rect">
            <a:avLst/>
          </a:prstGeom>
          <a:noFill/>
        </p:spPr>
        <p:txBody>
          <a:bodyPr wrap="square" lIns="36576" rIns="36576" tIns="18288" bIns="18288" anchor="t">
            <a:noAutofit/>
          </a:bodyPr>
          <a:lstStyle/>
          <a:p>
            <a:pPr>
              <a:spcAft>
                <a:spcPts val="400"/>
              </a:spcAft>
            </a:pPr>
            <a:r>
              <a:rPr sz="1600" b="1" i="0">
                <a:solidFill>
                  <a:srgbClr val="1F4E79"/>
                </a:solidFill>
                <a:latin typeface="Calibri"/>
              </a:rPr>
              <a:t>Scope</a:t>
            </a:r>
          </a:p>
        </p:txBody>
      </p:sp>
      <p:sp>
        <p:nvSpPr>
          <p:cNvPr id="10" name="TextBox 9"/>
          <p:cNvSpPr txBox="1"/>
          <p:nvPr/>
        </p:nvSpPr>
        <p:spPr>
          <a:xfrm>
            <a:off x="548640" y="3218688"/>
            <a:ext cx="3291840" cy="1828800"/>
          </a:xfrm>
          <a:prstGeom prst="rect">
            <a:avLst/>
          </a:prstGeom>
          <a:noFill/>
        </p:spPr>
        <p:txBody>
          <a:bodyPr wrap="square" lIns="36576" rIns="36576" tIns="18288" bIns="18288" anchor="t">
            <a:noAutofit/>
          </a:bodyPr>
          <a:lstStyle/>
          <a:p>
            <a:pPr marL="228600" indent="-228600">
              <a:spcAft>
                <a:spcPts val="600"/>
              </a:spcAft>
              <a:buClr>
                <a:srgbClr val="2E75B6"/>
              </a:buClr>
              <a:buFont typeface="Arial"/>
              <a:buChar char="•"/>
            </a:pPr>
            <a:r>
              <a:rPr sz="1250" b="0" i="0">
                <a:solidFill>
                  <a:srgbClr val="262626"/>
                </a:solidFill>
                <a:latin typeface="Calibri"/>
              </a:rPr>
              <a:t>Whole machine: every interpreter, venv, project, Docker image and Git repo</a:t>
            </a:r>
          </a:p>
          <a:p>
            <a:pPr marL="228600" indent="-228600">
              <a:spcAft>
                <a:spcPts val="600"/>
              </a:spcAft>
              <a:buClr>
                <a:srgbClr val="2E75B6"/>
              </a:buClr>
              <a:buFont typeface="Arial"/>
              <a:buChar char="•"/>
            </a:pPr>
            <a:r>
              <a:rPr sz="1250" b="0" i="0">
                <a:solidFill>
                  <a:srgbClr val="262626"/>
                </a:solidFill>
                <a:latin typeface="Calibri"/>
              </a:rPr>
              <a:t>Single project on request: “…in AutoDiag_RAG” narrows the analysis</a:t>
            </a:r>
          </a:p>
          <a:p>
            <a:pPr marL="228600" indent="-228600">
              <a:spcAft>
                <a:spcPts val="600"/>
              </a:spcAft>
              <a:buClr>
                <a:srgbClr val="2E75B6"/>
              </a:buClr>
              <a:buFont typeface="Arial"/>
              <a:buChar char="•"/>
            </a:pPr>
            <a:r>
              <a:rPr sz="1250" b="0" i="0">
                <a:solidFill>
                  <a:srgbClr val="262626"/>
                </a:solidFill>
                <a:latin typeface="Calibri"/>
              </a:rPr>
              <a:t>Extensible to a fleet of machines reporting to one store</a:t>
            </a:r>
          </a:p>
        </p:txBody>
      </p:sp>
      <p:sp>
        <p:nvSpPr>
          <p:cNvPr id="11" name="Rounded Rectangle 10"/>
          <p:cNvSpPr/>
          <p:nvPr/>
        </p:nvSpPr>
        <p:spPr>
          <a:xfrm>
            <a:off x="4274820" y="2697480"/>
            <a:ext cx="3657600" cy="2423160"/>
          </a:xfrm>
          <a:prstGeom prst="roundRect">
            <a:avLst>
              <a:gd name="adj" fmla="val 5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2" name="TextBox 11"/>
          <p:cNvSpPr txBox="1"/>
          <p:nvPr/>
        </p:nvSpPr>
        <p:spPr>
          <a:xfrm>
            <a:off x="4457700" y="2807208"/>
            <a:ext cx="3291840" cy="365760"/>
          </a:xfrm>
          <a:prstGeom prst="rect">
            <a:avLst/>
          </a:prstGeom>
          <a:noFill/>
        </p:spPr>
        <p:txBody>
          <a:bodyPr wrap="square" lIns="36576" rIns="36576" tIns="18288" bIns="18288" anchor="t">
            <a:noAutofit/>
          </a:bodyPr>
          <a:lstStyle/>
          <a:p>
            <a:pPr>
              <a:spcAft>
                <a:spcPts val="400"/>
              </a:spcAft>
            </a:pPr>
            <a:r>
              <a:rPr sz="1600" b="1" i="0">
                <a:solidFill>
                  <a:srgbClr val="1F4E79"/>
                </a:solidFill>
                <a:latin typeface="Calibri"/>
              </a:rPr>
              <a:t>Why an agent, not a script</a:t>
            </a:r>
          </a:p>
        </p:txBody>
      </p:sp>
      <p:sp>
        <p:nvSpPr>
          <p:cNvPr id="13" name="TextBox 12"/>
          <p:cNvSpPr txBox="1"/>
          <p:nvPr/>
        </p:nvSpPr>
        <p:spPr>
          <a:xfrm>
            <a:off x="4457700" y="3218688"/>
            <a:ext cx="3291840" cy="1828800"/>
          </a:xfrm>
          <a:prstGeom prst="rect">
            <a:avLst/>
          </a:prstGeom>
          <a:noFill/>
        </p:spPr>
        <p:txBody>
          <a:bodyPr wrap="square" lIns="36576" rIns="36576" tIns="18288" bIns="18288" anchor="t">
            <a:noAutofit/>
          </a:bodyPr>
          <a:lstStyle/>
          <a:p>
            <a:pPr marL="228600" indent="-228600">
              <a:spcAft>
                <a:spcPts val="600"/>
              </a:spcAft>
              <a:buClr>
                <a:srgbClr val="2E75B6"/>
              </a:buClr>
              <a:buFont typeface="Arial"/>
              <a:buChar char="•"/>
            </a:pPr>
            <a:r>
              <a:rPr sz="1250" b="0" i="0">
                <a:solidFill>
                  <a:srgbClr val="262626"/>
                </a:solidFill>
                <a:latin typeface="Calibri"/>
              </a:rPr>
              <a:t>Understands free-form questions instead of fixed commands</a:t>
            </a:r>
          </a:p>
          <a:p>
            <a:pPr marL="228600" indent="-228600">
              <a:spcAft>
                <a:spcPts val="600"/>
              </a:spcAft>
              <a:buClr>
                <a:srgbClr val="2E75B6"/>
              </a:buClr>
              <a:buFont typeface="Arial"/>
              <a:buChar char="•"/>
            </a:pPr>
            <a:r>
              <a:rPr sz="1250" b="0" i="0">
                <a:solidFill>
                  <a:srgbClr val="262626"/>
                </a:solidFill>
                <a:latin typeface="Calibri"/>
              </a:rPr>
              <a:t>Takes a different path per question: remove, upgrade, no-op, missing version</a:t>
            </a:r>
          </a:p>
          <a:p>
            <a:pPr marL="228600" indent="-228600">
              <a:spcAft>
                <a:spcPts val="600"/>
              </a:spcAft>
              <a:buClr>
                <a:srgbClr val="2E75B6"/>
              </a:buClr>
              <a:buFont typeface="Arial"/>
              <a:buChar char="•"/>
            </a:pPr>
            <a:r>
              <a:rPr sz="1250" b="0" i="0">
                <a:solidFill>
                  <a:srgbClr val="262626"/>
                </a:solidFill>
                <a:latin typeface="Calibri"/>
              </a:rPr>
              <a:t>Fetches evidence only when needed and explains the verdict</a:t>
            </a:r>
          </a:p>
        </p:txBody>
      </p:sp>
      <p:sp>
        <p:nvSpPr>
          <p:cNvPr id="14" name="Rounded Rectangle 13"/>
          <p:cNvSpPr/>
          <p:nvPr/>
        </p:nvSpPr>
        <p:spPr>
          <a:xfrm>
            <a:off x="8183880" y="2697480"/>
            <a:ext cx="3657600" cy="2423160"/>
          </a:xfrm>
          <a:prstGeom prst="roundRect">
            <a:avLst>
              <a:gd name="adj" fmla="val 5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5" name="TextBox 14"/>
          <p:cNvSpPr txBox="1"/>
          <p:nvPr/>
        </p:nvSpPr>
        <p:spPr>
          <a:xfrm>
            <a:off x="8366760" y="2807208"/>
            <a:ext cx="3291840" cy="365760"/>
          </a:xfrm>
          <a:prstGeom prst="rect">
            <a:avLst/>
          </a:prstGeom>
          <a:noFill/>
        </p:spPr>
        <p:txBody>
          <a:bodyPr wrap="square" lIns="36576" rIns="36576" tIns="18288" bIns="18288" anchor="t">
            <a:noAutofit/>
          </a:bodyPr>
          <a:lstStyle/>
          <a:p>
            <a:pPr>
              <a:spcAft>
                <a:spcPts val="400"/>
              </a:spcAft>
            </a:pPr>
            <a:r>
              <a:rPr sz="1600" b="1" i="0">
                <a:solidFill>
                  <a:srgbClr val="1F4E79"/>
                </a:solidFill>
                <a:latin typeface="Calibri"/>
              </a:rPr>
              <a:t>Why clients need it</a:t>
            </a:r>
          </a:p>
        </p:txBody>
      </p:sp>
      <p:sp>
        <p:nvSpPr>
          <p:cNvPr id="16" name="TextBox 15"/>
          <p:cNvSpPr txBox="1"/>
          <p:nvPr/>
        </p:nvSpPr>
        <p:spPr>
          <a:xfrm>
            <a:off x="8366760" y="3218688"/>
            <a:ext cx="3291840" cy="1828800"/>
          </a:xfrm>
          <a:prstGeom prst="rect">
            <a:avLst/>
          </a:prstGeom>
          <a:noFill/>
        </p:spPr>
        <p:txBody>
          <a:bodyPr wrap="square" lIns="36576" rIns="36576" tIns="18288" bIns="18288" anchor="t">
            <a:noAutofit/>
          </a:bodyPr>
          <a:lstStyle/>
          <a:p>
            <a:pPr marL="228600" indent="-228600">
              <a:spcAft>
                <a:spcPts val="600"/>
              </a:spcAft>
              <a:buClr>
                <a:srgbClr val="2E75B6"/>
              </a:buClr>
              <a:buFont typeface="Arial"/>
              <a:buChar char="•"/>
            </a:pPr>
            <a:r>
              <a:rPr sz="1250" b="0" i="0">
                <a:solidFill>
                  <a:srgbClr val="262626"/>
                </a:solidFill>
                <a:latin typeface="Calibri"/>
              </a:rPr>
              <a:t>Faster, safer security patching</a:t>
            </a:r>
          </a:p>
          <a:p>
            <a:pPr marL="228600" indent="-228600">
              <a:spcAft>
                <a:spcPts val="600"/>
              </a:spcAft>
              <a:buClr>
                <a:srgbClr val="2E75B6"/>
              </a:buClr>
              <a:buFont typeface="Arial"/>
              <a:buChar char="•"/>
            </a:pPr>
            <a:r>
              <a:rPr sz="1250" b="0" i="0">
                <a:solidFill>
                  <a:srgbClr val="262626"/>
                </a:solidFill>
                <a:latin typeface="Calibri"/>
              </a:rPr>
              <a:t>Automatic impact assessments for change approval</a:t>
            </a:r>
          </a:p>
          <a:p>
            <a:pPr marL="228600" indent="-228600">
              <a:spcAft>
                <a:spcPts val="600"/>
              </a:spcAft>
              <a:buClr>
                <a:srgbClr val="2E75B6"/>
              </a:buClr>
              <a:buFont typeface="Arial"/>
              <a:buChar char="•"/>
            </a:pPr>
            <a:r>
              <a:rPr sz="1250" b="0" i="0">
                <a:solidFill>
                  <a:srgbClr val="262626"/>
                </a:solidFill>
                <a:latin typeface="Calibri"/>
              </a:rPr>
              <a:t>Fewer broken environments; a local LLM keeps code private</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 – Agent Workflow</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463040"/>
            <a:ext cx="2011680" cy="914400"/>
          </a:xfrm>
          <a:prstGeom prst="roundRect">
            <a:avLst>
              <a:gd name="adj" fmla="val 6000"/>
            </a:avLst>
          </a:prstGeom>
          <a:solidFill>
            <a:srgbClr val="FFFFFF"/>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262626"/>
                </a:solidFill>
                <a:latin typeface="Calibri"/>
              </a:rPr>
              <a:t>User question</a:t>
            </a:r>
          </a:p>
          <a:p>
            <a:pPr algn="ctr">
              <a:spcAft>
                <a:spcPts val="400"/>
              </a:spcAft>
            </a:pPr>
            <a:r>
              <a:rPr sz="1050" b="0" i="0">
                <a:solidFill>
                  <a:srgbClr val="5F6B7A"/>
                </a:solidFill>
                <a:latin typeface="Calibri"/>
              </a:rPr>
              <a:t>plain English</a:t>
            </a:r>
          </a:p>
        </p:txBody>
      </p:sp>
      <p:sp>
        <p:nvSpPr>
          <p:cNvPr id="8" name="Rounded Rectangle 7"/>
          <p:cNvSpPr/>
          <p:nvPr/>
        </p:nvSpPr>
        <p:spPr>
          <a:xfrm>
            <a:off x="2734056" y="1463040"/>
            <a:ext cx="2011680" cy="914400"/>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parse_change</a:t>
            </a:r>
          </a:p>
          <a:p>
            <a:pPr algn="ctr">
              <a:spcAft>
                <a:spcPts val="400"/>
              </a:spcAft>
            </a:pPr>
            <a:r>
              <a:rPr sz="1050" b="0" i="0">
                <a:solidFill>
                  <a:srgbClr val="E8EEF5"/>
                </a:solidFill>
                <a:latin typeface="Calibri"/>
              </a:rPr>
              <a:t>LLM → ChangeRequest</a:t>
            </a:r>
          </a:p>
        </p:txBody>
      </p:sp>
      <p:sp>
        <p:nvSpPr>
          <p:cNvPr id="9" name="Rounded Rectangle 8"/>
          <p:cNvSpPr/>
          <p:nvPr/>
        </p:nvSpPr>
        <p:spPr>
          <a:xfrm>
            <a:off x="5102352" y="1463040"/>
            <a:ext cx="2011680" cy="914400"/>
          </a:xfrm>
          <a:prstGeom prst="roundRect">
            <a:avLst>
              <a:gd name="adj" fmla="val 6000"/>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recall_memory</a:t>
            </a:r>
          </a:p>
          <a:p>
            <a:pPr algn="ctr">
              <a:spcAft>
                <a:spcPts val="400"/>
              </a:spcAft>
            </a:pPr>
            <a:r>
              <a:rPr sz="1050" b="0" i="0">
                <a:solidFill>
                  <a:srgbClr val="E8EEF5"/>
                </a:solidFill>
                <a:latin typeface="Calibri"/>
              </a:rPr>
              <a:t>similar past changes</a:t>
            </a:r>
          </a:p>
        </p:txBody>
      </p:sp>
      <p:sp>
        <p:nvSpPr>
          <p:cNvPr id="10" name="Rounded Rectangle 9"/>
          <p:cNvSpPr/>
          <p:nvPr/>
        </p:nvSpPr>
        <p:spPr>
          <a:xfrm>
            <a:off x="7470648" y="1463040"/>
            <a:ext cx="2011680" cy="914400"/>
          </a:xfrm>
          <a:prstGeom prst="roundRect">
            <a:avLst>
              <a:gd name="adj" fmla="val 6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investigate</a:t>
            </a:r>
          </a:p>
          <a:p>
            <a:pPr algn="ctr">
              <a:spcAft>
                <a:spcPts val="400"/>
              </a:spcAft>
            </a:pPr>
            <a:r>
              <a:rPr sz="1050" b="0" i="0">
                <a:solidFill>
                  <a:srgbClr val="E8EEF5"/>
                </a:solidFill>
                <a:latin typeface="Calibri"/>
              </a:rPr>
              <a:t>inventory · graph · PyPI · wheels</a:t>
            </a:r>
          </a:p>
        </p:txBody>
      </p:sp>
      <p:sp>
        <p:nvSpPr>
          <p:cNvPr id="11" name="Rounded Rectangle 10"/>
          <p:cNvSpPr/>
          <p:nvPr/>
        </p:nvSpPr>
        <p:spPr>
          <a:xfrm>
            <a:off x="9838944" y="1463040"/>
            <a:ext cx="2011680" cy="91440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assess_risk</a:t>
            </a:r>
          </a:p>
          <a:p>
            <a:pPr algn="ctr">
              <a:spcAft>
                <a:spcPts val="400"/>
              </a:spcAft>
            </a:pPr>
            <a:r>
              <a:rPr sz="1050" b="0" i="0">
                <a:solidFill>
                  <a:srgbClr val="E8EEF5"/>
                </a:solidFill>
                <a:latin typeface="Calibri"/>
              </a:rPr>
              <a:t>rules → low / medium / high</a:t>
            </a:r>
          </a:p>
        </p:txBody>
      </p:sp>
      <p:cxnSp>
        <p:nvCxnSpPr>
          <p:cNvPr id="12" name="Connector 11"/>
          <p:cNvCxnSpPr/>
          <p:nvPr/>
        </p:nvCxnSpPr>
        <p:spPr>
          <a:xfrm>
            <a:off x="2395728"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64024"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32320"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00616" y="19202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844784" y="2395728"/>
            <a:ext cx="0" cy="420624"/>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Diamond 16"/>
          <p:cNvSpPr/>
          <p:nvPr/>
        </p:nvSpPr>
        <p:spPr>
          <a:xfrm>
            <a:off x="10250424" y="2834640"/>
            <a:ext cx="1188720" cy="914400"/>
          </a:xfrm>
          <a:prstGeom prst="diamond">
            <a:avLst/>
          </a:prstGeom>
          <a:solidFill>
            <a:srgbClr val="FFF4DF"/>
          </a:solidFill>
          <a:ln w="952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400"/>
              </a:spcAft>
            </a:pPr>
            <a:r>
              <a:rPr sz="1250" b="1" i="0">
                <a:solidFill>
                  <a:srgbClr val="262626"/>
                </a:solidFill>
                <a:latin typeface="Calibri"/>
              </a:rPr>
              <a:t>no-op?</a:t>
            </a:r>
          </a:p>
        </p:txBody>
      </p:sp>
      <p:sp>
        <p:nvSpPr>
          <p:cNvPr id="18" name="Rounded Rectangle 17"/>
          <p:cNvSpPr/>
          <p:nvPr/>
        </p:nvSpPr>
        <p:spPr>
          <a:xfrm>
            <a:off x="7470648" y="2834640"/>
            <a:ext cx="2011680" cy="914400"/>
          </a:xfrm>
          <a:prstGeom prst="roundRect">
            <a:avLst>
              <a:gd name="adj" fmla="val 6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write_report</a:t>
            </a:r>
          </a:p>
          <a:p>
            <a:pPr algn="ctr">
              <a:spcAft>
                <a:spcPts val="400"/>
              </a:spcAft>
            </a:pPr>
            <a:r>
              <a:rPr sz="1050" b="0" i="0">
                <a:solidFill>
                  <a:srgbClr val="E8EEF5"/>
                </a:solidFill>
                <a:latin typeface="Calibri"/>
              </a:rPr>
              <a:t>facts + LLM explanation</a:t>
            </a:r>
          </a:p>
        </p:txBody>
      </p:sp>
      <p:sp>
        <p:nvSpPr>
          <p:cNvPr id="19" name="Rounded Rectangle 18"/>
          <p:cNvSpPr/>
          <p:nvPr/>
        </p:nvSpPr>
        <p:spPr>
          <a:xfrm>
            <a:off x="5102352" y="2834640"/>
            <a:ext cx="2011680" cy="914400"/>
          </a:xfrm>
          <a:prstGeom prst="roundRect">
            <a:avLst>
              <a:gd name="adj" fmla="val 6000"/>
            </a:avLst>
          </a:prstGeom>
          <a:solidFill>
            <a:srgbClr val="FFF4DF"/>
          </a:solidFill>
          <a:ln w="952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262626"/>
                </a:solidFill>
                <a:latin typeface="Calibri"/>
              </a:rPr>
              <a:t>Human approval</a:t>
            </a:r>
          </a:p>
          <a:p>
            <a:pPr algn="ctr">
              <a:spcAft>
                <a:spcPts val="400"/>
              </a:spcAft>
            </a:pPr>
            <a:r>
              <a:rPr sz="1050" b="0" i="0">
                <a:solidFill>
                  <a:srgbClr val="5F6B7A"/>
                </a:solidFill>
                <a:latin typeface="Calibri"/>
              </a:rPr>
              <a:t>user decides to proceed</a:t>
            </a:r>
          </a:p>
        </p:txBody>
      </p:sp>
      <p:sp>
        <p:nvSpPr>
          <p:cNvPr id="20" name="Rounded Rectangle 19"/>
          <p:cNvSpPr/>
          <p:nvPr/>
        </p:nvSpPr>
        <p:spPr>
          <a:xfrm>
            <a:off x="2734056" y="2834640"/>
            <a:ext cx="2011680" cy="914400"/>
          </a:xfrm>
          <a:prstGeom prst="roundRect">
            <a:avLst>
              <a:gd name="adj" fmla="val 6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dry_run</a:t>
            </a:r>
          </a:p>
          <a:p>
            <a:pPr algn="ctr">
              <a:spcAft>
                <a:spcPts val="400"/>
              </a:spcAft>
            </a:pPr>
            <a:r>
              <a:rPr sz="1050" b="0" i="0">
                <a:solidFill>
                  <a:srgbClr val="E8EEF5"/>
                </a:solidFill>
                <a:latin typeface="Calibri"/>
              </a:rPr>
              <a:t>cloned venv + import tests</a:t>
            </a:r>
          </a:p>
        </p:txBody>
      </p:sp>
      <p:sp>
        <p:nvSpPr>
          <p:cNvPr id="21" name="Rounded Rectangle 20"/>
          <p:cNvSpPr/>
          <p:nvPr/>
        </p:nvSpPr>
        <p:spPr>
          <a:xfrm>
            <a:off x="365760" y="2834640"/>
            <a:ext cx="2011680" cy="914400"/>
          </a:xfrm>
          <a:prstGeom prst="roundRect">
            <a:avLst>
              <a:gd name="adj" fmla="val 6000"/>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save_memory</a:t>
            </a:r>
          </a:p>
          <a:p>
            <a:pPr algn="ctr">
              <a:spcAft>
                <a:spcPts val="400"/>
              </a:spcAft>
            </a:pPr>
            <a:r>
              <a:rPr sz="1050" b="0" i="0">
                <a:solidFill>
                  <a:srgbClr val="E8EEF5"/>
                </a:solidFill>
                <a:latin typeface="Calibri"/>
              </a:rPr>
              <a:t>verdict + outcome</a:t>
            </a:r>
          </a:p>
        </p:txBody>
      </p:sp>
      <p:cxnSp>
        <p:nvCxnSpPr>
          <p:cNvPr id="22" name="Connector 21"/>
          <p:cNvCxnSpPr/>
          <p:nvPr/>
        </p:nvCxnSpPr>
        <p:spPr>
          <a:xfrm flipH="1">
            <a:off x="9500616" y="3291840"/>
            <a:ext cx="73152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132320" y="32918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764024" y="32918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395728" y="3291840"/>
            <a:ext cx="320040" cy="0"/>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46920" y="2999232"/>
            <a:ext cx="457200" cy="274320"/>
          </a:xfrm>
          <a:prstGeom prst="rect">
            <a:avLst/>
          </a:prstGeom>
          <a:noFill/>
        </p:spPr>
        <p:txBody>
          <a:bodyPr wrap="square" lIns="36576" rIns="36576" tIns="18288" bIns="18288" anchor="t">
            <a:noAutofit/>
          </a:bodyPr>
          <a:lstStyle/>
          <a:p>
            <a:pPr>
              <a:spcAft>
                <a:spcPts val="400"/>
              </a:spcAft>
            </a:pPr>
            <a:r>
              <a:rPr sz="1100" b="0" i="1">
                <a:solidFill>
                  <a:srgbClr val="5F6B7A"/>
                </a:solidFill>
                <a:latin typeface="Calibri"/>
              </a:rPr>
              <a:t>no</a:t>
            </a:r>
          </a:p>
        </p:txBody>
      </p:sp>
      <p:cxnSp>
        <p:nvCxnSpPr>
          <p:cNvPr id="27" name="Connector 26"/>
          <p:cNvCxnSpPr/>
          <p:nvPr/>
        </p:nvCxnSpPr>
        <p:spPr>
          <a:xfrm>
            <a:off x="10844784" y="3767328"/>
            <a:ext cx="0" cy="283463"/>
          </a:xfrm>
          <a:prstGeom prst="line">
            <a:avLst/>
          </a:prstGeom>
          <a:ln w="19050">
            <a:solidFill>
              <a:srgbClr val="7F8C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927080" y="3749039"/>
            <a:ext cx="457200" cy="274320"/>
          </a:xfrm>
          <a:prstGeom prst="rect">
            <a:avLst/>
          </a:prstGeom>
          <a:noFill/>
        </p:spPr>
        <p:txBody>
          <a:bodyPr wrap="square" lIns="36576" rIns="36576" tIns="18288" bIns="18288" anchor="t">
            <a:noAutofit/>
          </a:bodyPr>
          <a:lstStyle/>
          <a:p>
            <a:pPr>
              <a:spcAft>
                <a:spcPts val="400"/>
              </a:spcAft>
            </a:pPr>
            <a:r>
              <a:rPr sz="1100" b="0" i="1">
                <a:solidFill>
                  <a:srgbClr val="5F6B7A"/>
                </a:solidFill>
                <a:latin typeface="Calibri"/>
              </a:rPr>
              <a:t>yes</a:t>
            </a:r>
          </a:p>
        </p:txBody>
      </p:sp>
      <p:sp>
        <p:nvSpPr>
          <p:cNvPr id="29" name="Rounded Rectangle 28"/>
          <p:cNvSpPr/>
          <p:nvPr/>
        </p:nvSpPr>
        <p:spPr>
          <a:xfrm>
            <a:off x="9930384" y="4069080"/>
            <a:ext cx="1828800" cy="640080"/>
          </a:xfrm>
          <a:prstGeom prst="roundRect">
            <a:avLst>
              <a:gd name="adj" fmla="val 6000"/>
            </a:avLst>
          </a:prstGeom>
          <a:solidFill>
            <a:srgbClr val="7F8C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spcAft>
                <a:spcPts val="100"/>
              </a:spcAft>
            </a:pPr>
            <a:r>
              <a:rPr sz="1350" b="1" i="0">
                <a:solidFill>
                  <a:srgbClr val="FFFFFF"/>
                </a:solidFill>
                <a:latin typeface="Calibri"/>
              </a:rPr>
              <a:t>noop_report</a:t>
            </a:r>
          </a:p>
          <a:p>
            <a:pPr algn="ctr">
              <a:spcAft>
                <a:spcPts val="400"/>
              </a:spcAft>
            </a:pPr>
            <a:r>
              <a:rPr sz="1050" b="0" i="0">
                <a:solidFill>
                  <a:srgbClr val="E8EEF5"/>
                </a:solidFill>
                <a:latin typeface="Calibri"/>
              </a:rPr>
              <a:t>no change, no LLM</a:t>
            </a:r>
          </a:p>
        </p:txBody>
      </p:sp>
      <p:sp>
        <p:nvSpPr>
          <p:cNvPr id="30" name="Rounded Rectangle 29"/>
          <p:cNvSpPr/>
          <p:nvPr/>
        </p:nvSpPr>
        <p:spPr>
          <a:xfrm>
            <a:off x="365760" y="4206240"/>
            <a:ext cx="201168" cy="201168"/>
          </a:xfrm>
          <a:prstGeom prst="roundRect">
            <a:avLst>
              <a:gd name="adj" fmla="val 2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1" name="TextBox 30"/>
          <p:cNvSpPr txBox="1"/>
          <p:nvPr/>
        </p:nvSpPr>
        <p:spPr>
          <a:xfrm>
            <a:off x="640080" y="4151376"/>
            <a:ext cx="1097280" cy="320040"/>
          </a:xfrm>
          <a:prstGeom prst="rect">
            <a:avLst/>
          </a:prstGeom>
          <a:noFill/>
        </p:spPr>
        <p:txBody>
          <a:bodyPr wrap="square" lIns="36576" rIns="36576" tIns="18288" bIns="18288" anchor="ctr">
            <a:noAutofit/>
          </a:bodyPr>
          <a:lstStyle/>
          <a:p>
            <a:pPr>
              <a:spcAft>
                <a:spcPts val="400"/>
              </a:spcAft>
            </a:pPr>
            <a:r>
              <a:rPr sz="1150" b="0" i="0">
                <a:solidFill>
                  <a:srgbClr val="5F6B7A"/>
                </a:solidFill>
                <a:latin typeface="Calibri"/>
              </a:rPr>
              <a:t>LLM</a:t>
            </a:r>
          </a:p>
        </p:txBody>
      </p:sp>
      <p:sp>
        <p:nvSpPr>
          <p:cNvPr id="32" name="Rounded Rectangle 31"/>
          <p:cNvSpPr/>
          <p:nvPr/>
        </p:nvSpPr>
        <p:spPr>
          <a:xfrm>
            <a:off x="1783080" y="4206240"/>
            <a:ext cx="201168" cy="201168"/>
          </a:xfrm>
          <a:prstGeom prst="roundRect">
            <a:avLst>
              <a:gd name="adj" fmla="val 20000"/>
            </a:avLst>
          </a:prstGeom>
          <a:solidFill>
            <a:srgbClr val="1B8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3" name="TextBox 32"/>
          <p:cNvSpPr txBox="1"/>
          <p:nvPr/>
        </p:nvSpPr>
        <p:spPr>
          <a:xfrm>
            <a:off x="2057400" y="4151376"/>
            <a:ext cx="1097280" cy="320040"/>
          </a:xfrm>
          <a:prstGeom prst="rect">
            <a:avLst/>
          </a:prstGeom>
          <a:noFill/>
        </p:spPr>
        <p:txBody>
          <a:bodyPr wrap="square" lIns="36576" rIns="36576" tIns="18288" bIns="18288" anchor="ctr">
            <a:noAutofit/>
          </a:bodyPr>
          <a:lstStyle/>
          <a:p>
            <a:pPr>
              <a:spcAft>
                <a:spcPts val="400"/>
              </a:spcAft>
            </a:pPr>
            <a:r>
              <a:rPr sz="1150" b="0" i="0">
                <a:solidFill>
                  <a:srgbClr val="5F6B7A"/>
                </a:solidFill>
                <a:latin typeface="Calibri"/>
              </a:rPr>
              <a:t>Tools</a:t>
            </a:r>
          </a:p>
        </p:txBody>
      </p:sp>
      <p:sp>
        <p:nvSpPr>
          <p:cNvPr id="34" name="Rounded Rectangle 33"/>
          <p:cNvSpPr/>
          <p:nvPr/>
        </p:nvSpPr>
        <p:spPr>
          <a:xfrm>
            <a:off x="3200400" y="4206240"/>
            <a:ext cx="201168" cy="201168"/>
          </a:xfrm>
          <a:prstGeom prst="roundRect">
            <a:avLst>
              <a:gd name="adj" fmla="val 2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5" name="TextBox 34"/>
          <p:cNvSpPr txBox="1"/>
          <p:nvPr/>
        </p:nvSpPr>
        <p:spPr>
          <a:xfrm>
            <a:off x="3474720" y="4151376"/>
            <a:ext cx="1097280" cy="320040"/>
          </a:xfrm>
          <a:prstGeom prst="rect">
            <a:avLst/>
          </a:prstGeom>
          <a:noFill/>
        </p:spPr>
        <p:txBody>
          <a:bodyPr wrap="square" lIns="36576" rIns="36576" tIns="18288" bIns="18288" anchor="ctr">
            <a:noAutofit/>
          </a:bodyPr>
          <a:lstStyle/>
          <a:p>
            <a:pPr>
              <a:spcAft>
                <a:spcPts val="400"/>
              </a:spcAft>
            </a:pPr>
            <a:r>
              <a:rPr sz="1150" b="0" i="0">
                <a:solidFill>
                  <a:srgbClr val="5F6B7A"/>
                </a:solidFill>
                <a:latin typeface="Calibri"/>
              </a:rPr>
              <a:t>Rules</a:t>
            </a:r>
          </a:p>
        </p:txBody>
      </p:sp>
      <p:sp>
        <p:nvSpPr>
          <p:cNvPr id="36" name="Rounded Rectangle 35"/>
          <p:cNvSpPr/>
          <p:nvPr/>
        </p:nvSpPr>
        <p:spPr>
          <a:xfrm>
            <a:off x="4617720" y="4206240"/>
            <a:ext cx="201168" cy="201168"/>
          </a:xfrm>
          <a:prstGeom prst="roundRect">
            <a:avLst>
              <a:gd name="adj" fmla="val 20000"/>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7" name="TextBox 36"/>
          <p:cNvSpPr txBox="1"/>
          <p:nvPr/>
        </p:nvSpPr>
        <p:spPr>
          <a:xfrm>
            <a:off x="4892040" y="4151376"/>
            <a:ext cx="1097280" cy="320040"/>
          </a:xfrm>
          <a:prstGeom prst="rect">
            <a:avLst/>
          </a:prstGeom>
          <a:noFill/>
        </p:spPr>
        <p:txBody>
          <a:bodyPr wrap="square" lIns="36576" rIns="36576" tIns="18288" bIns="18288" anchor="ctr">
            <a:noAutofit/>
          </a:bodyPr>
          <a:lstStyle/>
          <a:p>
            <a:pPr>
              <a:spcAft>
                <a:spcPts val="400"/>
              </a:spcAft>
            </a:pPr>
            <a:r>
              <a:rPr sz="1150" b="0" i="0">
                <a:solidFill>
                  <a:srgbClr val="5F6B7A"/>
                </a:solidFill>
                <a:latin typeface="Calibri"/>
              </a:rPr>
              <a:t>Memory</a:t>
            </a:r>
          </a:p>
        </p:txBody>
      </p:sp>
      <p:sp>
        <p:nvSpPr>
          <p:cNvPr id="38" name="Rounded Rectangle 37"/>
          <p:cNvSpPr/>
          <p:nvPr/>
        </p:nvSpPr>
        <p:spPr>
          <a:xfrm>
            <a:off x="6035040" y="4206240"/>
            <a:ext cx="201168" cy="201168"/>
          </a:xfrm>
          <a:prstGeom prst="roundRect">
            <a:avLst>
              <a:gd name="adj" fmla="val 20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39" name="TextBox 38"/>
          <p:cNvSpPr txBox="1"/>
          <p:nvPr/>
        </p:nvSpPr>
        <p:spPr>
          <a:xfrm>
            <a:off x="6309360" y="4151376"/>
            <a:ext cx="1097280" cy="320040"/>
          </a:xfrm>
          <a:prstGeom prst="rect">
            <a:avLst/>
          </a:prstGeom>
          <a:noFill/>
        </p:spPr>
        <p:txBody>
          <a:bodyPr wrap="square" lIns="36576" rIns="36576" tIns="18288" bIns="18288" anchor="ctr">
            <a:noAutofit/>
          </a:bodyPr>
          <a:lstStyle/>
          <a:p>
            <a:pPr>
              <a:spcAft>
                <a:spcPts val="400"/>
              </a:spcAft>
            </a:pPr>
            <a:r>
              <a:rPr sz="1150" b="0" i="0">
                <a:solidFill>
                  <a:srgbClr val="5F6B7A"/>
                </a:solidFill>
                <a:latin typeface="Calibri"/>
              </a:rPr>
              <a:t>Sandbox</a:t>
            </a:r>
          </a:p>
        </p:txBody>
      </p:sp>
      <p:sp>
        <p:nvSpPr>
          <p:cNvPr id="40" name="Rounded Rectangle 39"/>
          <p:cNvSpPr/>
          <p:nvPr/>
        </p:nvSpPr>
        <p:spPr>
          <a:xfrm>
            <a:off x="7452360" y="4206240"/>
            <a:ext cx="201168" cy="201168"/>
          </a:xfrm>
          <a:prstGeom prst="roundRect">
            <a:avLst>
              <a:gd name="adj" fmla="val 2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41" name="TextBox 40"/>
          <p:cNvSpPr txBox="1"/>
          <p:nvPr/>
        </p:nvSpPr>
        <p:spPr>
          <a:xfrm>
            <a:off x="7726680" y="4151376"/>
            <a:ext cx="1097280" cy="320040"/>
          </a:xfrm>
          <a:prstGeom prst="rect">
            <a:avLst/>
          </a:prstGeom>
          <a:noFill/>
        </p:spPr>
        <p:txBody>
          <a:bodyPr wrap="square" lIns="36576" rIns="36576" tIns="18288" bIns="18288" anchor="ctr">
            <a:noAutofit/>
          </a:bodyPr>
          <a:lstStyle/>
          <a:p>
            <a:pPr>
              <a:spcAft>
                <a:spcPts val="400"/>
              </a:spcAft>
            </a:pPr>
            <a:r>
              <a:rPr sz="1150" b="0" i="0">
                <a:solidFill>
                  <a:srgbClr val="5F6B7A"/>
                </a:solidFill>
                <a:latin typeface="Calibri"/>
              </a:rPr>
              <a:t>Human</a:t>
            </a:r>
          </a:p>
        </p:txBody>
      </p:sp>
      <p:sp>
        <p:nvSpPr>
          <p:cNvPr id="42" name="TextBox 41"/>
          <p:cNvSpPr txBox="1"/>
          <p:nvPr/>
        </p:nvSpPr>
        <p:spPr>
          <a:xfrm>
            <a:off x="365760" y="4617720"/>
            <a:ext cx="9326880" cy="548640"/>
          </a:xfrm>
          <a:prstGeom prst="rect">
            <a:avLst/>
          </a:prstGeom>
          <a:noFill/>
        </p:spPr>
        <p:txBody>
          <a:bodyPr wrap="square" lIns="36576" rIns="36576" tIns="18288" bIns="18288" anchor="t">
            <a:noAutofit/>
          </a:bodyPr>
          <a:lstStyle/>
          <a:p>
            <a:pPr>
              <a:spcAft>
                <a:spcPts val="400"/>
              </a:spcAft>
            </a:pPr>
            <a:r>
              <a:rPr sz="1200" b="1" i="0">
                <a:solidFill>
                  <a:srgbClr val="1F4E79"/>
                </a:solidFill>
                <a:latin typeface="Calibri"/>
              </a:rPr>
              <a:t>Principles:  </a:t>
            </a:r>
            <a:r>
              <a:rPr sz="1200" b="0" i="0">
                <a:solidFill>
                  <a:srgbClr val="262626"/>
                </a:solidFill>
                <a:latin typeface="Calibri"/>
              </a:rPr>
              <a:t>facts, scope and risk come from code, and the LLM only parses and explains · nothing changes on the machine without explicit approval · every step streams live to the dashboard</a:t>
            </a: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Algorithms &amp; Tools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20040" y="1325880"/>
            <a:ext cx="6583680" cy="365760"/>
          </a:xfrm>
          <a:prstGeom prst="rect">
            <a:avLst/>
          </a:prstGeom>
          <a:noFill/>
        </p:spPr>
        <p:txBody>
          <a:bodyPr wrap="square" lIns="36576" rIns="36576" tIns="18288" bIns="18288" anchor="t">
            <a:noAutofit/>
          </a:bodyPr>
          <a:lstStyle/>
          <a:p>
            <a:pPr>
              <a:spcAft>
                <a:spcPts val="400"/>
              </a:spcAft>
            </a:pPr>
            <a:r>
              <a:rPr sz="1800" b="1" i="0">
                <a:solidFill>
                  <a:srgbClr val="2E75B6"/>
                </a:solidFill>
                <a:latin typeface="Calibri"/>
              </a:rPr>
              <a:t>Tools</a:t>
            </a:r>
          </a:p>
        </p:txBody>
      </p:sp>
      <p:sp>
        <p:nvSpPr>
          <p:cNvPr id="8" name="Rounded Rectangle 7"/>
          <p:cNvSpPr/>
          <p:nvPr/>
        </p:nvSpPr>
        <p:spPr>
          <a:xfrm>
            <a:off x="365760" y="1783080"/>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LANGUAGE</a:t>
            </a:r>
          </a:p>
          <a:p>
            <a:pPr>
              <a:spcAft>
                <a:spcPts val="400"/>
              </a:spcAft>
            </a:pPr>
            <a:r>
              <a:rPr sz="1350" b="1" i="0">
                <a:solidFill>
                  <a:srgbClr val="1F4E79"/>
                </a:solidFill>
                <a:latin typeface="Calibri"/>
              </a:rPr>
              <a:t>Python 3.11</a:t>
            </a:r>
          </a:p>
        </p:txBody>
      </p:sp>
      <p:sp>
        <p:nvSpPr>
          <p:cNvPr id="9" name="Rounded Rectangle 8"/>
          <p:cNvSpPr/>
          <p:nvPr/>
        </p:nvSpPr>
        <p:spPr>
          <a:xfrm>
            <a:off x="2587752" y="1783080"/>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AGENT FRAMEWORK</a:t>
            </a:r>
          </a:p>
          <a:p>
            <a:pPr>
              <a:spcAft>
                <a:spcPts val="400"/>
              </a:spcAft>
            </a:pPr>
            <a:r>
              <a:rPr sz="1350" b="1" i="0">
                <a:solidFill>
                  <a:srgbClr val="1F4E79"/>
                </a:solidFill>
                <a:latin typeface="Calibri"/>
              </a:rPr>
              <a:t>LangGraph</a:t>
            </a:r>
          </a:p>
        </p:txBody>
      </p:sp>
      <p:sp>
        <p:nvSpPr>
          <p:cNvPr id="10" name="Rounded Rectangle 9"/>
          <p:cNvSpPr/>
          <p:nvPr/>
        </p:nvSpPr>
        <p:spPr>
          <a:xfrm>
            <a:off x="4809744" y="1783080"/>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LLM</a:t>
            </a:r>
          </a:p>
          <a:p>
            <a:pPr>
              <a:spcAft>
                <a:spcPts val="400"/>
              </a:spcAft>
            </a:pPr>
            <a:r>
              <a:rPr sz="1350" b="1" i="0">
                <a:solidFill>
                  <a:srgbClr val="1F4E79"/>
                </a:solidFill>
                <a:latin typeface="Calibri"/>
              </a:rPr>
              <a:t>Llama 3.1 8B · Ollama</a:t>
            </a:r>
          </a:p>
        </p:txBody>
      </p:sp>
      <p:sp>
        <p:nvSpPr>
          <p:cNvPr id="11" name="Rounded Rectangle 10"/>
          <p:cNvSpPr/>
          <p:nvPr/>
        </p:nvSpPr>
        <p:spPr>
          <a:xfrm>
            <a:off x="365760" y="2807208"/>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EMBEDDINGS</a:t>
            </a:r>
          </a:p>
          <a:p>
            <a:pPr>
              <a:spcAft>
                <a:spcPts val="400"/>
              </a:spcAft>
            </a:pPr>
            <a:r>
              <a:rPr sz="1350" b="1" i="0">
                <a:solidFill>
                  <a:srgbClr val="1F4E79"/>
                </a:solidFill>
                <a:latin typeface="Calibri"/>
              </a:rPr>
              <a:t>all-MiniLM-L6-v2</a:t>
            </a:r>
          </a:p>
        </p:txBody>
      </p:sp>
      <p:sp>
        <p:nvSpPr>
          <p:cNvPr id="12" name="Rounded Rectangle 11"/>
          <p:cNvSpPr/>
          <p:nvPr/>
        </p:nvSpPr>
        <p:spPr>
          <a:xfrm>
            <a:off x="2587752" y="2807208"/>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DATABASE</a:t>
            </a:r>
          </a:p>
          <a:p>
            <a:pPr>
              <a:spcAft>
                <a:spcPts val="400"/>
              </a:spcAft>
            </a:pPr>
            <a:r>
              <a:rPr sz="1350" b="1" i="0">
                <a:solidFill>
                  <a:srgbClr val="1F4E79"/>
                </a:solidFill>
                <a:latin typeface="Calibri"/>
              </a:rPr>
              <a:t>PostgreSQL 16 + pgvector</a:t>
            </a:r>
          </a:p>
        </p:txBody>
      </p:sp>
      <p:sp>
        <p:nvSpPr>
          <p:cNvPr id="13" name="Rounded Rectangle 12"/>
          <p:cNvSpPr/>
          <p:nvPr/>
        </p:nvSpPr>
        <p:spPr>
          <a:xfrm>
            <a:off x="4809744" y="2807208"/>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PARSING</a:t>
            </a:r>
          </a:p>
          <a:p>
            <a:pPr>
              <a:spcAft>
                <a:spcPts val="400"/>
              </a:spcAft>
            </a:pPr>
            <a:r>
              <a:rPr sz="1350" b="1" i="0">
                <a:solidFill>
                  <a:srgbClr val="1F4E79"/>
                </a:solidFill>
                <a:latin typeface="Calibri"/>
              </a:rPr>
              <a:t>packaging · tomllib</a:t>
            </a:r>
          </a:p>
        </p:txBody>
      </p:sp>
      <p:sp>
        <p:nvSpPr>
          <p:cNvPr id="14" name="Rounded Rectangle 13"/>
          <p:cNvSpPr/>
          <p:nvPr/>
        </p:nvSpPr>
        <p:spPr>
          <a:xfrm>
            <a:off x="365760" y="3831336"/>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DISCOVERY</a:t>
            </a:r>
          </a:p>
          <a:p>
            <a:pPr>
              <a:spcAft>
                <a:spcPts val="400"/>
              </a:spcAft>
            </a:pPr>
            <a:r>
              <a:rPr sz="1350" b="1" i="0">
                <a:solidFill>
                  <a:srgbClr val="1F4E79"/>
                </a:solidFill>
                <a:latin typeface="Calibri"/>
              </a:rPr>
              <a:t>GitPython · Docker SDK</a:t>
            </a:r>
          </a:p>
        </p:txBody>
      </p:sp>
      <p:sp>
        <p:nvSpPr>
          <p:cNvPr id="15" name="Rounded Rectangle 14"/>
          <p:cNvSpPr/>
          <p:nvPr/>
        </p:nvSpPr>
        <p:spPr>
          <a:xfrm>
            <a:off x="2587752" y="3831336"/>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FRONT END</a:t>
            </a:r>
          </a:p>
          <a:p>
            <a:pPr>
              <a:spcAft>
                <a:spcPts val="400"/>
              </a:spcAft>
            </a:pPr>
            <a:r>
              <a:rPr sz="1350" b="1" i="0">
                <a:solidFill>
                  <a:srgbClr val="1F4E79"/>
                </a:solidFill>
                <a:latin typeface="Calibri"/>
              </a:rPr>
              <a:t>Streamlit</a:t>
            </a:r>
          </a:p>
        </p:txBody>
      </p:sp>
      <p:sp>
        <p:nvSpPr>
          <p:cNvPr id="16" name="Rounded Rectangle 15"/>
          <p:cNvSpPr/>
          <p:nvPr/>
        </p:nvSpPr>
        <p:spPr>
          <a:xfrm>
            <a:off x="4809744" y="3831336"/>
            <a:ext cx="2103120" cy="896112"/>
          </a:xfrm>
          <a:prstGeom prst="roundRect">
            <a:avLst>
              <a:gd name="adj" fmla="val 6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000" b="1" i="0">
                <a:solidFill>
                  <a:srgbClr val="5F6B7A"/>
                </a:solidFill>
                <a:latin typeface="Calibri"/>
              </a:rPr>
              <a:t>DEPLOYMENT</a:t>
            </a:r>
          </a:p>
          <a:p>
            <a:pPr>
              <a:spcAft>
                <a:spcPts val="400"/>
              </a:spcAft>
            </a:pPr>
            <a:r>
              <a:rPr sz="1350" b="1" i="0">
                <a:solidFill>
                  <a:srgbClr val="1F4E79"/>
                </a:solidFill>
                <a:latin typeface="Calibri"/>
              </a:rPr>
              <a:t>Docker Compose</a:t>
            </a:r>
          </a:p>
        </p:txBody>
      </p:sp>
      <p:sp>
        <p:nvSpPr>
          <p:cNvPr id="17" name="TextBox 16"/>
          <p:cNvSpPr txBox="1"/>
          <p:nvPr/>
        </p:nvSpPr>
        <p:spPr>
          <a:xfrm>
            <a:off x="7269480" y="1325880"/>
            <a:ext cx="4572000" cy="365760"/>
          </a:xfrm>
          <a:prstGeom prst="rect">
            <a:avLst/>
          </a:prstGeom>
          <a:noFill/>
        </p:spPr>
        <p:txBody>
          <a:bodyPr wrap="square" lIns="36576" rIns="36576" tIns="18288" bIns="18288" anchor="t">
            <a:noAutofit/>
          </a:bodyPr>
          <a:lstStyle/>
          <a:p>
            <a:pPr>
              <a:spcAft>
                <a:spcPts val="400"/>
              </a:spcAft>
            </a:pPr>
            <a:r>
              <a:rPr sz="1800" b="1" i="0">
                <a:solidFill>
                  <a:srgbClr val="2E75B6"/>
                </a:solidFill>
                <a:latin typeface="Calibri"/>
              </a:rPr>
              <a:t>Algorithms</a:t>
            </a:r>
          </a:p>
        </p:txBody>
      </p:sp>
      <p:sp>
        <p:nvSpPr>
          <p:cNvPr id="18" name="TextBox 17"/>
          <p:cNvSpPr txBox="1"/>
          <p:nvPr/>
        </p:nvSpPr>
        <p:spPr>
          <a:xfrm>
            <a:off x="7269480" y="1783080"/>
            <a:ext cx="4572000" cy="3337560"/>
          </a:xfrm>
          <a:prstGeom prst="rect">
            <a:avLst/>
          </a:prstGeom>
          <a:noFill/>
        </p:spPr>
        <p:txBody>
          <a:bodyPr wrap="square" lIns="36576" rIns="36576" tIns="18288" bIns="18288" anchor="t">
            <a:noAutofit/>
          </a:bodyPr>
          <a:lstStyle/>
          <a:p>
            <a:pPr marL="228600" indent="-228600">
              <a:spcAft>
                <a:spcPts val="600"/>
              </a:spcAft>
              <a:buClr>
                <a:srgbClr val="2E75B6"/>
              </a:buClr>
              <a:buFont typeface="Arial"/>
              <a:buChar char="•"/>
            </a:pPr>
            <a:r>
              <a:rPr sz="1350" b="0" i="0">
                <a:solidFill>
                  <a:srgbClr val="262626"/>
                </a:solidFill>
                <a:latin typeface="Calibri"/>
              </a:rPr>
              <a:t>Cosine-similarity vector search for evidence and memory recall</a:t>
            </a:r>
          </a:p>
          <a:p>
            <a:pPr marL="228600" indent="-228600">
              <a:spcAft>
                <a:spcPts val="600"/>
              </a:spcAft>
              <a:buClr>
                <a:srgbClr val="2E75B6"/>
              </a:buClr>
              <a:buFont typeface="Arial"/>
              <a:buChar char="•"/>
            </a:pPr>
            <a:r>
              <a:rPr sz="1350" b="0" i="0">
                <a:solidFill>
                  <a:srgbClr val="262626"/>
                </a:solidFill>
                <a:latin typeface="Calibri"/>
              </a:rPr>
              <a:t>Breadth-first traversal of Requires-Dist for transitive dependencies</a:t>
            </a:r>
          </a:p>
          <a:p>
            <a:pPr marL="228600" indent="-228600">
              <a:spcAft>
                <a:spcPts val="600"/>
              </a:spcAft>
              <a:buClr>
                <a:srgbClr val="2E75B6"/>
              </a:buClr>
              <a:buFont typeface="Arial"/>
              <a:buChar char="•"/>
            </a:pPr>
            <a:r>
              <a:rPr sz="1350" b="0" i="0">
                <a:solidFill>
                  <a:srgbClr val="262626"/>
                </a:solidFill>
                <a:latin typeface="Calibri"/>
              </a:rPr>
              <a:t>PEP 440 specifier checks against each venv's interpreter</a:t>
            </a:r>
          </a:p>
          <a:p>
            <a:pPr marL="228600" indent="-228600">
              <a:spcAft>
                <a:spcPts val="600"/>
              </a:spcAft>
              <a:buClr>
                <a:srgbClr val="2E75B6"/>
              </a:buClr>
              <a:buFont typeface="Arial"/>
              <a:buChar char="•"/>
            </a:pPr>
            <a:r>
              <a:rPr sz="1350" b="0" i="0">
                <a:solidFill>
                  <a:srgbClr val="262626"/>
                </a:solidFill>
                <a:latin typeface="Calibri"/>
              </a:rPr>
              <a:t>Wheel tag matching for platform and Python version</a:t>
            </a:r>
          </a:p>
          <a:p>
            <a:pPr marL="228600" indent="-228600">
              <a:spcAft>
                <a:spcPts val="600"/>
              </a:spcAft>
              <a:buClr>
                <a:srgbClr val="2E75B6"/>
              </a:buClr>
              <a:buFont typeface="Arial"/>
              <a:buChar char="•"/>
            </a:pPr>
            <a:r>
              <a:rPr sz="1350" b="0" i="0">
                <a:solidFill>
                  <a:srgbClr val="262626"/>
                </a:solidFill>
                <a:latin typeface="Calibri"/>
              </a:rPr>
              <a:t>Weighted rule-based risk scoring with conditional routing</a:t>
            </a:r>
          </a:p>
          <a:p>
            <a:pPr marL="228600" indent="-228600">
              <a:spcAft>
                <a:spcPts val="600"/>
              </a:spcAft>
              <a:buClr>
                <a:srgbClr val="2E75B6"/>
              </a:buClr>
              <a:buFont typeface="Arial"/>
              <a:buChar char="•"/>
            </a:pPr>
            <a:r>
              <a:rPr sz="1350" b="0" i="0">
                <a:solidFill>
                  <a:srgbClr val="262626"/>
                </a:solidFill>
                <a:latin typeface="Calibri"/>
              </a:rPr>
              <a:t>Schema-constrained LLM extraction with Pydantic</a:t>
            </a:r>
          </a:p>
          <a:p>
            <a:pPr marL="228600" indent="-228600">
              <a:spcAft>
                <a:spcPts val="600"/>
              </a:spcAft>
              <a:buClr>
                <a:srgbClr val="2E75B6"/>
              </a:buClr>
              <a:buFont typeface="Arial"/>
              <a:buChar char="•"/>
            </a:pPr>
            <a:r>
              <a:rPr sz="1350" b="0" i="0">
                <a:solidFill>
                  <a:srgbClr val="262626"/>
                </a:solidFill>
                <a:latin typeface="Calibri"/>
              </a:rPr>
              <a:t>Sandboxed dry run in a cloned virtual environment</a:t>
            </a: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Sample Runs</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graphicFrame>
        <p:nvGraphicFramePr>
          <p:cNvPr id="7" name="Table 6"/>
          <p:cNvGraphicFramePr>
            <a:graphicFrameLocks noGrp="1"/>
          </p:cNvGraphicFramePr>
          <p:nvPr/>
        </p:nvGraphicFramePr>
        <p:xfrm>
          <a:off x="365760" y="1371600"/>
          <a:ext cx="11475720" cy="3383280"/>
        </p:xfrm>
        <a:graphic>
          <a:graphicData uri="http://schemas.openxmlformats.org/drawingml/2006/table">
            <a:tbl>
              <a:tblPr firstRow="1">
                <a:tableStyleId>{5C22544A-7EE6-4342-B048-85BDC9FD1C3A}</a:tableStyleId>
              </a:tblPr>
              <a:tblGrid>
                <a:gridCol w="3017520"/>
                <a:gridCol w="2651760"/>
                <a:gridCol w="868680"/>
                <a:gridCol w="4937760"/>
              </a:tblGrid>
              <a:tr h="384048">
                <a:tc>
                  <a:txBody>
                    <a:bodyPr wrap="square"/>
                    <a:lstStyle/>
                    <a:p>
                      <a:pPr>
                        <a:spcAft>
                          <a:spcPts val="0"/>
                        </a:spcAft>
                      </a:pPr>
                      <a:r>
                        <a:rPr sz="1200" b="1" i="0">
                          <a:solidFill>
                            <a:srgbClr val="FFFFFF"/>
                          </a:solidFill>
                          <a:latin typeface="Calibri"/>
                        </a:rPr>
                        <a:t>Question asked</a:t>
                      </a:r>
                    </a:p>
                  </a:txBody>
                  <a:tcPr marL="91440" marR="91440" marT="36576" marB="36576" anchor="ctr">
                    <a:solidFill>
                      <a:srgbClr val="1F4E79"/>
                    </a:solidFill>
                  </a:tcPr>
                </a:tc>
                <a:tc>
                  <a:txBody>
                    <a:bodyPr wrap="square"/>
                    <a:lstStyle/>
                    <a:p>
                      <a:pPr>
                        <a:spcAft>
                          <a:spcPts val="0"/>
                        </a:spcAft>
                      </a:pPr>
                      <a:r>
                        <a:rPr sz="1200" b="1" i="0">
                          <a:solidFill>
                            <a:srgbClr val="FFFFFF"/>
                          </a:solidFill>
                          <a:latin typeface="Calibri"/>
                        </a:rPr>
                        <a:t>Agent understood</a:t>
                      </a:r>
                    </a:p>
                  </a:txBody>
                  <a:tcPr marL="91440" marR="91440" marT="36576" marB="36576" anchor="ctr">
                    <a:solidFill>
                      <a:srgbClr val="1F4E79"/>
                    </a:solidFill>
                  </a:tcPr>
                </a:tc>
                <a:tc>
                  <a:txBody>
                    <a:bodyPr wrap="square"/>
                    <a:lstStyle/>
                    <a:p>
                      <a:pPr>
                        <a:spcAft>
                          <a:spcPts val="0"/>
                        </a:spcAft>
                      </a:pPr>
                      <a:r>
                        <a:rPr sz="1200" b="1" i="0">
                          <a:solidFill>
                            <a:srgbClr val="FFFFFF"/>
                          </a:solidFill>
                          <a:latin typeface="Calibri"/>
                        </a:rPr>
                        <a:t>Risk</a:t>
                      </a:r>
                    </a:p>
                  </a:txBody>
                  <a:tcPr marL="91440" marR="91440" marT="36576" marB="36576" anchor="ctr">
                    <a:solidFill>
                      <a:srgbClr val="1F4E79"/>
                    </a:solidFill>
                  </a:tcPr>
                </a:tc>
                <a:tc>
                  <a:txBody>
                    <a:bodyPr wrap="square"/>
                    <a:lstStyle/>
                    <a:p>
                      <a:pPr>
                        <a:spcAft>
                          <a:spcPts val="0"/>
                        </a:spcAft>
                      </a:pPr>
                      <a:r>
                        <a:rPr sz="1200" b="1" i="0">
                          <a:solidFill>
                            <a:srgbClr val="FFFFFF"/>
                          </a:solidFill>
                          <a:latin typeface="Calibri"/>
                        </a:rPr>
                        <a:t>Outcome</a:t>
                      </a:r>
                    </a:p>
                  </a:txBody>
                  <a:tcPr marL="91440" marR="91440" marT="36576" marB="36576" anchor="ctr">
                    <a:solidFill>
                      <a:srgbClr val="1F4E79"/>
                    </a:solidFill>
                  </a:tcPr>
                </a:tc>
              </a:tr>
              <a:tr h="749808">
                <a:tc>
                  <a:txBody>
                    <a:bodyPr wrap="square"/>
                    <a:lstStyle/>
                    <a:p>
                      <a:pPr>
                        <a:spcAft>
                          <a:spcPts val="0"/>
                        </a:spcAft>
                      </a:pPr>
                      <a:r>
                        <a:rPr sz="1200" b="0" i="0">
                          <a:solidFill>
                            <a:srgbClr val="262626"/>
                          </a:solidFill>
                          <a:latin typeface="Calibri"/>
                        </a:rPr>
                        <a:t>“Can I remove numpy from AutoDiag_RAG?”</a:t>
                      </a:r>
                    </a:p>
                  </a:txBody>
                  <a:tcPr marL="91440" marR="91440" marT="36576" marB="36576" anchor="ctr">
                    <a:solidFill>
                      <a:srgbClr val="FFFFFF"/>
                    </a:solidFill>
                  </a:tcPr>
                </a:tc>
                <a:tc>
                  <a:txBody>
                    <a:bodyPr wrap="square"/>
                    <a:lstStyle/>
                    <a:p>
                      <a:pPr>
                        <a:spcAft>
                          <a:spcPts val="0"/>
                        </a:spcAft>
                      </a:pPr>
                      <a:r>
                        <a:rPr sz="1200" b="0" i="0">
                          <a:solidFill>
                            <a:srgbClr val="262626"/>
                          </a:solidFill>
                          <a:latin typeface="Calibri"/>
                        </a:rPr>
                        <a:t>remove numpy · project AutoDiag_RAG</a:t>
                      </a:r>
                    </a:p>
                  </a:txBody>
                  <a:tcPr marL="91440" marR="91440" marT="36576" marB="36576" anchor="ctr">
                    <a:solidFill>
                      <a:srgbClr val="FFFFFF"/>
                    </a:solidFill>
                  </a:tcPr>
                </a:tc>
                <a:tc>
                  <a:txBody>
                    <a:bodyPr wrap="square"/>
                    <a:lstStyle/>
                    <a:p>
                      <a:pPr>
                        <a:spcAft>
                          <a:spcPts val="0"/>
                        </a:spcAft>
                      </a:pPr>
                      <a:r>
                        <a:rPr sz="1200" b="1" i="0">
                          <a:solidFill>
                            <a:srgbClr val="A63D40"/>
                          </a:solidFill>
                          <a:latin typeface="Calibri"/>
                        </a:rPr>
                        <a:t>HIGH</a:t>
                      </a:r>
                    </a:p>
                  </a:txBody>
                  <a:tcPr marL="91440" marR="91440" marT="36576" marB="36576" anchor="ctr">
                    <a:solidFill>
                      <a:srgbClr val="FFFFFF"/>
                    </a:solidFill>
                  </a:tcPr>
                </a:tc>
                <a:tc>
                  <a:txBody>
                    <a:bodyPr wrap="square"/>
                    <a:lstStyle/>
                    <a:p>
                      <a:pPr>
                        <a:spcAft>
                          <a:spcPts val="0"/>
                        </a:spcAft>
                      </a:pPr>
                      <a:r>
                        <a:rPr sz="1200" b="0" i="0">
                          <a:solidFill>
                            <a:srgbClr val="262626"/>
                          </a:solidFill>
                          <a:latin typeface="Calibri"/>
                        </a:rPr>
                        <a:t>Scoped to one project; the other two are reported as unaffected (separate environments).</a:t>
                      </a:r>
                    </a:p>
                  </a:txBody>
                  <a:tcPr marL="91440" marR="91440" marT="36576" marB="36576" anchor="ctr">
                    <a:solidFill>
                      <a:srgbClr val="FFFFFF"/>
                    </a:solidFill>
                  </a:tcPr>
                </a:tc>
              </a:tr>
              <a:tr h="749808">
                <a:tc>
                  <a:txBody>
                    <a:bodyPr wrap="square"/>
                    <a:lstStyle/>
                    <a:p>
                      <a:pPr>
                        <a:spcAft>
                          <a:spcPts val="0"/>
                        </a:spcAft>
                      </a:pPr>
                      <a:r>
                        <a:rPr sz="1200" b="0" i="0">
                          <a:solidFill>
                            <a:srgbClr val="262626"/>
                          </a:solidFill>
                          <a:latin typeface="Calibri"/>
                        </a:rPr>
                        <a:t>“What if I upgrade numpy to 3.0.0 in autodiag?”</a:t>
                      </a:r>
                    </a:p>
                  </a:txBody>
                  <a:tcPr marL="91440" marR="91440" marT="36576" marB="36576" anchor="ctr">
                    <a:solidFill>
                      <a:srgbClr val="F4F8FC"/>
                    </a:solidFill>
                  </a:tcPr>
                </a:tc>
                <a:tc>
                  <a:txBody>
                    <a:bodyPr wrap="square"/>
                    <a:lstStyle/>
                    <a:p>
                      <a:pPr>
                        <a:spcAft>
                          <a:spcPts val="0"/>
                        </a:spcAft>
                      </a:pPr>
                      <a:r>
                        <a:rPr sz="1200" b="0" i="0">
                          <a:solidFill>
                            <a:srgbClr val="262626"/>
                          </a:solidFill>
                          <a:latin typeface="Calibri"/>
                        </a:rPr>
                        <a:t>upgrade to 3.0.0 · partial name resolved</a:t>
                      </a:r>
                    </a:p>
                  </a:txBody>
                  <a:tcPr marL="91440" marR="91440" marT="36576" marB="36576" anchor="ctr">
                    <a:solidFill>
                      <a:srgbClr val="F4F8FC"/>
                    </a:solidFill>
                  </a:tcPr>
                </a:tc>
                <a:tc>
                  <a:txBody>
                    <a:bodyPr wrap="square"/>
                    <a:lstStyle/>
                    <a:p>
                      <a:pPr>
                        <a:spcAft>
                          <a:spcPts val="0"/>
                        </a:spcAft>
                      </a:pPr>
                      <a:r>
                        <a:rPr sz="1200" b="1" i="0">
                          <a:solidFill>
                            <a:srgbClr val="A63D40"/>
                          </a:solidFill>
                          <a:latin typeface="Calibri"/>
                        </a:rPr>
                        <a:t>HIGH</a:t>
                      </a:r>
                    </a:p>
                  </a:txBody>
                  <a:tcPr marL="91440" marR="91440" marT="36576" marB="36576" anchor="ctr">
                    <a:solidFill>
                      <a:srgbClr val="F4F8FC"/>
                    </a:solidFill>
                  </a:tcPr>
                </a:tc>
                <a:tc>
                  <a:txBody>
                    <a:bodyPr wrap="square"/>
                    <a:lstStyle/>
                    <a:p>
                      <a:pPr>
                        <a:spcAft>
                          <a:spcPts val="0"/>
                        </a:spcAft>
                      </a:pPr>
                      <a:r>
                        <a:rPr sz="1200" b="0" i="0">
                          <a:solidFill>
                            <a:srgbClr val="262626"/>
                          </a:solidFill>
                          <a:latin typeface="Calibri"/>
                        </a:rPr>
                        <a:t>Major version jump and version not found on PyPI; advises checking the version number.</a:t>
                      </a:r>
                    </a:p>
                  </a:txBody>
                  <a:tcPr marL="91440" marR="91440" marT="36576" marB="36576" anchor="ctr">
                    <a:solidFill>
                      <a:srgbClr val="F4F8FC"/>
                    </a:solidFill>
                  </a:tcPr>
                </a:tc>
              </a:tr>
              <a:tr h="749808">
                <a:tc>
                  <a:txBody>
                    <a:bodyPr wrap="square"/>
                    <a:lstStyle/>
                    <a:p>
                      <a:pPr>
                        <a:spcAft>
                          <a:spcPts val="0"/>
                        </a:spcAft>
                      </a:pPr>
                      <a:r>
                        <a:rPr sz="1200" b="0" i="0">
                          <a:solidFill>
                            <a:srgbClr val="262626"/>
                          </a:solidFill>
                          <a:latin typeface="Calibri"/>
                        </a:rPr>
                        <a:t>“Can I remove numpy from my_other_project?”</a:t>
                      </a:r>
                    </a:p>
                  </a:txBody>
                  <a:tcPr marL="91440" marR="91440" marT="36576" marB="36576" anchor="ctr">
                    <a:solidFill>
                      <a:srgbClr val="FFFFFF"/>
                    </a:solidFill>
                  </a:tcPr>
                </a:tc>
                <a:tc>
                  <a:txBody>
                    <a:bodyPr wrap="square"/>
                    <a:lstStyle/>
                    <a:p>
                      <a:pPr>
                        <a:spcAft>
                          <a:spcPts val="0"/>
                        </a:spcAft>
                      </a:pPr>
                      <a:r>
                        <a:rPr sz="1200" b="0" i="0">
                          <a:solidFill>
                            <a:srgbClr val="262626"/>
                          </a:solidFill>
                          <a:latin typeface="Calibri"/>
                        </a:rPr>
                        <a:t>remove numpy · unknown project</a:t>
                      </a:r>
                    </a:p>
                  </a:txBody>
                  <a:tcPr marL="91440" marR="91440" marT="36576" marB="36576" anchor="ctr">
                    <a:solidFill>
                      <a:srgbClr val="FFFFFF"/>
                    </a:solidFill>
                  </a:tcPr>
                </a:tc>
                <a:tc>
                  <a:txBody>
                    <a:bodyPr wrap="square"/>
                    <a:lstStyle/>
                    <a:p>
                      <a:pPr>
                        <a:spcAft>
                          <a:spcPts val="0"/>
                        </a:spcAft>
                      </a:pPr>
                      <a:r>
                        <a:rPr sz="1200" b="1" i="0">
                          <a:solidFill>
                            <a:srgbClr val="A63D40"/>
                          </a:solidFill>
                          <a:latin typeface="Calibri"/>
                        </a:rPr>
                        <a:t>HIGH</a:t>
                      </a:r>
                    </a:p>
                  </a:txBody>
                  <a:tcPr marL="91440" marR="91440" marT="36576" marB="36576" anchor="ctr">
                    <a:solidFill>
                      <a:srgbClr val="FFFFFF"/>
                    </a:solidFill>
                  </a:tcPr>
                </a:tc>
                <a:tc>
                  <a:txBody>
                    <a:bodyPr wrap="square"/>
                    <a:lstStyle/>
                    <a:p>
                      <a:pPr>
                        <a:spcAft>
                          <a:spcPts val="0"/>
                        </a:spcAft>
                      </a:pPr>
                      <a:r>
                        <a:rPr sz="1200" b="0" i="0">
                          <a:solidFill>
                            <a:srgbClr val="262626"/>
                          </a:solidFill>
                          <a:latin typeface="Calibri"/>
                        </a:rPr>
                        <a:t>Falls back to all three projects and says the named project was not found.</a:t>
                      </a:r>
                    </a:p>
                  </a:txBody>
                  <a:tcPr marL="91440" marR="91440" marT="36576" marB="36576" anchor="ctr">
                    <a:solidFill>
                      <a:srgbClr val="FFFFFF"/>
                    </a:solidFill>
                  </a:tcPr>
                </a:tc>
              </a:tr>
              <a:tr h="749808">
                <a:tc>
                  <a:txBody>
                    <a:bodyPr wrap="square"/>
                    <a:lstStyle/>
                    <a:p>
                      <a:pPr>
                        <a:spcAft>
                          <a:spcPts val="0"/>
                        </a:spcAft>
                      </a:pPr>
                      <a:r>
                        <a:rPr sz="1200" b="0" i="0">
                          <a:solidFill>
                            <a:srgbClr val="262626"/>
                          </a:solidFill>
                          <a:latin typeface="Calibri"/>
                        </a:rPr>
                        <a:t>“I want to upgrade numpy to 2.4.6”</a:t>
                      </a:r>
                    </a:p>
                  </a:txBody>
                  <a:tcPr marL="91440" marR="91440" marT="36576" marB="36576" anchor="ctr">
                    <a:solidFill>
                      <a:srgbClr val="F4F8FC"/>
                    </a:solidFill>
                  </a:tcPr>
                </a:tc>
                <a:tc>
                  <a:txBody>
                    <a:bodyPr wrap="square"/>
                    <a:lstStyle/>
                    <a:p>
                      <a:pPr>
                        <a:spcAft>
                          <a:spcPts val="0"/>
                        </a:spcAft>
                      </a:pPr>
                      <a:r>
                        <a:rPr sz="1200" b="0" i="0">
                          <a:solidFill>
                            <a:srgbClr val="262626"/>
                          </a:solidFill>
                          <a:latin typeface="Calibri"/>
                        </a:rPr>
                        <a:t>already installed everywhere</a:t>
                      </a:r>
                    </a:p>
                  </a:txBody>
                  <a:tcPr marL="91440" marR="91440" marT="36576" marB="36576" anchor="ctr">
                    <a:solidFill>
                      <a:srgbClr val="F4F8FC"/>
                    </a:solidFill>
                  </a:tcPr>
                </a:tc>
                <a:tc>
                  <a:txBody>
                    <a:bodyPr wrap="square"/>
                    <a:lstStyle/>
                    <a:p>
                      <a:pPr>
                        <a:spcAft>
                          <a:spcPts val="0"/>
                        </a:spcAft>
                      </a:pPr>
                      <a:r>
                        <a:rPr sz="1200" b="1" i="0">
                          <a:solidFill>
                            <a:srgbClr val="2E7D4F"/>
                          </a:solidFill>
                          <a:latin typeface="Calibri"/>
                        </a:rPr>
                        <a:t>LOW</a:t>
                      </a:r>
                    </a:p>
                  </a:txBody>
                  <a:tcPr marL="91440" marR="91440" marT="36576" marB="36576" anchor="ctr">
                    <a:solidFill>
                      <a:srgbClr val="F4F8FC"/>
                    </a:solidFill>
                  </a:tcPr>
                </a:tc>
                <a:tc>
                  <a:txBody>
                    <a:bodyPr wrap="square"/>
                    <a:lstStyle/>
                    <a:p>
                      <a:pPr>
                        <a:spcAft>
                          <a:spcPts val="0"/>
                        </a:spcAft>
                      </a:pPr>
                      <a:r>
                        <a:rPr sz="1200" b="0" i="0">
                          <a:solidFill>
                            <a:srgbClr val="262626"/>
                          </a:solidFill>
                          <a:latin typeface="Calibri"/>
                        </a:rPr>
                        <a:t>Detected as a no-op; the conditional edge skips the report LLM and nothing is changed.</a:t>
                      </a:r>
                    </a:p>
                  </a:txBody>
                  <a:tcPr marL="91440" marR="91440" marT="36576" marB="36576" anchor="ctr">
                    <a:solidFill>
                      <a:srgbClr val="F4F8FC"/>
                    </a:solidFill>
                  </a:tcPr>
                </a:tc>
              </a:tr>
            </a:tbl>
          </a:graphicData>
        </a:graphic>
      </p:graphicFrame>
      <p:sp>
        <p:nvSpPr>
          <p:cNvPr id="8" name="TextBox 7"/>
          <p:cNvSpPr txBox="1"/>
          <p:nvPr/>
        </p:nvSpPr>
        <p:spPr>
          <a:xfrm>
            <a:off x="365760" y="4709160"/>
            <a:ext cx="11430000" cy="411480"/>
          </a:xfrm>
          <a:prstGeom prst="rect">
            <a:avLst/>
          </a:prstGeom>
          <a:noFill/>
        </p:spPr>
        <p:txBody>
          <a:bodyPr wrap="square" lIns="36576" rIns="36576" tIns="18288" bIns="18288" anchor="t">
            <a:noAutofit/>
          </a:bodyPr>
          <a:lstStyle/>
          <a:p>
            <a:pPr>
              <a:spcAft>
                <a:spcPts val="400"/>
              </a:spcAft>
            </a:pPr>
            <a:r>
              <a:rPr sz="1150" b="0" i="1">
                <a:solidFill>
                  <a:srgbClr val="5F6B7A"/>
                </a:solidFill>
                <a:latin typeface="Calibri"/>
              </a:rPr>
              <a:t>Runs on the real development machine: 3 projects, 324 installed packages, 36 declared requirements. Each answer comes with an impact map, evidence trail and recommended next step.</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 – Evaluation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graphicFrame>
        <p:nvGraphicFramePr>
          <p:cNvPr id="7" name="Table 6"/>
          <p:cNvGraphicFramePr>
            <a:graphicFrameLocks noGrp="1"/>
          </p:cNvGraphicFramePr>
          <p:nvPr/>
        </p:nvGraphicFramePr>
        <p:xfrm>
          <a:off x="365760" y="1417320"/>
          <a:ext cx="6995160" cy="2898648"/>
        </p:xfrm>
        <a:graphic>
          <a:graphicData uri="http://schemas.openxmlformats.org/drawingml/2006/table">
            <a:tbl>
              <a:tblPr firstRow="1">
                <a:tableStyleId>{5C22544A-7EE6-4342-B048-85BDC9FD1C3A}</a:tableStyleId>
              </a:tblPr>
              <a:tblGrid>
                <a:gridCol w="2103120"/>
                <a:gridCol w="3429000"/>
                <a:gridCol w="1463040"/>
              </a:tblGrid>
              <a:tr h="384048">
                <a:tc>
                  <a:txBody>
                    <a:bodyPr wrap="square"/>
                    <a:lstStyle/>
                    <a:p>
                      <a:pPr>
                        <a:spcAft>
                          <a:spcPts val="0"/>
                        </a:spcAft>
                      </a:pPr>
                      <a:r>
                        <a:rPr sz="1250" b="1" i="0">
                          <a:solidFill>
                            <a:srgbClr val="FFFFFF"/>
                          </a:solidFill>
                          <a:latin typeface="Calibri"/>
                        </a:rPr>
                        <a:t>Metric</a:t>
                      </a:r>
                    </a:p>
                  </a:txBody>
                  <a:tcPr marL="91440" marR="91440" marT="36576" marB="36576" anchor="ctr">
                    <a:solidFill>
                      <a:srgbClr val="1F4E79"/>
                    </a:solidFill>
                  </a:tcPr>
                </a:tc>
                <a:tc>
                  <a:txBody>
                    <a:bodyPr wrap="square"/>
                    <a:lstStyle/>
                    <a:p>
                      <a:pPr>
                        <a:spcAft>
                          <a:spcPts val="0"/>
                        </a:spcAft>
                      </a:pPr>
                      <a:r>
                        <a:rPr sz="1250" b="1" i="0">
                          <a:solidFill>
                            <a:srgbClr val="FFFFFF"/>
                          </a:solidFill>
                          <a:latin typeface="Calibri"/>
                        </a:rPr>
                        <a:t>How it is measured</a:t>
                      </a:r>
                    </a:p>
                  </a:txBody>
                  <a:tcPr marL="91440" marR="91440" marT="36576" marB="36576" anchor="ctr">
                    <a:solidFill>
                      <a:srgbClr val="1F4E79"/>
                    </a:solidFill>
                  </a:tcPr>
                </a:tc>
                <a:tc>
                  <a:txBody>
                    <a:bodyPr wrap="square"/>
                    <a:lstStyle/>
                    <a:p>
                      <a:pPr>
                        <a:spcAft>
                          <a:spcPts val="0"/>
                        </a:spcAft>
                      </a:pPr>
                      <a:r>
                        <a:rPr sz="1250" b="1" i="0">
                          <a:solidFill>
                            <a:srgbClr val="FFFFFF"/>
                          </a:solidFill>
                          <a:latin typeface="Calibri"/>
                        </a:rPr>
                        <a:t>Target</a:t>
                      </a:r>
                    </a:p>
                  </a:txBody>
                  <a:tcPr marL="91440" marR="91440" marT="36576" marB="36576" anchor="ctr">
                    <a:solidFill>
                      <a:srgbClr val="1F4E79"/>
                    </a:solidFill>
                  </a:tcPr>
                </a:tc>
              </a:tr>
              <a:tr h="502920">
                <a:tc>
                  <a:txBody>
                    <a:bodyPr wrap="square"/>
                    <a:lstStyle/>
                    <a:p>
                      <a:pPr>
                        <a:spcAft>
                          <a:spcPts val="0"/>
                        </a:spcAft>
                      </a:pPr>
                      <a:r>
                        <a:rPr sz="1250" b="1" i="0">
                          <a:solidFill>
                            <a:srgbClr val="1F4E79"/>
                          </a:solidFill>
                          <a:latin typeface="Calibri"/>
                        </a:rPr>
                        <a:t>Parse accuracy</a:t>
                      </a:r>
                    </a:p>
                  </a:txBody>
                  <a:tcPr marL="91440" marR="91440" marT="36576" marB="36576" anchor="ctr">
                    <a:solidFill>
                      <a:srgbClr val="FFFFFF"/>
                    </a:solidFill>
                  </a:tcPr>
                </a:tc>
                <a:tc>
                  <a:txBody>
                    <a:bodyPr wrap="square"/>
                    <a:lstStyle/>
                    <a:p>
                      <a:pPr>
                        <a:spcAft>
                          <a:spcPts val="0"/>
                        </a:spcAft>
                      </a:pPr>
                      <a:r>
                        <a:rPr sz="1250" b="0" i="0">
                          <a:solidFill>
                            <a:srgbClr val="262626"/>
                          </a:solidFill>
                          <a:latin typeface="Calibri"/>
                        </a:rPr>
                        <a:t>All four request fields match the label</a:t>
                      </a:r>
                    </a:p>
                  </a:txBody>
                  <a:tcPr marL="91440" marR="91440" marT="36576" marB="36576" anchor="ctr">
                    <a:solidFill>
                      <a:srgbClr val="FFFFFF"/>
                    </a:solidFill>
                  </a:tcPr>
                </a:tc>
                <a:tc>
                  <a:txBody>
                    <a:bodyPr wrap="square"/>
                    <a:lstStyle/>
                    <a:p>
                      <a:pPr>
                        <a:spcAft>
                          <a:spcPts val="0"/>
                        </a:spcAft>
                      </a:pPr>
                      <a:r>
                        <a:rPr sz="1250" b="0" i="0">
                          <a:solidFill>
                            <a:srgbClr val="262626"/>
                          </a:solidFill>
                          <a:latin typeface="Calibri"/>
                        </a:rPr>
                        <a:t>≥ 90%</a:t>
                      </a:r>
                    </a:p>
                  </a:txBody>
                  <a:tcPr marL="91440" marR="91440" marT="36576" marB="36576" anchor="ctr">
                    <a:solidFill>
                      <a:srgbClr val="FFFFFF"/>
                    </a:solidFill>
                  </a:tcPr>
                </a:tc>
              </a:tr>
              <a:tr h="502920">
                <a:tc>
                  <a:txBody>
                    <a:bodyPr wrap="square"/>
                    <a:lstStyle/>
                    <a:p>
                      <a:pPr>
                        <a:spcAft>
                          <a:spcPts val="0"/>
                        </a:spcAft>
                      </a:pPr>
                      <a:r>
                        <a:rPr sz="1250" b="1" i="0">
                          <a:solidFill>
                            <a:srgbClr val="1F4E79"/>
                          </a:solidFill>
                          <a:latin typeface="Calibri"/>
                        </a:rPr>
                        <a:t>Risk-level accuracy</a:t>
                      </a:r>
                    </a:p>
                  </a:txBody>
                  <a:tcPr marL="91440" marR="91440" marT="36576" marB="36576" anchor="ctr">
                    <a:solidFill>
                      <a:srgbClr val="F4F8FC"/>
                    </a:solidFill>
                  </a:tcPr>
                </a:tc>
                <a:tc>
                  <a:txBody>
                    <a:bodyPr wrap="square"/>
                    <a:lstStyle/>
                    <a:p>
                      <a:pPr>
                        <a:spcAft>
                          <a:spcPts val="0"/>
                        </a:spcAft>
                      </a:pPr>
                      <a:r>
                        <a:rPr sz="1250" b="0" i="0">
                          <a:solidFill>
                            <a:srgbClr val="262626"/>
                          </a:solidFill>
                          <a:latin typeface="Calibri"/>
                        </a:rPr>
                        <a:t>Predicted level matches the expert label</a:t>
                      </a:r>
                    </a:p>
                  </a:txBody>
                  <a:tcPr marL="91440" marR="91440" marT="36576" marB="36576" anchor="ctr">
                    <a:solidFill>
                      <a:srgbClr val="F4F8FC"/>
                    </a:solidFill>
                  </a:tcPr>
                </a:tc>
                <a:tc>
                  <a:txBody>
                    <a:bodyPr wrap="square"/>
                    <a:lstStyle/>
                    <a:p>
                      <a:pPr>
                        <a:spcAft>
                          <a:spcPts val="0"/>
                        </a:spcAft>
                      </a:pPr>
                      <a:r>
                        <a:rPr sz="1250" b="0" i="0">
                          <a:solidFill>
                            <a:srgbClr val="262626"/>
                          </a:solidFill>
                          <a:latin typeface="Calibri"/>
                        </a:rPr>
                        <a:t>≥ 85%</a:t>
                      </a:r>
                    </a:p>
                  </a:txBody>
                  <a:tcPr marL="91440" marR="91440" marT="36576" marB="36576" anchor="ctr">
                    <a:solidFill>
                      <a:srgbClr val="F4F8FC"/>
                    </a:solidFill>
                  </a:tcPr>
                </a:tc>
              </a:tr>
              <a:tr h="502920">
                <a:tc>
                  <a:txBody>
                    <a:bodyPr wrap="square"/>
                    <a:lstStyle/>
                    <a:p>
                      <a:pPr>
                        <a:spcAft>
                          <a:spcPts val="0"/>
                        </a:spcAft>
                      </a:pPr>
                      <a:r>
                        <a:rPr sz="1250" b="1" i="0">
                          <a:solidFill>
                            <a:srgbClr val="1F4E79"/>
                          </a:solidFill>
                          <a:latin typeface="Calibri"/>
                        </a:rPr>
                        <a:t>Affected-project recall</a:t>
                      </a:r>
                    </a:p>
                  </a:txBody>
                  <a:tcPr marL="91440" marR="91440" marT="36576" marB="36576" anchor="ctr">
                    <a:solidFill>
                      <a:srgbClr val="FFFFFF"/>
                    </a:solidFill>
                  </a:tcPr>
                </a:tc>
                <a:tc>
                  <a:txBody>
                    <a:bodyPr wrap="square"/>
                    <a:lstStyle/>
                    <a:p>
                      <a:pPr>
                        <a:spcAft>
                          <a:spcPts val="0"/>
                        </a:spcAft>
                      </a:pPr>
                      <a:r>
                        <a:rPr sz="1250" b="0" i="0">
                          <a:solidFill>
                            <a:srgbClr val="262626"/>
                          </a:solidFill>
                          <a:latin typeface="Calibri"/>
                        </a:rPr>
                        <a:t>No affected project is missed</a:t>
                      </a:r>
                    </a:p>
                  </a:txBody>
                  <a:tcPr marL="91440" marR="91440" marT="36576" marB="36576" anchor="ctr">
                    <a:solidFill>
                      <a:srgbClr val="FFFFFF"/>
                    </a:solidFill>
                  </a:tcPr>
                </a:tc>
                <a:tc>
                  <a:txBody>
                    <a:bodyPr wrap="square"/>
                    <a:lstStyle/>
                    <a:p>
                      <a:pPr>
                        <a:spcAft>
                          <a:spcPts val="0"/>
                        </a:spcAft>
                      </a:pPr>
                      <a:r>
                        <a:rPr sz="1250" b="0" i="0">
                          <a:solidFill>
                            <a:srgbClr val="262626"/>
                          </a:solidFill>
                          <a:latin typeface="Calibri"/>
                        </a:rPr>
                        <a:t>100%</a:t>
                      </a:r>
                    </a:p>
                  </a:txBody>
                  <a:tcPr marL="91440" marR="91440" marT="36576" marB="36576" anchor="ctr">
                    <a:solidFill>
                      <a:srgbClr val="FFFFFF"/>
                    </a:solidFill>
                  </a:tcPr>
                </a:tc>
              </a:tr>
              <a:tr h="502920">
                <a:tc>
                  <a:txBody>
                    <a:bodyPr wrap="square"/>
                    <a:lstStyle/>
                    <a:p>
                      <a:pPr>
                        <a:spcAft>
                          <a:spcPts val="0"/>
                        </a:spcAft>
                      </a:pPr>
                      <a:r>
                        <a:rPr sz="1250" b="1" i="0">
                          <a:solidFill>
                            <a:srgbClr val="1F4E79"/>
                          </a:solidFill>
                          <a:latin typeface="Calibri"/>
                        </a:rPr>
                        <a:t>Unsupported claims</a:t>
                      </a:r>
                    </a:p>
                  </a:txBody>
                  <a:tcPr marL="91440" marR="91440" marT="36576" marB="36576" anchor="ctr">
                    <a:solidFill>
                      <a:srgbClr val="F4F8FC"/>
                    </a:solidFill>
                  </a:tcPr>
                </a:tc>
                <a:tc>
                  <a:txBody>
                    <a:bodyPr wrap="square"/>
                    <a:lstStyle/>
                    <a:p>
                      <a:pPr>
                        <a:spcAft>
                          <a:spcPts val="0"/>
                        </a:spcAft>
                      </a:pPr>
                      <a:r>
                        <a:rPr sz="1250" b="0" i="0">
                          <a:solidFill>
                            <a:srgbClr val="262626"/>
                          </a:solidFill>
                          <a:latin typeface="Calibri"/>
                        </a:rPr>
                        <a:t>Explanation sentences not backed by a finding</a:t>
                      </a:r>
                    </a:p>
                  </a:txBody>
                  <a:tcPr marL="91440" marR="91440" marT="36576" marB="36576" anchor="ctr">
                    <a:solidFill>
                      <a:srgbClr val="F4F8FC"/>
                    </a:solidFill>
                  </a:tcPr>
                </a:tc>
                <a:tc>
                  <a:txBody>
                    <a:bodyPr wrap="square"/>
                    <a:lstStyle/>
                    <a:p>
                      <a:pPr>
                        <a:spcAft>
                          <a:spcPts val="0"/>
                        </a:spcAft>
                      </a:pPr>
                      <a:r>
                        <a:rPr sz="1250" b="0" i="0">
                          <a:solidFill>
                            <a:srgbClr val="262626"/>
                          </a:solidFill>
                          <a:latin typeface="Calibri"/>
                        </a:rPr>
                        <a:t>≤ 5%</a:t>
                      </a:r>
                    </a:p>
                  </a:txBody>
                  <a:tcPr marL="91440" marR="91440" marT="36576" marB="36576" anchor="ctr">
                    <a:solidFill>
                      <a:srgbClr val="F4F8FC"/>
                    </a:solidFill>
                  </a:tcPr>
                </a:tc>
              </a:tr>
              <a:tr h="502920">
                <a:tc>
                  <a:txBody>
                    <a:bodyPr wrap="square"/>
                    <a:lstStyle/>
                    <a:p>
                      <a:pPr>
                        <a:spcAft>
                          <a:spcPts val="0"/>
                        </a:spcAft>
                      </a:pPr>
                      <a:r>
                        <a:rPr sz="1250" b="1" i="0">
                          <a:solidFill>
                            <a:srgbClr val="1F4E79"/>
                          </a:solidFill>
                          <a:latin typeface="Calibri"/>
                        </a:rPr>
                        <a:t>Response time</a:t>
                      </a:r>
                    </a:p>
                  </a:txBody>
                  <a:tcPr marL="91440" marR="91440" marT="36576" marB="36576" anchor="ctr">
                    <a:solidFill>
                      <a:srgbClr val="FFFFFF"/>
                    </a:solidFill>
                  </a:tcPr>
                </a:tc>
                <a:tc>
                  <a:txBody>
                    <a:bodyPr wrap="square"/>
                    <a:lstStyle/>
                    <a:p>
                      <a:pPr>
                        <a:spcAft>
                          <a:spcPts val="0"/>
                        </a:spcAft>
                      </a:pPr>
                      <a:r>
                        <a:rPr sz="1250" b="0" i="0">
                          <a:solidFill>
                            <a:srgbClr val="262626"/>
                          </a:solidFill>
                          <a:latin typeface="Calibri"/>
                        </a:rPr>
                        <a:t>Median end to end with the local LLM</a:t>
                      </a:r>
                    </a:p>
                  </a:txBody>
                  <a:tcPr marL="91440" marR="91440" marT="36576" marB="36576" anchor="ctr">
                    <a:solidFill>
                      <a:srgbClr val="FFFFFF"/>
                    </a:solidFill>
                  </a:tcPr>
                </a:tc>
                <a:tc>
                  <a:txBody>
                    <a:bodyPr wrap="square"/>
                    <a:lstStyle/>
                    <a:p>
                      <a:pPr>
                        <a:spcAft>
                          <a:spcPts val="0"/>
                        </a:spcAft>
                      </a:pPr>
                      <a:r>
                        <a:rPr sz="1250" b="0" i="0">
                          <a:solidFill>
                            <a:srgbClr val="262626"/>
                          </a:solidFill>
                          <a:latin typeface="Calibri"/>
                        </a:rPr>
                        <a:t>&lt; 30 s</a:t>
                      </a:r>
                    </a:p>
                  </a:txBody>
                  <a:tcPr marL="91440" marR="91440" marT="36576" marB="36576" anchor="ctr">
                    <a:solidFill>
                      <a:srgbClr val="FFFFFF"/>
                    </a:solidFill>
                  </a:tcPr>
                </a:tc>
              </a:tr>
            </a:tbl>
          </a:graphicData>
        </a:graphic>
      </p:graphicFrame>
      <p:sp>
        <p:nvSpPr>
          <p:cNvPr id="8" name="TextBox 7"/>
          <p:cNvSpPr txBox="1"/>
          <p:nvPr/>
        </p:nvSpPr>
        <p:spPr>
          <a:xfrm>
            <a:off x="365760" y="4407408"/>
            <a:ext cx="3657600" cy="274320"/>
          </a:xfrm>
          <a:prstGeom prst="rect">
            <a:avLst/>
          </a:prstGeom>
          <a:noFill/>
        </p:spPr>
        <p:txBody>
          <a:bodyPr wrap="square" lIns="36576" rIns="36576" tIns="18288" bIns="18288" anchor="ctr">
            <a:noAutofit/>
          </a:bodyPr>
          <a:lstStyle/>
          <a:p>
            <a:pPr>
              <a:spcAft>
                <a:spcPts val="400"/>
              </a:spcAft>
            </a:pPr>
            <a:r>
              <a:rPr sz="1150" b="1" i="0">
                <a:solidFill>
                  <a:srgbClr val="1F4E79"/>
                </a:solidFill>
                <a:latin typeface="Calibri"/>
              </a:rPr>
              <a:t>Benchmark scenarios</a:t>
            </a:r>
          </a:p>
        </p:txBody>
      </p:sp>
      <p:sp>
        <p:nvSpPr>
          <p:cNvPr id="9" name="Rounded Rectangle 8"/>
          <p:cNvSpPr/>
          <p:nvPr/>
        </p:nvSpPr>
        <p:spPr>
          <a:xfrm>
            <a:off x="365760" y="4736592"/>
            <a:ext cx="745236"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upgrade</a:t>
            </a:r>
          </a:p>
        </p:txBody>
      </p:sp>
      <p:sp>
        <p:nvSpPr>
          <p:cNvPr id="10" name="Rounded Rectangle 9"/>
          <p:cNvSpPr/>
          <p:nvPr/>
        </p:nvSpPr>
        <p:spPr>
          <a:xfrm>
            <a:off x="1184148" y="4736592"/>
            <a:ext cx="900684"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downgrade</a:t>
            </a:r>
          </a:p>
        </p:txBody>
      </p:sp>
      <p:sp>
        <p:nvSpPr>
          <p:cNvPr id="11" name="Rounded Rectangle 10"/>
          <p:cNvSpPr/>
          <p:nvPr/>
        </p:nvSpPr>
        <p:spPr>
          <a:xfrm>
            <a:off x="2157984" y="4736592"/>
            <a:ext cx="667512"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remove</a:t>
            </a:r>
          </a:p>
        </p:txBody>
      </p:sp>
      <p:sp>
        <p:nvSpPr>
          <p:cNvPr id="12" name="Rounded Rectangle 11"/>
          <p:cNvSpPr/>
          <p:nvPr/>
        </p:nvSpPr>
        <p:spPr>
          <a:xfrm>
            <a:off x="2898648" y="4736592"/>
            <a:ext cx="745236"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install</a:t>
            </a:r>
          </a:p>
        </p:txBody>
      </p:sp>
      <p:sp>
        <p:nvSpPr>
          <p:cNvPr id="13" name="Rounded Rectangle 12"/>
          <p:cNvSpPr/>
          <p:nvPr/>
        </p:nvSpPr>
        <p:spPr>
          <a:xfrm>
            <a:off x="3717035" y="4736592"/>
            <a:ext cx="1367028"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missing version</a:t>
            </a:r>
          </a:p>
        </p:txBody>
      </p:sp>
      <p:sp>
        <p:nvSpPr>
          <p:cNvPr id="14" name="Rounded Rectangle 13"/>
          <p:cNvSpPr/>
          <p:nvPr/>
        </p:nvSpPr>
        <p:spPr>
          <a:xfrm>
            <a:off x="5157216" y="4736592"/>
            <a:ext cx="589788"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no-op</a:t>
            </a:r>
          </a:p>
        </p:txBody>
      </p:sp>
      <p:sp>
        <p:nvSpPr>
          <p:cNvPr id="15" name="Rounded Rectangle 14"/>
          <p:cNvSpPr/>
          <p:nvPr/>
        </p:nvSpPr>
        <p:spPr>
          <a:xfrm>
            <a:off x="5820155" y="4736592"/>
            <a:ext cx="1289304" cy="274320"/>
          </a:xfrm>
          <a:prstGeom prst="roundRect">
            <a:avLst>
              <a:gd name="adj" fmla="val 40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spcAft>
                <a:spcPts val="0"/>
              </a:spcAft>
            </a:pPr>
            <a:r>
              <a:rPr sz="1050" b="0" i="0">
                <a:solidFill>
                  <a:srgbClr val="1F4E79"/>
                </a:solidFill>
                <a:latin typeface="Calibri"/>
              </a:rPr>
              <a:t>project-scoped</a:t>
            </a:r>
          </a:p>
        </p:txBody>
      </p:sp>
      <p:sp>
        <p:nvSpPr>
          <p:cNvPr id="16" name="Rounded Rectangle 15"/>
          <p:cNvSpPr/>
          <p:nvPr/>
        </p:nvSpPr>
        <p:spPr>
          <a:xfrm>
            <a:off x="7680960" y="1417320"/>
            <a:ext cx="4160520" cy="3703320"/>
          </a:xfrm>
          <a:prstGeom prst="roundRect">
            <a:avLst>
              <a:gd name="adj" fmla="val 4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7" name="TextBox 16"/>
          <p:cNvSpPr txBox="1"/>
          <p:nvPr/>
        </p:nvSpPr>
        <p:spPr>
          <a:xfrm>
            <a:off x="7863840" y="1536192"/>
            <a:ext cx="3794760" cy="365760"/>
          </a:xfrm>
          <a:prstGeom prst="rect">
            <a:avLst/>
          </a:prstGeom>
          <a:noFill/>
        </p:spPr>
        <p:txBody>
          <a:bodyPr wrap="square" lIns="36576" rIns="36576" tIns="18288" bIns="18288" anchor="t">
            <a:noAutofit/>
          </a:bodyPr>
          <a:lstStyle/>
          <a:p>
            <a:pPr>
              <a:spcAft>
                <a:spcPts val="400"/>
              </a:spcAft>
            </a:pPr>
            <a:r>
              <a:rPr sz="1600" b="1" i="0">
                <a:solidFill>
                  <a:srgbClr val="1F4E79"/>
                </a:solidFill>
                <a:latin typeface="Calibri"/>
              </a:rPr>
              <a:t>Key findings</a:t>
            </a:r>
          </a:p>
        </p:txBody>
      </p:sp>
      <p:sp>
        <p:nvSpPr>
          <p:cNvPr id="18" name="TextBox 17"/>
          <p:cNvSpPr txBox="1"/>
          <p:nvPr/>
        </p:nvSpPr>
        <p:spPr>
          <a:xfrm>
            <a:off x="7863840" y="1938528"/>
            <a:ext cx="3794760" cy="3108960"/>
          </a:xfrm>
          <a:prstGeom prst="rect">
            <a:avLst/>
          </a:prstGeom>
          <a:noFill/>
        </p:spPr>
        <p:txBody>
          <a:bodyPr wrap="square" lIns="36576" rIns="36576" tIns="18288" bIns="18288" anchor="t">
            <a:noAutofit/>
          </a:bodyPr>
          <a:lstStyle/>
          <a:p>
            <a:pPr marL="228600" indent="-228600">
              <a:spcAft>
                <a:spcPts val="600"/>
              </a:spcAft>
              <a:buClr>
                <a:srgbClr val="2E75B6"/>
              </a:buClr>
              <a:buFont typeface="Arial"/>
              <a:buChar char="•"/>
            </a:pPr>
            <a:r>
              <a:rPr sz="1250" b="0" i="0">
                <a:solidFill>
                  <a:srgbClr val="262626"/>
                </a:solidFill>
                <a:latin typeface="Calibri"/>
              </a:rPr>
              <a:t>Deterministic-first design removed the factual contradictions seen when the 8B model wrote whole reports.</a:t>
            </a:r>
          </a:p>
          <a:p>
            <a:pPr marL="228600" indent="-228600">
              <a:spcAft>
                <a:spcPts val="600"/>
              </a:spcAft>
              <a:buClr>
                <a:srgbClr val="2E75B6"/>
              </a:buClr>
              <a:buFont typeface="Arial"/>
              <a:buChar char="•"/>
            </a:pPr>
            <a:r>
              <a:rPr sz="1250" b="0" i="0">
                <a:solidFill>
                  <a:srgbClr val="262626"/>
                </a:solidFill>
                <a:latin typeface="Calibri"/>
              </a:rPr>
              <a:t>Version-filtered retrieval keeps evidence on the exact version being asked about.</a:t>
            </a:r>
          </a:p>
          <a:p>
            <a:pPr marL="228600" indent="-228600">
              <a:spcAft>
                <a:spcPts val="600"/>
              </a:spcAft>
              <a:buClr>
                <a:srgbClr val="2E75B6"/>
              </a:buClr>
              <a:buFont typeface="Arial"/>
              <a:buChar char="•"/>
            </a:pPr>
            <a:r>
              <a:rPr sz="1250" b="0" i="0">
                <a:solidFill>
                  <a:srgbClr val="262626"/>
                </a:solidFill>
                <a:latin typeface="Calibri"/>
              </a:rPr>
              <a:t>Project scoping prevents false alarms across separate virtual environments.</a:t>
            </a:r>
          </a:p>
          <a:p>
            <a:pPr marL="228600" indent="-228600">
              <a:spcAft>
                <a:spcPts val="600"/>
              </a:spcAft>
              <a:buClr>
                <a:srgbClr val="2E75B6"/>
              </a:buClr>
              <a:buFont typeface="Arial"/>
              <a:buChar char="•"/>
            </a:pPr>
            <a:r>
              <a:rPr sz="1250" b="0" i="0">
                <a:solidFill>
                  <a:srgbClr val="262626"/>
                </a:solidFill>
                <a:latin typeface="Calibri"/>
              </a:rPr>
              <a:t>Conditional routing skips unnecessary LLM work for no-op changes.</a:t>
            </a:r>
          </a:p>
          <a:p>
            <a:pPr marL="228600" indent="-228600">
              <a:spcAft>
                <a:spcPts val="600"/>
              </a:spcAft>
              <a:buClr>
                <a:srgbClr val="2E75B6"/>
              </a:buClr>
              <a:buFont typeface="Arial"/>
              <a:buChar char="•"/>
            </a:pPr>
            <a:r>
              <a:rPr sz="1250" b="0" i="0">
                <a:solidFill>
                  <a:srgbClr val="262626"/>
                </a:solidFill>
                <a:latin typeface="Calibri"/>
              </a:rPr>
              <a:t>Runs fully locally at zero API cost; no code leaves the machine.</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20040" y="1371600"/>
            <a:ext cx="6766560" cy="1371600"/>
          </a:xfrm>
          <a:prstGeom prst="rect">
            <a:avLst/>
          </a:prstGeom>
          <a:noFill/>
        </p:spPr>
        <p:txBody>
          <a:bodyPr wrap="square" lIns="36576" rIns="36576" tIns="18288" bIns="18288" anchor="t">
            <a:noAutofit/>
          </a:bodyPr>
          <a:lstStyle/>
          <a:p>
            <a:pPr>
              <a:spcAft>
                <a:spcPts val="400"/>
              </a:spcAft>
            </a:pPr>
            <a:r>
              <a:rPr sz="1500" b="0" i="0">
                <a:solidFill>
                  <a:srgbClr val="262626"/>
                </a:solidFill>
                <a:latin typeface="Calibri"/>
              </a:rPr>
              <a:t>The project delivers a working agentic AI system that tells a developer, before any change, which projects a package change affects, how risky it is and why. It is grounded in the real machine and real release data, and it verifies a change only with the user's approval.</a:t>
            </a:r>
          </a:p>
        </p:txBody>
      </p:sp>
      <p:sp>
        <p:nvSpPr>
          <p:cNvPr id="8" name="TextBox 7"/>
          <p:cNvSpPr txBox="1"/>
          <p:nvPr/>
        </p:nvSpPr>
        <p:spPr>
          <a:xfrm>
            <a:off x="320040" y="2834640"/>
            <a:ext cx="6766560" cy="365760"/>
          </a:xfrm>
          <a:prstGeom prst="rect">
            <a:avLst/>
          </a:prstGeom>
          <a:noFill/>
        </p:spPr>
        <p:txBody>
          <a:bodyPr wrap="square" lIns="36576" rIns="36576" tIns="18288" bIns="18288" anchor="t">
            <a:noAutofit/>
          </a:bodyPr>
          <a:lstStyle/>
          <a:p>
            <a:pPr>
              <a:spcAft>
                <a:spcPts val="400"/>
              </a:spcAft>
            </a:pPr>
            <a:r>
              <a:rPr sz="1700" b="1" i="0">
                <a:solidFill>
                  <a:srgbClr val="2E75B6"/>
                </a:solidFill>
                <a:latin typeface="Calibri"/>
              </a:rPr>
              <a:t>Key takeaways</a:t>
            </a:r>
          </a:p>
        </p:txBody>
      </p:sp>
      <p:sp>
        <p:nvSpPr>
          <p:cNvPr id="9" name="TextBox 8"/>
          <p:cNvSpPr txBox="1"/>
          <p:nvPr/>
        </p:nvSpPr>
        <p:spPr>
          <a:xfrm>
            <a:off x="320040" y="3246120"/>
            <a:ext cx="6766560" cy="1874519"/>
          </a:xfrm>
          <a:prstGeom prst="rect">
            <a:avLst/>
          </a:prstGeom>
          <a:noFill/>
        </p:spPr>
        <p:txBody>
          <a:bodyPr wrap="square" lIns="36576" rIns="36576" tIns="18288" bIns="18288" anchor="t">
            <a:noAutofit/>
          </a:bodyPr>
          <a:lstStyle/>
          <a:p>
            <a:pPr marL="228600" indent="-228600">
              <a:spcAft>
                <a:spcPts val="600"/>
              </a:spcAft>
              <a:buClr>
                <a:srgbClr val="2E75B6"/>
              </a:buClr>
              <a:buFont typeface="Arial"/>
              <a:buChar char="•"/>
            </a:pPr>
            <a:r>
              <a:rPr sz="1400" b="0" i="0">
                <a:solidFill>
                  <a:srgbClr val="262626"/>
                </a:solidFill>
                <a:latin typeface="Calibri"/>
              </a:rPr>
              <a:t>Agents add the most value when the LLM handles language and code handles facts.</a:t>
            </a:r>
          </a:p>
          <a:p>
            <a:pPr marL="228600" indent="-228600">
              <a:spcAft>
                <a:spcPts val="600"/>
              </a:spcAft>
              <a:buClr>
                <a:srgbClr val="2E75B6"/>
              </a:buClr>
              <a:buFont typeface="Arial"/>
              <a:buChar char="•"/>
            </a:pPr>
            <a:r>
              <a:rPr sz="1400" b="0" i="0">
                <a:solidFill>
                  <a:srgbClr val="262626"/>
                </a:solidFill>
                <a:latin typeface="Calibri"/>
              </a:rPr>
              <a:t>Read-only analysis plus approval-gated execution makes automation safe to adopt.</a:t>
            </a:r>
          </a:p>
          <a:p>
            <a:pPr marL="228600" indent="-228600">
              <a:spcAft>
                <a:spcPts val="400"/>
              </a:spcAft>
              <a:buClr>
                <a:srgbClr val="2E75B6"/>
              </a:buClr>
              <a:buFont typeface="Arial"/>
              <a:buChar char="•"/>
            </a:pPr>
            <a:r>
              <a:rPr sz="1400" b="0" i="0">
                <a:solidFill>
                  <a:srgbClr val="262626"/>
                </a:solidFill>
                <a:latin typeface="Calibri"/>
              </a:rPr>
              <a:t>A local model and on-demand RAG keep the system private and free to run.</a:t>
            </a:r>
          </a:p>
        </p:txBody>
      </p:sp>
      <p:sp>
        <p:nvSpPr>
          <p:cNvPr id="10" name="Rounded Rectangle 9"/>
          <p:cNvSpPr/>
          <p:nvPr/>
        </p:nvSpPr>
        <p:spPr>
          <a:xfrm>
            <a:off x="7406640" y="1417320"/>
            <a:ext cx="4434840" cy="3703320"/>
          </a:xfrm>
          <a:prstGeom prst="roundRect">
            <a:avLst>
              <a:gd name="adj" fmla="val 4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11" name="TextBox 10"/>
          <p:cNvSpPr txBox="1"/>
          <p:nvPr/>
        </p:nvSpPr>
        <p:spPr>
          <a:xfrm>
            <a:off x="7589520" y="1554480"/>
            <a:ext cx="4069080" cy="365760"/>
          </a:xfrm>
          <a:prstGeom prst="rect">
            <a:avLst/>
          </a:prstGeom>
          <a:noFill/>
        </p:spPr>
        <p:txBody>
          <a:bodyPr wrap="square" lIns="36576" rIns="36576" tIns="18288" bIns="18288" anchor="t">
            <a:noAutofit/>
          </a:bodyPr>
          <a:lstStyle/>
          <a:p>
            <a:pPr>
              <a:spcAft>
                <a:spcPts val="400"/>
              </a:spcAft>
            </a:pPr>
            <a:r>
              <a:rPr sz="1700" b="1" i="0">
                <a:solidFill>
                  <a:srgbClr val="1F4E79"/>
                </a:solidFill>
                <a:latin typeface="Calibri"/>
              </a:rPr>
              <a:t>Future scope</a:t>
            </a:r>
          </a:p>
        </p:txBody>
      </p:sp>
      <p:sp>
        <p:nvSpPr>
          <p:cNvPr id="12" name="TextBox 11"/>
          <p:cNvSpPr txBox="1"/>
          <p:nvPr/>
        </p:nvSpPr>
        <p:spPr>
          <a:xfrm>
            <a:off x="7589520" y="2011680"/>
            <a:ext cx="4069080" cy="3017520"/>
          </a:xfrm>
          <a:prstGeom prst="rect">
            <a:avLst/>
          </a:prstGeom>
          <a:noFill/>
        </p:spPr>
        <p:txBody>
          <a:bodyPr wrap="square" lIns="36576" rIns="36576" tIns="18288" bIns="18288" anchor="t">
            <a:noAutofit/>
          </a:bodyPr>
          <a:lstStyle/>
          <a:p>
            <a:pPr marL="228600" indent="-228600">
              <a:spcAft>
                <a:spcPts val="800"/>
              </a:spcAft>
              <a:buClr>
                <a:srgbClr val="2E75B6"/>
              </a:buClr>
              <a:buFont typeface="Arial"/>
              <a:buChar char="•"/>
            </a:pPr>
            <a:r>
              <a:rPr sz="1400" b="0" i="0">
                <a:solidFill>
                  <a:srgbClr val="262626"/>
                </a:solidFill>
                <a:latin typeface="Calibri"/>
              </a:rPr>
              <a:t>Fleet mode: many machines reporting to one central store</a:t>
            </a:r>
          </a:p>
          <a:p>
            <a:pPr marL="228600" indent="-228600">
              <a:spcAft>
                <a:spcPts val="800"/>
              </a:spcAft>
              <a:buClr>
                <a:srgbClr val="2E75B6"/>
              </a:buClr>
              <a:buFont typeface="Arial"/>
              <a:buChar char="•"/>
            </a:pPr>
            <a:r>
              <a:rPr sz="1400" b="0" i="0">
                <a:solidFill>
                  <a:srgbClr val="262626"/>
                </a:solidFill>
                <a:latin typeface="Calibri"/>
              </a:rPr>
              <a:t>More ecosystems: npm, Maven and conda</a:t>
            </a:r>
          </a:p>
          <a:p>
            <a:pPr marL="228600" indent="-228600">
              <a:spcAft>
                <a:spcPts val="800"/>
              </a:spcAft>
              <a:buClr>
                <a:srgbClr val="2E75B6"/>
              </a:buClr>
              <a:buFont typeface="Arial"/>
              <a:buChar char="•"/>
            </a:pPr>
            <a:r>
              <a:rPr sz="1400" b="0" i="0">
                <a:solidFill>
                  <a:srgbClr val="262626"/>
                </a:solidFill>
                <a:latin typeface="Calibri"/>
              </a:rPr>
              <a:t>Vulnerability feeds (CVE / OSV) that trigger checks automatically</a:t>
            </a:r>
          </a:p>
          <a:p>
            <a:pPr marL="228600" indent="-228600">
              <a:spcAft>
                <a:spcPts val="800"/>
              </a:spcAft>
              <a:buClr>
                <a:srgbClr val="2E75B6"/>
              </a:buClr>
              <a:buFont typeface="Arial"/>
              <a:buChar char="•"/>
            </a:pPr>
            <a:r>
              <a:rPr sz="1400" b="0" i="0">
                <a:solidFill>
                  <a:srgbClr val="262626"/>
                </a:solidFill>
                <a:latin typeface="Calibri"/>
              </a:rPr>
              <a:t>CI/CD gate that flags risky dependency changes in pull requests</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Rounded Rectangle 6"/>
          <p:cNvSpPr/>
          <p:nvPr/>
        </p:nvSpPr>
        <p:spPr>
          <a:xfrm>
            <a:off x="365760" y="1417320"/>
            <a:ext cx="11475720" cy="3429000"/>
          </a:xfrm>
          <a:prstGeom prst="roundRect">
            <a:avLst>
              <a:gd name="adj" fmla="val 4000"/>
            </a:avLst>
          </a:prstGeom>
          <a:solidFill>
            <a:srgbClr val="EEF4FA"/>
          </a:solidFill>
          <a:ln w="9525">
            <a:solidFill>
              <a:srgbClr val="C9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8" name="TextBox 7"/>
          <p:cNvSpPr txBox="1"/>
          <p:nvPr/>
        </p:nvSpPr>
        <p:spPr>
          <a:xfrm>
            <a:off x="685800" y="1645920"/>
            <a:ext cx="10835640" cy="2743200"/>
          </a:xfrm>
          <a:prstGeom prst="rect">
            <a:avLst/>
          </a:prstGeom>
          <a:noFill/>
        </p:spPr>
        <p:txBody>
          <a:bodyPr wrap="square" lIns="36576" rIns="36576" tIns="18288" bIns="18288" anchor="t">
            <a:noAutofit/>
          </a:bodyPr>
          <a:lstStyle/>
          <a:p>
            <a:pPr>
              <a:spcAft>
                <a:spcPts val="1200"/>
              </a:spcAft>
            </a:pPr>
            <a:r>
              <a:rPr sz="1600" b="0" i="0">
                <a:solidFill>
                  <a:srgbClr val="262626"/>
                </a:solidFill>
                <a:latin typeface="Calibri"/>
              </a:rPr>
              <a:t>I sincerely thank the University and LTIMindtree for the Advanced Industry Integrated Program, and L&amp;T EduTech for implementing it.</a:t>
            </a:r>
          </a:p>
          <a:p>
            <a:pPr>
              <a:spcAft>
                <a:spcPts val="1200"/>
              </a:spcAft>
            </a:pPr>
            <a:r>
              <a:rPr sz="1600" b="0" i="0">
                <a:solidFill>
                  <a:srgbClr val="262626"/>
                </a:solidFill>
                <a:latin typeface="Calibri"/>
              </a:rPr>
              <a:t>My gratitude to my project guide and mentors for their guidance, feedback and encouragement throughout the reviews.</a:t>
            </a:r>
          </a:p>
          <a:p>
            <a:pPr>
              <a:spcAft>
                <a:spcPts val="1200"/>
              </a:spcAft>
            </a:pPr>
            <a:r>
              <a:rPr sz="1600" b="0" i="0">
                <a:solidFill>
                  <a:srgbClr val="262626"/>
                </a:solidFill>
                <a:latin typeface="Calibri"/>
              </a:rPr>
              <a:t>I also thank the open-source communities behind LangGraph, Ollama, PostgreSQL, pgvector, sentence-transformers and Streamlit, whose work made this project possible.</a:t>
            </a:r>
          </a:p>
          <a:p>
            <a:pPr>
              <a:spcAft>
                <a:spcPts val="400"/>
              </a:spcAft>
            </a:pPr>
            <a:r>
              <a:rPr sz="1600" b="0" i="0">
                <a:solidFill>
                  <a:srgbClr val="262626"/>
                </a:solidFill>
                <a:latin typeface="Calibri"/>
              </a:rPr>
              <a:t>Finally, thank you to my family and colleagues for their constant support.</a:t>
            </a:r>
          </a:p>
        </p:txBody>
      </p:sp>
      <p:sp>
        <p:nvSpPr>
          <p:cNvPr id="9" name="TextBox 8"/>
          <p:cNvSpPr txBox="1"/>
          <p:nvPr/>
        </p:nvSpPr>
        <p:spPr>
          <a:xfrm>
            <a:off x="6858000" y="4389120"/>
            <a:ext cx="4754880" cy="365760"/>
          </a:xfrm>
          <a:prstGeom prst="rect">
            <a:avLst/>
          </a:prstGeom>
          <a:noFill/>
        </p:spPr>
        <p:txBody>
          <a:bodyPr wrap="square" lIns="36576" rIns="36576" tIns="18288" bIns="18288" anchor="t">
            <a:noAutofit/>
          </a:bodyPr>
          <a:lstStyle/>
          <a:p>
            <a:pPr algn="r">
              <a:spcAft>
                <a:spcPts val="400"/>
              </a:spcAft>
            </a:pPr>
            <a:r>
              <a:rPr sz="1500" b="1" i="0">
                <a:solidFill>
                  <a:srgbClr val="1F4E79"/>
                </a:solidFill>
                <a:latin typeface="Calibri"/>
              </a:rPr>
              <a:t>— Sanjay Suresh Hullyal</a:t>
            </a:r>
          </a:p>
        </p:txBody>
      </p:sp>
    </p:spTree>
    <p:extLst>
      <p:ext uri="{BB962C8B-B14F-4D97-AF65-F5344CB8AC3E}">
        <p14:creationId xmlns:p14="http://schemas.microsoft.com/office/powerpoint/2010/main" val="15734889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Personal IT Change Impact Agent</a:t>
            </a:r>
          </a:p>
          <a:p>
            <a:pPr algn="r"/>
            <a:endParaRPr lang="en-US" dirty="0"/>
          </a:p>
        </p:txBody>
      </p:sp>
      <p:sp>
        <p:nvSpPr>
          <p:cNvPr id="7" name="TextBox 6"/>
          <p:cNvSpPr txBox="1"/>
          <p:nvPr/>
        </p:nvSpPr>
        <p:spPr>
          <a:xfrm>
            <a:off x="365760" y="1371600"/>
            <a:ext cx="5577840" cy="3749039"/>
          </a:xfrm>
          <a:prstGeom prst="rect">
            <a:avLst/>
          </a:prstGeom>
          <a:noFill/>
        </p:spPr>
        <p:txBody>
          <a:bodyPr wrap="square" lIns="36576" rIns="36576" tIns="18288" bIns="18288" anchor="t">
            <a:noAutofit/>
          </a:bodyPr>
          <a:lstStyle/>
          <a:p>
            <a:pPr>
              <a:spcAft>
                <a:spcPts val="700"/>
              </a:spcAft>
            </a:pPr>
            <a:r>
              <a:rPr sz="1200" b="1" i="0">
                <a:solidFill>
                  <a:srgbClr val="1F4E79"/>
                </a:solidFill>
                <a:latin typeface="Calibri"/>
              </a:rPr>
              <a:t>[1]  </a:t>
            </a:r>
            <a:r>
              <a:rPr sz="1200" b="0" i="0">
                <a:solidFill>
                  <a:srgbClr val="262626"/>
                </a:solidFill>
                <a:latin typeface="Calibri"/>
              </a:rPr>
              <a:t>Lewis, P. et al. (2020). Retrieval-Augmented Generation for Knowledge-Intensive NLP Tasks. NeurIPS 2020.</a:t>
            </a:r>
          </a:p>
          <a:p>
            <a:pPr>
              <a:spcAft>
                <a:spcPts val="700"/>
              </a:spcAft>
            </a:pPr>
            <a:r>
              <a:rPr sz="1200" b="1" i="0">
                <a:solidFill>
                  <a:srgbClr val="1F4E79"/>
                </a:solidFill>
                <a:latin typeface="Calibri"/>
              </a:rPr>
              <a:t>[2]  </a:t>
            </a:r>
            <a:r>
              <a:rPr sz="1200" b="0" i="0">
                <a:solidFill>
                  <a:srgbClr val="262626"/>
                </a:solidFill>
                <a:latin typeface="Calibri"/>
              </a:rPr>
              <a:t>Yao, S. et al. (2023). ReAct: Synergizing Reasoning and Acting in Language Models. ICLR 2023.</a:t>
            </a:r>
          </a:p>
          <a:p>
            <a:pPr>
              <a:spcAft>
                <a:spcPts val="700"/>
              </a:spcAft>
            </a:pPr>
            <a:r>
              <a:rPr sz="1200" b="1" i="0">
                <a:solidFill>
                  <a:srgbClr val="1F4E79"/>
                </a:solidFill>
                <a:latin typeface="Calibri"/>
              </a:rPr>
              <a:t>[3]  </a:t>
            </a:r>
            <a:r>
              <a:rPr sz="1200" b="0" i="0">
                <a:solidFill>
                  <a:srgbClr val="262626"/>
                </a:solidFill>
                <a:latin typeface="Calibri"/>
              </a:rPr>
              <a:t>Reimers, N. &amp; Gurevych, I. (2019). Sentence-BERT: Sentence Embeddings using Siamese BERT-Networks. EMNLP 2019.</a:t>
            </a:r>
          </a:p>
          <a:p>
            <a:pPr>
              <a:spcAft>
                <a:spcPts val="700"/>
              </a:spcAft>
            </a:pPr>
            <a:r>
              <a:rPr sz="1200" b="1" i="0">
                <a:solidFill>
                  <a:srgbClr val="1F4E79"/>
                </a:solidFill>
                <a:latin typeface="Calibri"/>
              </a:rPr>
              <a:t>[4]  </a:t>
            </a:r>
            <a:r>
              <a:rPr sz="1200" b="0" i="0">
                <a:solidFill>
                  <a:srgbClr val="262626"/>
                </a:solidFill>
                <a:latin typeface="Calibri"/>
              </a:rPr>
              <a:t>Llama Team, AI @ Meta (2024). The Llama 3 Herd of Models. arXiv:2407.21783.</a:t>
            </a:r>
          </a:p>
          <a:p>
            <a:pPr>
              <a:spcAft>
                <a:spcPts val="700"/>
              </a:spcAft>
            </a:pPr>
            <a:r>
              <a:rPr sz="1200" b="1" i="0">
                <a:solidFill>
                  <a:srgbClr val="1F4E79"/>
                </a:solidFill>
                <a:latin typeface="Calibri"/>
              </a:rPr>
              <a:t>[5]  </a:t>
            </a:r>
            <a:r>
              <a:rPr sz="1200" b="0" i="0">
                <a:solidFill>
                  <a:srgbClr val="262626"/>
                </a:solidFill>
                <a:latin typeface="Calibri"/>
              </a:rPr>
              <a:t>LangGraph documentation. https://langchain-ai.github.io/langgraph/</a:t>
            </a:r>
          </a:p>
          <a:p>
            <a:pPr>
              <a:spcAft>
                <a:spcPts val="700"/>
              </a:spcAft>
            </a:pPr>
            <a:r>
              <a:rPr sz="1200" b="1" i="0">
                <a:solidFill>
                  <a:srgbClr val="1F4E79"/>
                </a:solidFill>
                <a:latin typeface="Calibri"/>
              </a:rPr>
              <a:t>[6]  </a:t>
            </a:r>
            <a:r>
              <a:rPr sz="1200" b="0" i="0">
                <a:solidFill>
                  <a:srgbClr val="262626"/>
                </a:solidFill>
                <a:latin typeface="Calibri"/>
              </a:rPr>
              <a:t>Ollama: run large language models locally. https://ollama.com</a:t>
            </a:r>
          </a:p>
        </p:txBody>
      </p:sp>
      <p:sp>
        <p:nvSpPr>
          <p:cNvPr id="8" name="TextBox 7"/>
          <p:cNvSpPr txBox="1"/>
          <p:nvPr/>
        </p:nvSpPr>
        <p:spPr>
          <a:xfrm>
            <a:off x="6172200" y="1371600"/>
            <a:ext cx="5577840" cy="3749039"/>
          </a:xfrm>
          <a:prstGeom prst="rect">
            <a:avLst/>
          </a:prstGeom>
          <a:noFill/>
        </p:spPr>
        <p:txBody>
          <a:bodyPr wrap="square" lIns="36576" rIns="36576" tIns="18288" bIns="18288" anchor="t">
            <a:noAutofit/>
          </a:bodyPr>
          <a:lstStyle/>
          <a:p>
            <a:pPr>
              <a:spcAft>
                <a:spcPts val="700"/>
              </a:spcAft>
            </a:pPr>
            <a:r>
              <a:rPr sz="1200" b="1" i="0">
                <a:solidFill>
                  <a:srgbClr val="1F4E79"/>
                </a:solidFill>
                <a:latin typeface="Calibri"/>
              </a:rPr>
              <a:t>[7]  </a:t>
            </a:r>
            <a:r>
              <a:rPr sz="1200" b="0" i="0">
                <a:solidFill>
                  <a:srgbClr val="262626"/>
                </a:solidFill>
                <a:latin typeface="Calibri"/>
              </a:rPr>
              <a:t>pgvector: vector similarity search for PostgreSQL. https://github.com/pgvector/pgvector</a:t>
            </a:r>
          </a:p>
          <a:p>
            <a:pPr>
              <a:spcAft>
                <a:spcPts val="700"/>
              </a:spcAft>
            </a:pPr>
            <a:r>
              <a:rPr sz="1200" b="1" i="0">
                <a:solidFill>
                  <a:srgbClr val="1F4E79"/>
                </a:solidFill>
                <a:latin typeface="Calibri"/>
              </a:rPr>
              <a:t>[8]  </a:t>
            </a:r>
            <a:r>
              <a:rPr sz="1200" b="0" i="0">
                <a:solidFill>
                  <a:srgbClr val="262626"/>
                </a:solidFill>
                <a:latin typeface="Calibri"/>
              </a:rPr>
              <a:t>PEP 508: Dependency specification for Python software packages. https://peps.python.org/pep-0508/</a:t>
            </a:r>
          </a:p>
          <a:p>
            <a:pPr>
              <a:spcAft>
                <a:spcPts val="700"/>
              </a:spcAft>
            </a:pPr>
            <a:r>
              <a:rPr sz="1200" b="1" i="0">
                <a:solidFill>
                  <a:srgbClr val="1F4E79"/>
                </a:solidFill>
                <a:latin typeface="Calibri"/>
              </a:rPr>
              <a:t>[9]  </a:t>
            </a:r>
            <a:r>
              <a:rPr sz="1200" b="0" i="0">
                <a:solidFill>
                  <a:srgbClr val="262626"/>
                </a:solidFill>
                <a:latin typeface="Calibri"/>
              </a:rPr>
              <a:t>PEP 621: Storing project metadata in pyproject.toml. https://peps.python.org/pep-0621/</a:t>
            </a:r>
          </a:p>
          <a:p>
            <a:pPr>
              <a:spcAft>
                <a:spcPts val="700"/>
              </a:spcAft>
            </a:pPr>
            <a:r>
              <a:rPr sz="1200" b="1" i="0">
                <a:solidFill>
                  <a:srgbClr val="1F4E79"/>
                </a:solidFill>
                <a:latin typeface="Calibri"/>
              </a:rPr>
              <a:t>[10]  </a:t>
            </a:r>
            <a:r>
              <a:rPr sz="1200" b="0" i="0">
                <a:solidFill>
                  <a:srgbClr val="262626"/>
                </a:solidFill>
                <a:latin typeface="Calibri"/>
              </a:rPr>
              <a:t>PyPI JSON API. https://docs.pypi.org/api/json/</a:t>
            </a:r>
          </a:p>
          <a:p>
            <a:pPr>
              <a:spcAft>
                <a:spcPts val="700"/>
              </a:spcAft>
            </a:pPr>
            <a:r>
              <a:rPr sz="1200" b="1" i="0">
                <a:solidFill>
                  <a:srgbClr val="1F4E79"/>
                </a:solidFill>
                <a:latin typeface="Calibri"/>
              </a:rPr>
              <a:t>[11]  </a:t>
            </a:r>
            <a:r>
              <a:rPr sz="1200" b="0" i="0">
                <a:solidFill>
                  <a:srgbClr val="262626"/>
                </a:solidFill>
                <a:latin typeface="Calibri"/>
              </a:rPr>
              <a:t>all-MiniLM-L6-v2 model card. https://huggingface.co/sentence-transformers/all-MiniLM-L6-v2</a:t>
            </a:r>
          </a:p>
          <a:p>
            <a:pPr>
              <a:spcAft>
                <a:spcPts val="700"/>
              </a:spcAft>
            </a:pPr>
            <a:r>
              <a:rPr sz="1200" b="1" i="0">
                <a:solidFill>
                  <a:srgbClr val="1F4E79"/>
                </a:solidFill>
                <a:latin typeface="Calibri"/>
              </a:rPr>
              <a:t>[12]  </a:t>
            </a:r>
            <a:r>
              <a:rPr sz="1200" b="0" i="0">
                <a:solidFill>
                  <a:srgbClr val="262626"/>
                </a:solidFill>
                <a:latin typeface="Calibri"/>
              </a:rPr>
              <a:t>Streamlit documentation. https://docs.streamlit.io</a:t>
            </a:r>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244</TotalTime>
  <Words>205</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(Body)</vt:lpstr>
      <vt:lpstr>Calibri Light</vt:lpstr>
      <vt:lpstr>Frutiger 45 bold</vt:lpstr>
      <vt:lpstr>Frutiger LT Pro 45 Light</vt:lpstr>
      <vt:lpstr>source-serif-pro</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HARI PRASATH</cp:lastModifiedBy>
  <cp:revision>14</cp:revision>
  <dcterms:created xsi:type="dcterms:W3CDTF">2024-05-13T10:33:11Z</dcterms:created>
  <dcterms:modified xsi:type="dcterms:W3CDTF">2025-10-06T09:41:15Z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