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4" r:id="rId17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review of AutoDiag-RAG: a retrieval-augmented system for vehicle fault diagnosis and warranty validation built on hybrid (semantic + keyword)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context: diagnosis and warranty decisions need precise, traceable answers. Automotive language mixes exact codes with free-text symptoms, which is why the project combines keyword and semantic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five objectives were met. Objective 5 is what turns the system into a measured result rather than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modules. Modules 1-5 are the running system; module 6 is how it was measured and shipped.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formally, then the four challenges. Each challenge maps to one design decision on the methodology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 indexing runs once. Online, every question flows left to right; the rules check only runs for warranty questions, and the confidence gate defers weak-evidence answers to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algorithm has one clear job. Heavy compute is cloud-hosted so the system runs on a CPU-only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on the 48-question gold set, top-5 results, relevance decided by fixed rules per question. Hybrid + re-rank is best on every metric. RRF fusion on its own mainly raises coverage (Hit@5 0.81 to 0.90); the cross-encoder is what fixes the ordering (nDCG@5 0.54 to 0.69). BM25 leads on exact codes, dense beats BM25 on paraphrased faults, and the re-ranker adds about 1.1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quality uses the four RAGAS metrics, scored by an LLM judge (gpt-oss-120b) on the 48 gold answers. Faithfulness 0.93 means answers stay grounded in the retrieved evidence. Warranty context precision is the weakest area. The confidence gate deferred every out-of-scope question and no valid one. All 10 warranty verdicts and all 48 routes were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contributions, be candid about limitations, and give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briefly; add your guide's name if you wish.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papers and data sources behind each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AutoDiag-RAG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Hybrid Retrieval for Automotive Fault Diagnosis &amp; Warranty Validation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Sanjay Suresh Hullyal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Individual Project – 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90372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Context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Service advisors and technicians work from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DTC codes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(e.g. P0301), owners' symptom descriptions and manufacturer documents spread across many sources.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Warranty claims hinge on exact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year and mileage limits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buried in 100+ page booklets.</a:t>
            </a:r>
          </a:p>
          <a:p>
            <a:pPr algn="l" marL="201168" indent="-201168">
              <a:spcBef>
                <a:spcPts val="0"/>
              </a:spcBef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General-purpose LLM chatbots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hallucinate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codes and coverage terms — unacceptable when money and safety are involved.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What AutoDiag-RAG does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Answers diagnosis and warranty questions — typed or spoken — with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cited evidence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from a 59,504-chunk knowledge base.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Combines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semantic and keyword retrieval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, and decides coverage with a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deterministic rules check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instead of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18120" y="15270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59,504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93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indexed knowledge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28986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655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source types: DTC library, NHTSA complaints, warranty booklets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605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18120" y="42702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371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manufacturers' 2026 warranty booklets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11480" y="1444752"/>
            <a:ext cx="475488" cy="475488"/>
          </a:xfrm>
          <a:prstGeom prst="ellipse">
            <a:avLst/>
          </a:prstGeom>
          <a:solidFill>
            <a:srgbClr val="0C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Unified knowledge corpus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DTC codes, NHTSA owner complaints and six manufacturers' warranty booklets, cleaned into traceable chunks.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67712"/>
            <a:ext cx="475488" cy="475488"/>
          </a:xfrm>
          <a:prstGeom prst="ellipse">
            <a:avLst/>
          </a:prstGeom>
          <a:solidFill>
            <a:srgbClr val="0C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Hybrid retrieval that beats either method alone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BGE-M3 dense vectors + BM25, fused with Reciprocal Rank Fusion and re-ranked by a cross-encoder.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3090672"/>
            <a:ext cx="475488" cy="475488"/>
          </a:xfrm>
          <a:prstGeom prst="ellipse">
            <a:avLst/>
          </a:prstGeom>
          <a:solidFill>
            <a:srgbClr val="0C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Trustworthy warranty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Query routing plus a deterministic rules engine; the LLM only explains the verdict.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913632"/>
            <a:ext cx="475488" cy="475488"/>
          </a:xfrm>
          <a:prstGeom prst="ellipse">
            <a:avLst/>
          </a:prstGeom>
          <a:solidFill>
            <a:srgbClr val="0C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Grounded answers in a usable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Cited answers with LLM failover, confidence-gating, FastAPI + Streamlit UI with voice, deployed to the cloud.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736592"/>
            <a:ext cx="475488" cy="475488"/>
          </a:xfrm>
          <a:prstGeom prst="ellipse">
            <a:avLst/>
          </a:prstGeom>
          <a:solidFill>
            <a:srgbClr val="0C8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Measured 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Gold Q&amp;A set, retrieval ablation (Recall@5, MRR, nDCG@5) and RAGAS generation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84632" y="153619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Data ingestion &amp;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DTC YAML, NHTSA API (52,419 → 49,090 after cleaning), warranty PDFs → 59,504 chunks with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9100" y="13716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393692" y="153619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153619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Hybrid retrieval &amp; re-ranking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1980" y="21031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BGE-M3 dense (Qdrant) + BM25 keyword → RRF (k = 60) → cross-encoder re-rank → top-5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02752" y="153619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53619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Routing &amp; warranty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Rule-based router; deterministic rules engine over 21 rules from 6 manufacturers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47472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84632" y="363931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Grounded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Gemini with automatic failover to a second model via OpenRouter; citation-only prompting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9100" y="347472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393692" y="3639312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4900" y="363931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API, UI &amp;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420624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FastAPI endpoints; Streamlit assistant, warranty checker and insights; Whisper voice 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47472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302752" y="3639312"/>
            <a:ext cx="411480" cy="411480"/>
          </a:xfrm>
          <a:prstGeom prst="ellipse">
            <a:avLst/>
          </a:prstGeom>
          <a:solidFill>
            <a:srgbClr val="1FA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639312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Evaluation &amp;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06240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Gold set, retrieval ablation, RAGAS, confidence-gating; Render + Streamlit Community Cloud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371600"/>
            <a:ext cx="11475720" cy="1143000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1064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42424"/>
                </a:solidFill>
                <a:latin typeface="Calibri"/>
              </a:rPr>
              <a:t>Given </a:t>
            </a:r>
            <a:r>
              <a:rPr sz="1700" b="1" i="0">
                <a:solidFill>
                  <a:srgbClr val="1F4E79"/>
                </a:solidFill>
                <a:latin typeface="Calibri"/>
              </a:rPr>
              <a:t>a symptom description, DTC code or warranty question</a:t>
            </a:r>
            <a:r>
              <a:rPr sz="1700" b="0" i="0">
                <a:solidFill>
                  <a:srgbClr val="242424"/>
                </a:solidFill>
                <a:latin typeface="Calibri"/>
              </a:rPr>
              <a:t> about a vehicle, retrieve the most relevant evidence from a heterogeneous corpus and return </a:t>
            </a:r>
            <a:r>
              <a:rPr sz="1700" b="1" i="0">
                <a:solidFill>
                  <a:srgbClr val="1F4E79"/>
                </a:solidFill>
                <a:latin typeface="Calibri"/>
              </a:rPr>
              <a:t>a grounded, cited diagnosis or a verifiable coverage decision</a:t>
            </a:r>
            <a:r>
              <a:rPr sz="1700" b="0" i="0">
                <a:solidFill>
                  <a:srgbClr val="242424"/>
                </a:solidFill>
                <a:latin typeface="Calibri"/>
              </a:rPr>
              <a:t> — fast enough to use interactively, on a CPU-only laptop.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743200"/>
            <a:ext cx="2724912" cy="2286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488" y="2852928"/>
            <a:ext cx="2423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Vocabulary mismatch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"car shakes at idle" vs "rough idling condition" — keyword search misses paraphrases.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4297680"/>
            <a:ext cx="2423160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8A0C"/>
                </a:solidFill>
                <a:latin typeface="Calibri"/>
              </a:rPr>
              <a:t>→ </a:t>
            </a:r>
            <a:r>
              <a:rPr sz="1300" b="1" i="0">
                <a:solidFill>
                  <a:srgbClr val="0C8A0C"/>
                </a:solidFill>
                <a:latin typeface="Calibri"/>
              </a:rPr>
              <a:t>Dense BGE-M3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2743200"/>
            <a:ext cx="2724912" cy="2286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92424" y="2852928"/>
            <a:ext cx="2423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Exact identifiers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Codes like P0301 are arbitrary tokens to a semantic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297680"/>
            <a:ext cx="2423160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8A0C"/>
                </a:solidFill>
                <a:latin typeface="Calibri"/>
              </a:rPr>
              <a:t>→ </a:t>
            </a:r>
            <a:r>
              <a:rPr sz="1300" b="1" i="0">
                <a:solidFill>
                  <a:srgbClr val="0C8A0C"/>
                </a:solidFill>
                <a:latin typeface="Calibri"/>
              </a:rPr>
              <a:t>BM25 + RRF fusion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743200"/>
            <a:ext cx="2724912" cy="2286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59" y="2852928"/>
            <a:ext cx="2423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Coverage arithmetic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LLMs get year / mileage limits wrong.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297680"/>
            <a:ext cx="2423160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8A0C"/>
                </a:solidFill>
                <a:latin typeface="Calibri"/>
              </a:rPr>
              <a:t>→ </a:t>
            </a:r>
            <a:r>
              <a:rPr sz="1300" b="1" i="0">
                <a:solidFill>
                  <a:srgbClr val="0C8A0C"/>
                </a:solidFill>
                <a:latin typeface="Calibri"/>
              </a:rPr>
              <a:t>Deterministic rules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0848" y="2743200"/>
            <a:ext cx="2724912" cy="2286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2852928"/>
            <a:ext cx="2423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Trust &amp; availability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42424"/>
                </a:solidFill>
                <a:latin typeface="Calibri"/>
              </a:rPr>
              <a:t>Answers must be traceable; hosted LLMs get overloaded.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4297680"/>
            <a:ext cx="2423160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8A0C"/>
                </a:solidFill>
                <a:latin typeface="Calibri"/>
              </a:rPr>
              <a:t>→ </a:t>
            </a:r>
            <a:r>
              <a:rPr sz="1300" b="1" i="0">
                <a:solidFill>
                  <a:srgbClr val="0C8A0C"/>
                </a:solidFill>
                <a:latin typeface="Calibri"/>
              </a:rPr>
              <a:t>Citations, confidence-gating, LLM failover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583D1"/>
                </a:solidFill>
                <a:latin typeface="Calibri"/>
              </a:rPr>
              <a:t>OFFLINE — indexing (run once)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Sources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DTC YAML · NHTSA API · warranty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Ingest &amp; clean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filter, dedupe, parse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Chunk + metadata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JSONL · 59,504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645920"/>
            <a:ext cx="2240280" cy="5669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BGE-M3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13432"/>
            <a:ext cx="2240280" cy="5669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BM25 indexing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645920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Qdrant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dense 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313432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BM25 index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local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2263140"/>
            <a:ext cx="28346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2263140"/>
            <a:ext cx="283465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190488" y="1929384"/>
            <a:ext cx="420624" cy="173736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90488" y="2423160"/>
            <a:ext cx="420624" cy="173736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87968" y="1929384"/>
            <a:ext cx="37490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87968" y="2596896"/>
            <a:ext cx="37490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" y="3154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583D1"/>
                </a:solidFill>
                <a:latin typeface="Calibri"/>
              </a:rPr>
              <a:t>ONLINE — per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Question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text or voice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55648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02536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Router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diagnosis / warranty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85032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Hybrid retrieval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dense + BM25 → RRF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67528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Re-rank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cross-encoder, top-5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03136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50024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Rules check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warranty only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85632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32520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Confidence gate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defer if evidence weak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68128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15016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LLM answer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Gemini, failover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800600"/>
            <a:ext cx="11475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Response: </a:t>
            </a:r>
            <a:r>
              <a:rPr sz="1300" b="0" i="0">
                <a:solidFill>
                  <a:srgbClr val="242424"/>
                </a:solidFill>
                <a:latin typeface="Calibri"/>
              </a:rPr>
              <a:t>route, cited answer, coverage verdict with limits, the 5 sources with their dense / BM25 ranks, a confidence flag and per-step timings.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29768" y="1874519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BGE-M3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dense semantic embeddings (1024-d)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04872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29768" y="2496312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BM25 Okapi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keyword relevance, exact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026664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29768" y="3118104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4952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Reciprocal Rank Fusion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Σ 1 / (60 + rank)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48456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9768" y="3739896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66744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Cross-encoder re-ranker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re-scores the fused top-20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270248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29768" y="43616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88536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Rules engine + router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deterministic coverage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892040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29768" y="4983480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10328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Confidence gate + failover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defer weak answers; backup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3258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Tools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80760" y="1783080"/>
          <a:ext cx="5715000" cy="362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3080"/>
                <a:gridCol w="39319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Python 3.11 · VS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Embeddings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BGE-M3 (Colab T4 for corpus, OpenRouter for queries)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Vector store / keyword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Qdrant · rank_bm25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Gemini 3.6 Flash → Groq gpt-oss-120b → OpenRouter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Speech-to-text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Groq Whisper large-v3-turbo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Backend / Frontend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FastAPI + Uvicorn / Streamlit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RAGAS (LLM judge) · Hit/Recall@5 · MRR · nDCG@5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Render (API) · Streamlit Community Cloud (UI)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 – Retrieval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71600"/>
          <a:ext cx="667512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Retriever (48 queries)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Hit@5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MRR@5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nDCG@5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BM25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0.812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0.521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Dense only (BGE-M3)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0.387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0.664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0.425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Hybrid (RRF)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0.543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Hybrid + re-rank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0.938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0.640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0.891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611880"/>
          <a:ext cx="667512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Recall@5 by query type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+ Re-rank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Exact DTC code (14)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0.674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0.631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DTC paraphrase (12)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0.319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0.286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0.369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Symptom – NHTSA (12)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0.433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Warranty (10)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0.275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0.465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42424"/>
                          </a:solidFill>
                          <a:latin typeface="Calibri"/>
                        </a:rPr>
                        <a:t>0.395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0.435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371600"/>
            <a:ext cx="4480560" cy="425196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411480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What the ablation shows</a:t>
            </a:r>
          </a:p>
          <a:p>
            <a:pPr algn="l" marL="201168" indent="-201168">
              <a:spcBef>
                <a:spcPts val="0"/>
              </a:spcBef>
              <a:spcAft>
                <a:spcPts val="5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Hybrid + re-rank is best on every metric: nDCG@5 0.69 vs 0.55 for BM25, MRR 0.89 vs 0.74</a:t>
            </a:r>
          </a:p>
          <a:p>
            <a:pPr algn="l" marL="201168" indent="-201168">
              <a:spcBef>
                <a:spcPts val="0"/>
              </a:spcBef>
              <a:spcAft>
                <a:spcPts val="5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RRF alone raises coverage (Hit@5 0.81 → 0.90); the cross-encoder supplies the ranking quality</a:t>
            </a:r>
          </a:p>
          <a:p>
            <a:pPr algn="l" marL="201168" indent="-201168">
              <a:spcBef>
                <a:spcPts val="0"/>
              </a:spcBef>
              <a:spcAft>
                <a:spcPts val="5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BM25 leads on exact codes; dense beats BM25 on paraphrased faults (MRR 0.65 vs 0.51)</a:t>
            </a:r>
          </a:p>
          <a:p>
            <a:pPr algn="l" marL="201168" indent="-201168">
              <a:spcBef>
                <a:spcPts val="0"/>
              </a:spcBef>
              <a:spcAft>
                <a:spcPts val="5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“Rattling noise when accelerating”: BM25 and dense alone score nDCG 0; hybrid 0.62, + re-rank 0.72</a:t>
            </a:r>
          </a:p>
          <a:p>
            <a:pPr algn="l" marL="201168" indent="-201168">
              <a:spcBef>
                <a:spcPts val="0"/>
              </a:spcBef>
              <a:spcAft>
                <a:spcPts val="5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Cost of re-ranking: about 1.1 s (median retrieval 3.6 s)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Gold set: 48 queries + 4 out-of-scope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 – Answers &amp; System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71600"/>
          <a:ext cx="548640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RAGAS metric (48 answers)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Answer relevancy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Context precision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Context recall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0.664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474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424"/>
                </a:solidFill>
                <a:latin typeface="Calibri"/>
              </a:rPr>
              <a:t>RAGAS definitions, LLM-as-judge (gpt-oss-120b)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794760"/>
          <a:ext cx="54864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 behaviour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Median end-to-end latency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10.9 s (p95 21.2 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In-scope questions deferred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0 / 48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42424"/>
                          </a:solidFill>
                          <a:latin typeface="Calibri"/>
                        </a:rPr>
                        <a:t>Out-of-scope questions deferred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1371600"/>
            <a:ext cx="5623560" cy="8229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417320"/>
            <a:ext cx="3931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warranty coverage verdicts correct on the gold set (deterministic rules engine)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13432"/>
            <a:ext cx="5623560" cy="8229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2359152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48 / 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359152"/>
            <a:ext cx="3931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gold questions routed correctly (diagnosis vs warranty)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55264"/>
            <a:ext cx="5623560" cy="8229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3300984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3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300984"/>
            <a:ext cx="3931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Gemini → Groq → OpenRouter failover kept answers flowing through Gemini rate limits (tested live)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97096"/>
            <a:ext cx="5623560" cy="8229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55080" y="4242816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42816"/>
            <a:ext cx="3931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deployed services: Render (API) + Streamlit Cloud (UI)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4008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Contributions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Domain-motivated hybrid retrieval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— dense + BM25 + RRF + re-ranking, shown by ablation to beat either retriever alone.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Neuro-symbolic warranty validation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— coverage decided in code, explained by the LLM with citations.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Trustworthy answers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— source citations, retriever-rank evidence, confidence-gating and LLM failover.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End-to-end product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— 59,504-chunk corpus, FastAPI + Streamlit with voice, deployed to the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371600"/>
            <a:ext cx="4709160" cy="196596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69480" y="146304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Limitations</a:t>
            </a:r>
          </a:p>
          <a:p>
            <a:pPr algn="l" marL="201168" indent="-201168">
              <a:spcBef>
                <a:spcPts val="0"/>
              </a:spcBef>
              <a:spcAft>
                <a:spcPts val="20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Warranty rules hand-built for six manufacturers</a:t>
            </a:r>
          </a:p>
          <a:p>
            <a:pPr algn="l" marL="201168" indent="-201168">
              <a:spcBef>
                <a:spcPts val="0"/>
              </a:spcBef>
              <a:spcAft>
                <a:spcPts val="20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Warranty retrieval is weakest (context precision 0.57)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Depends on hosted APIs and network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3520440"/>
            <a:ext cx="4709160" cy="196596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9480" y="361188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Future work</a:t>
            </a:r>
          </a:p>
          <a:p>
            <a:pPr algn="l" marL="201168" indent="-201168">
              <a:spcBef>
                <a:spcPts val="0"/>
              </a:spcBef>
              <a:spcAft>
                <a:spcPts val="20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Extract warranty rules automatically from booklets</a:t>
            </a:r>
          </a:p>
          <a:p>
            <a:pPr algn="l" marL="201168" indent="-201168">
              <a:spcBef>
                <a:spcPts val="0"/>
              </a:spcBef>
              <a:spcAft>
                <a:spcPts val="20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Add Technical Service Bulletins and repair manuals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Font typeface="Arial"/>
              <a:buChar char="•"/>
            </a:pPr>
            <a:r>
              <a:rPr sz="1400" b="0" i="0">
                <a:solidFill>
                  <a:srgbClr val="242424"/>
                </a:solidFill>
                <a:latin typeface="Calibri"/>
              </a:rPr>
              <a:t>Self-hosted models for fully offline deployment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11475720" cy="32918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744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42424"/>
                </a:solidFill>
                <a:latin typeface="Calibri"/>
              </a:rPr>
              <a:t>I sincerely thank my project guide and mentors for their guidance and feedback throughout the three reviews of this project.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42424"/>
                </a:solidFill>
                <a:latin typeface="Calibri"/>
              </a:rPr>
              <a:t>I am grateful to the University, LTIMindtree and L&amp;T EduTech for the Advanced Industry Integrated Programme that made this work possible.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42424"/>
                </a:solidFill>
                <a:latin typeface="Calibri"/>
              </a:rPr>
              <a:t>Thanks also to the open data that powers AutoDiag-RAG: the NHTSA Office of Defects Investigation complaints database, the OBDex DTC library, and the manufacturers who publish their warranty booklets.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983480"/>
            <a:ext cx="11475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1475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[1]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Lewis, P. et al. (2020). Retrieval-Augmented Generation for Knowledge-Intensive NLP Tasks. NeurIPS 2020.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[2]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Chen, J. et al. (2024). BGE M3-Embedding: Multi-Lingual, Multi-Functionality, Multi-Granularity Text Embeddings Through Self-Knowledge Distillation. arXiv:2402.03216.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[3]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Robertson, S. &amp; Zaragoza, H. (2009). The Probabilistic Relevance Framework: BM25 and Beyond. Foundations and Trends in Information Retrieval, 3(4).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[4]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Cormack, G. V., Clarke, C. L. A. &amp; Buettcher, S. (2009). Reciprocal Rank Fusion Outperforms Condorcet and Individual Rank Learning Methods. SIGIR 2009.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[5]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Es, S. et al. (2024). RAGAS: Automated Evaluation of Retrieval Augmented Generation. EACL 2024 (demo); arXiv:2309.15217.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[6]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Radford, A. et al. (2022). Robust Speech Recognition via Large-Scale Weak Supervision (Whisper). arXiv:2212.04356.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[7]  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NHTSA Complaints API — api.nhtsa.gov · OBDex DTC database — github.com/foerbsnavi/OBDex · 2026 warranty booklets: Honda, Hyundai, Toyota, Ford, Nissan, Kia.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